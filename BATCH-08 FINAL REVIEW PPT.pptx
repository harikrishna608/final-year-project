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881" r:id="rId1"/>
  </p:sldMasterIdLst>
  <p:notesMasterIdLst>
    <p:notesMasterId r:id="rId25"/>
  </p:notesMasterIdLst>
  <p:sldIdLst>
    <p:sldId id="257" r:id="rId2"/>
    <p:sldId id="283" r:id="rId3"/>
    <p:sldId id="258" r:id="rId4"/>
    <p:sldId id="278" r:id="rId5"/>
    <p:sldId id="287" r:id="rId6"/>
    <p:sldId id="286" r:id="rId7"/>
    <p:sldId id="277" r:id="rId8"/>
    <p:sldId id="271" r:id="rId9"/>
    <p:sldId id="281" r:id="rId10"/>
    <p:sldId id="290" r:id="rId11"/>
    <p:sldId id="291" r:id="rId12"/>
    <p:sldId id="285" r:id="rId13"/>
    <p:sldId id="293" r:id="rId14"/>
    <p:sldId id="294" r:id="rId15"/>
    <p:sldId id="295" r:id="rId16"/>
    <p:sldId id="296" r:id="rId17"/>
    <p:sldId id="297" r:id="rId18"/>
    <p:sldId id="292" r:id="rId19"/>
    <p:sldId id="273" r:id="rId20"/>
    <p:sldId id="298" r:id="rId21"/>
    <p:sldId id="288" r:id="rId22"/>
    <p:sldId id="289" r:id="rId23"/>
    <p:sldId id="270" r:id="rId24"/>
  </p:sldIdLst>
  <p:sldSz cx="18288000" cy="10287000"/>
  <p:notesSz cx="6858000" cy="9144000"/>
  <p:embeddedFontLst>
    <p:embeddedFont>
      <p:font typeface="Calibri" panose="020F0502020204030204" pitchFamily="34" charset="0"/>
      <p:regular r:id="rId26"/>
      <p:bold r:id="rId27"/>
      <p:italic r:id="rId28"/>
      <p:boldItalic r:id="rId29"/>
    </p:embeddedFont>
    <p:embeddedFont>
      <p:font typeface="Montserrat Bold" panose="020B0604020202020204" charset="0"/>
      <p:regular r:id="rId30"/>
      <p:bold r:id="rId31"/>
    </p:embeddedFont>
    <p:embeddedFont>
      <p:font typeface="Roboto" panose="020B0604020202020204" charset="0"/>
      <p:regular r:id="rId32"/>
    </p:embeddedFont>
    <p:embeddedFont>
      <p:font typeface="Source Sans 3" panose="020B0604020202020204" charset="0"/>
      <p:regular r:id="rId33"/>
      <p:bold r:id="rId34"/>
      <p:italic r:id="rId35"/>
      <p:boldItalic r:id="rId36"/>
    </p:embeddedFont>
    <p:embeddedFont>
      <p:font typeface="Tw Cen MT" panose="020B0602020104020603" pitchFamily="34" charset="0"/>
      <p:regular r:id="rId37"/>
      <p:bold r:id="rId38"/>
      <p:italic r:id="rId39"/>
      <p:boldItalic r:id="rId40"/>
    </p:embeddedFont>
    <p:embeddedFont>
      <p:font typeface="Tw Cen MT Condensed" panose="020B0606020104020203" pitchFamily="34" charset="0"/>
      <p:regular r:id="rId41"/>
      <p:bold r:id="rId42"/>
    </p:embeddedFont>
    <p:embeddedFont>
      <p:font typeface="Wingdings 3" panose="05040102010807070707" pitchFamily="18" charset="2"/>
      <p:regular r:id="rId4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39" autoAdjust="0"/>
    <p:restoredTop sz="84922" autoAdjust="0"/>
  </p:normalViewPr>
  <p:slideViewPr>
    <p:cSldViewPr>
      <p:cViewPr varScale="1">
        <p:scale>
          <a:sx n="42" d="100"/>
          <a:sy n="42" d="100"/>
        </p:scale>
        <p:origin x="540" y="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C5A9B7-DF44-4FA2-BDBC-4C5376BF9293}" type="datetimeFigureOut">
              <a:rPr lang="en-US" smtClean="0"/>
              <a:t>4/20/2026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0AAF66-C7E7-4BD7-A02E-46DCF78ADF0A}" type="slidenum">
              <a:rPr lang="en-US" smtClean="0"/>
              <a:t>‹#›</a:t>
            </a:fld>
            <a:endParaRPr lang="en-US" dirty="0"/>
          </a:p>
        </p:txBody>
      </p:sp>
    </p:spTree>
    <p:extLst>
      <p:ext uri="{BB962C8B-B14F-4D97-AF65-F5344CB8AC3E}">
        <p14:creationId xmlns:p14="http://schemas.microsoft.com/office/powerpoint/2010/main" val="10435021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0AAF66-C7E7-4BD7-A02E-46DCF78ADF0A}" type="slidenum">
              <a:rPr lang="en-US" smtClean="0"/>
              <a:t>3</a:t>
            </a:fld>
            <a:endParaRPr lang="en-US"/>
          </a:p>
        </p:txBody>
      </p:sp>
    </p:spTree>
    <p:extLst>
      <p:ext uri="{BB962C8B-B14F-4D97-AF65-F5344CB8AC3E}">
        <p14:creationId xmlns:p14="http://schemas.microsoft.com/office/powerpoint/2010/main" val="24562988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7440206"/>
            <a:ext cx="11658600" cy="2194560"/>
          </a:xfrm>
        </p:spPr>
        <p:txBody>
          <a:bodyPr anchor="ctr">
            <a:normAutofit/>
          </a:bodyPr>
          <a:lstStyle>
            <a:lvl1pPr algn="r">
              <a:defRPr sz="7500" spc="300" baseline="0"/>
            </a:lvl1pPr>
          </a:lstStyle>
          <a:p>
            <a:r>
              <a:rPr lang="en-US"/>
              <a:t>Click to edit Master title style</a:t>
            </a:r>
            <a:endParaRPr lang="en-US" dirty="0"/>
          </a:p>
        </p:txBody>
      </p:sp>
      <p:sp>
        <p:nvSpPr>
          <p:cNvPr id="3" name="Subtitle 2"/>
          <p:cNvSpPr>
            <a:spLocks noGrp="1"/>
          </p:cNvSpPr>
          <p:nvPr>
            <p:ph type="subTitle" idx="1"/>
          </p:nvPr>
        </p:nvSpPr>
        <p:spPr>
          <a:xfrm>
            <a:off x="12915900" y="7440206"/>
            <a:ext cx="4800600" cy="2194560"/>
          </a:xfrm>
        </p:spPr>
        <p:txBody>
          <a:bodyPr lIns="91440" rIns="91440" anchor="ctr">
            <a:normAutofit/>
          </a:bodyPr>
          <a:lstStyle>
            <a:lvl1pPr marL="0" indent="0" algn="l">
              <a:lnSpc>
                <a:spcPct val="100000"/>
              </a:lnSpc>
              <a:spcBef>
                <a:spcPts val="0"/>
              </a:spcBef>
              <a:buNone/>
              <a:defRPr sz="2700">
                <a:solidFill>
                  <a:schemeClr val="tx1">
                    <a:lumMod val="95000"/>
                    <a:lumOff val="5000"/>
                  </a:schemeClr>
                </a:solidFill>
              </a:defRPr>
            </a:lvl1pPr>
            <a:lvl2pPr marL="685800" indent="0" algn="ctr">
              <a:buNone/>
              <a:defRPr sz="2700"/>
            </a:lvl2pPr>
            <a:lvl3pPr marL="1371600" indent="0" algn="ctr">
              <a:buNone/>
              <a:defRPr sz="2700"/>
            </a:lvl3pPr>
            <a:lvl4pPr marL="2057400" indent="0" algn="ctr">
              <a:buNone/>
              <a:defRPr sz="2700"/>
            </a:lvl4pPr>
            <a:lvl5pPr marL="2743200" indent="0" algn="ctr">
              <a:buNone/>
              <a:defRPr sz="2700"/>
            </a:lvl5pPr>
            <a:lvl6pPr marL="3429000" indent="0" algn="ctr">
              <a:buNone/>
              <a:defRPr sz="2700"/>
            </a:lvl6pPr>
            <a:lvl7pPr marL="4114800" indent="0" algn="ctr">
              <a:buNone/>
              <a:defRPr sz="2700"/>
            </a:lvl7pPr>
            <a:lvl8pPr marL="4800600" indent="0" algn="ctr">
              <a:buNone/>
              <a:defRPr sz="2700"/>
            </a:lvl8pPr>
            <a:lvl9pPr marL="5486400" indent="0" algn="ctr">
              <a:buNone/>
              <a:defRPr sz="27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C07EC924-72D2-47AA-81B1-5B7FF8A4A1FD}" type="datetime1">
              <a:rPr lang="en-US" smtClean="0"/>
              <a:t>4/20/2026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cxnSp>
        <p:nvCxnSpPr>
          <p:cNvPr id="13" name="Straight Connector 12"/>
          <p:cNvCxnSpPr/>
          <p:nvPr/>
        </p:nvCxnSpPr>
        <p:spPr>
          <a:xfrm flipV="1">
            <a:off x="12580263" y="7896159"/>
            <a:ext cx="0" cy="1371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1"/>
            <a:ext cx="18288000" cy="6858002"/>
          </a:xfrm>
          <a:prstGeom prst="rect">
            <a:avLst/>
          </a:prstGeom>
          <a:blipFill dpi="0" rotWithShape="1">
            <a:blip r:embed="rId2">
              <a:duotone>
                <a:schemeClr val="accent1">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287690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DCB08A-1BF5-4D02-8C45-285CEB3065ED}" type="datetime1">
              <a:rPr lang="en-US" smtClean="0"/>
              <a:t>4/20/2026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969792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7440206"/>
            <a:ext cx="11658600" cy="2194560"/>
          </a:xfrm>
        </p:spPr>
        <p:txBody>
          <a:bodyPr anchor="ctr">
            <a:normAutofit/>
          </a:bodyPr>
          <a:lstStyle>
            <a:lvl1pPr algn="r">
              <a:defRPr sz="7500" b="0" spc="300" baseline="0"/>
            </a:lvl1pPr>
          </a:lstStyle>
          <a:p>
            <a:r>
              <a:rPr lang="en-US"/>
              <a:t>Click to edit Master title style</a:t>
            </a:r>
            <a:endParaRPr lang="en-US" dirty="0"/>
          </a:p>
        </p:txBody>
      </p:sp>
      <p:sp>
        <p:nvSpPr>
          <p:cNvPr id="3" name="Text Placeholder 2"/>
          <p:cNvSpPr>
            <a:spLocks noGrp="1"/>
          </p:cNvSpPr>
          <p:nvPr>
            <p:ph type="body" idx="1"/>
          </p:nvPr>
        </p:nvSpPr>
        <p:spPr>
          <a:xfrm>
            <a:off x="12915900" y="7440206"/>
            <a:ext cx="4800600" cy="2194560"/>
          </a:xfrm>
        </p:spPr>
        <p:txBody>
          <a:bodyPr lIns="91440" rIns="91440" anchor="ctr">
            <a:normAutofit/>
          </a:bodyPr>
          <a:lstStyle>
            <a:lvl1pPr marL="0" indent="0">
              <a:lnSpc>
                <a:spcPct val="100000"/>
              </a:lnSpc>
              <a:spcBef>
                <a:spcPts val="0"/>
              </a:spcBef>
              <a:buNone/>
              <a:defRPr sz="2700">
                <a:solidFill>
                  <a:schemeClr val="tx1">
                    <a:lumMod val="95000"/>
                    <a:lumOff val="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D84518-9983-4423-BA58-688C2F491B6A}" type="datetime1">
              <a:rPr lang="en-US" smtClean="0"/>
              <a:t>4/20/2026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cxnSp>
        <p:nvCxnSpPr>
          <p:cNvPr id="12" name="Straight Connector 11"/>
          <p:cNvCxnSpPr/>
          <p:nvPr/>
        </p:nvCxnSpPr>
        <p:spPr>
          <a:xfrm flipV="1">
            <a:off x="12580263" y="7896159"/>
            <a:ext cx="0" cy="13716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0" y="-2"/>
            <a:ext cx="18288000" cy="6858000"/>
          </a:xfrm>
          <a:prstGeom prst="rect">
            <a:avLst/>
          </a:prstGeom>
          <a:blipFill dpi="0" rotWithShape="1">
            <a:blip r:embed="rId2">
              <a:duotone>
                <a:schemeClr val="accent3">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2018558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36192" y="877824"/>
            <a:ext cx="14580108" cy="2249424"/>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536191" y="3429000"/>
            <a:ext cx="7132320" cy="6035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8983980" y="3429000"/>
            <a:ext cx="7132320" cy="6035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C85AE6-27DF-41C7-8C84-7772C335E309}" type="datetime1">
              <a:rPr lang="en-US" smtClean="0"/>
              <a:t>4/20/2026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2854082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536192" y="3269454"/>
            <a:ext cx="7132320" cy="1234440"/>
          </a:xfrm>
        </p:spPr>
        <p:txBody>
          <a:bodyPr lIns="137160" rIns="137160" anchor="ctr">
            <a:normAutofit/>
          </a:bodyPr>
          <a:lstStyle>
            <a:lvl1pPr marL="0" indent="0">
              <a:spcBef>
                <a:spcPts val="0"/>
              </a:spcBef>
              <a:spcAft>
                <a:spcPts val="0"/>
              </a:spcAft>
              <a:buNone/>
              <a:defRPr sz="3450" b="0" cap="none" baseline="0">
                <a:solidFill>
                  <a:schemeClr val="accent1"/>
                </a:solidFill>
                <a:latin typeface="+mn-lt"/>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536192" y="4451682"/>
            <a:ext cx="7132320" cy="50123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986332" y="3269454"/>
            <a:ext cx="7132320" cy="1234440"/>
          </a:xfrm>
        </p:spPr>
        <p:txBody>
          <a:bodyPr lIns="137160" rIns="137160" anchor="ctr">
            <a:normAutofit/>
          </a:bodyPr>
          <a:lstStyle>
            <a:lvl1pPr marL="0" indent="0">
              <a:spcBef>
                <a:spcPts val="0"/>
              </a:spcBef>
              <a:spcAft>
                <a:spcPts val="0"/>
              </a:spcAft>
              <a:buNone/>
              <a:defRPr lang="en-US" sz="3450" b="0" kern="1200" cap="none" baseline="0" dirty="0">
                <a:solidFill>
                  <a:schemeClr val="accent1"/>
                </a:solidFill>
                <a:latin typeface="+mn-lt"/>
                <a:ea typeface="+mn-ea"/>
                <a:cs typeface="+mn-cs"/>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marL="0" lvl="0" indent="0" algn="l" defTabSz="1371600" rtl="0" eaLnBrk="1" latinLnBrk="0" hangingPunct="1">
              <a:lnSpc>
                <a:spcPct val="90000"/>
              </a:lnSpc>
              <a:spcBef>
                <a:spcPts val="2700"/>
              </a:spcBef>
              <a:buNone/>
            </a:pPr>
            <a:r>
              <a:rPr lang="en-US"/>
              <a:t>Click to edit Master text styles</a:t>
            </a:r>
          </a:p>
        </p:txBody>
      </p:sp>
      <p:sp>
        <p:nvSpPr>
          <p:cNvPr id="6" name="Content Placeholder 5"/>
          <p:cNvSpPr>
            <a:spLocks noGrp="1"/>
          </p:cNvSpPr>
          <p:nvPr>
            <p:ph sz="quarter" idx="4"/>
          </p:nvPr>
        </p:nvSpPr>
        <p:spPr>
          <a:xfrm>
            <a:off x="8986332" y="4451682"/>
            <a:ext cx="7132320" cy="50123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8A6002-1530-4546-8FC9-2AB6BCAD7F34}" type="datetime1">
              <a:rPr lang="en-US" smtClean="0"/>
              <a:t>4/20/2026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702523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1441185-6868-44EF-B00A-E27507E247AC}" type="datetime1">
              <a:rPr lang="en-US" smtClean="0"/>
              <a:t>4/20/2026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875750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14600D-975C-430D-9666-2777F86DC108}" type="datetime1">
              <a:rPr lang="en-US" smtClean="0"/>
              <a:t>4/20/2026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5769816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536192" y="707264"/>
            <a:ext cx="6583680" cy="2606040"/>
          </a:xfrm>
        </p:spPr>
        <p:txBody>
          <a:bodyPr>
            <a:noAutofit/>
          </a:bodyPr>
          <a:lstStyle>
            <a:lvl1pPr>
              <a:lnSpc>
                <a:spcPct val="80000"/>
              </a:lnSpc>
              <a:defRPr sz="6000"/>
            </a:lvl1pPr>
          </a:lstStyle>
          <a:p>
            <a:r>
              <a:rPr lang="en-US"/>
              <a:t>Click to edit Master title style</a:t>
            </a:r>
            <a:endParaRPr lang="en-US" dirty="0"/>
          </a:p>
        </p:txBody>
      </p:sp>
      <p:sp>
        <p:nvSpPr>
          <p:cNvPr id="3" name="Content Placeholder 2"/>
          <p:cNvSpPr>
            <a:spLocks noGrp="1"/>
          </p:cNvSpPr>
          <p:nvPr>
            <p:ph idx="1"/>
          </p:nvPr>
        </p:nvSpPr>
        <p:spPr>
          <a:xfrm>
            <a:off x="8572500" y="1234440"/>
            <a:ext cx="8517636" cy="7776972"/>
          </a:xfrm>
        </p:spPr>
        <p:txBody>
          <a:bodyPr/>
          <a:lstStyle>
            <a:lvl1pPr>
              <a:defRPr sz="3600"/>
            </a:lvl1pPr>
            <a:lvl2pPr>
              <a:defRPr sz="3000"/>
            </a:lvl2pPr>
            <a:lvl3pPr>
              <a:defRPr sz="24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36192" y="3386259"/>
            <a:ext cx="6583680" cy="5643441"/>
          </a:xfrm>
        </p:spPr>
        <p:txBody>
          <a:bodyPr lIns="91440" rIns="91440">
            <a:normAutofit/>
          </a:bodyPr>
          <a:lstStyle>
            <a:lvl1pPr marL="0" indent="0">
              <a:lnSpc>
                <a:spcPct val="108000"/>
              </a:lnSpc>
              <a:spcBef>
                <a:spcPts val="900"/>
              </a:spcBef>
              <a:buNone/>
              <a:defRPr sz="24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92AEFA01-7C99-481F-AF27-C167CA97EA18}" type="datetime1">
              <a:rPr lang="en-US" smtClean="0"/>
              <a:t>4/20/2026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675304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7440207"/>
            <a:ext cx="11658600" cy="2194560"/>
          </a:xfrm>
        </p:spPr>
        <p:txBody>
          <a:bodyPr anchor="ctr">
            <a:normAutofit/>
          </a:bodyPr>
          <a:lstStyle>
            <a:lvl1pPr algn="r">
              <a:defRPr sz="7500" spc="3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2"/>
            <a:ext cx="18283428" cy="6858000"/>
          </a:xfrm>
          <a:solidFill>
            <a:schemeClr val="accent1">
              <a:lumMod val="60000"/>
              <a:lumOff val="40000"/>
            </a:schemeClr>
          </a:solidFill>
        </p:spPr>
        <p:txBody>
          <a:bodyPr lIns="457200" tIns="365760" rIns="45720" bIns="45720"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2915900" y="7440207"/>
            <a:ext cx="4800600" cy="2194560"/>
          </a:xfrm>
        </p:spPr>
        <p:txBody>
          <a:bodyPr lIns="91440" rIns="91440" anchor="ctr">
            <a:normAutofit/>
          </a:bodyPr>
          <a:lstStyle>
            <a:lvl1pPr marL="0" indent="0">
              <a:lnSpc>
                <a:spcPct val="100000"/>
              </a:lnSpc>
              <a:spcBef>
                <a:spcPts val="0"/>
              </a:spcBef>
              <a:buNone/>
              <a:defRPr sz="2700">
                <a:solidFill>
                  <a:schemeClr val="tx1">
                    <a:lumMod val="95000"/>
                    <a:lumOff val="5000"/>
                  </a:schemeClr>
                </a:solidFill>
              </a:defRPr>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F8CF4A29-1942-4CEE-BFA9-46FE8275EBC6}" type="datetime1">
              <a:rPr lang="en-US" smtClean="0"/>
              <a:t>4/20/2026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cxnSp>
        <p:nvCxnSpPr>
          <p:cNvPr id="8" name="Straight Connector 7"/>
          <p:cNvCxnSpPr/>
          <p:nvPr/>
        </p:nvCxnSpPr>
        <p:spPr>
          <a:xfrm flipV="1">
            <a:off x="12580265" y="7896159"/>
            <a:ext cx="0" cy="1371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8575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24B642-87FE-4020-A645-44DCD80FFC8C}" type="datetime1">
              <a:rPr lang="en-US" smtClean="0"/>
              <a:t>4/20/2026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233036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2" y="1143000"/>
            <a:ext cx="3943350" cy="81153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1485901" y="1143000"/>
            <a:ext cx="11372850" cy="8115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616647-36CE-4EC1-9080-D923FBC4CF77}" type="datetime1">
              <a:rPr lang="en-US" smtClean="0"/>
              <a:t>4/20/2026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cxnSp>
        <p:nvCxnSpPr>
          <p:cNvPr id="7" name="Straight Connector 6"/>
          <p:cNvCxnSpPr/>
          <p:nvPr/>
        </p:nvCxnSpPr>
        <p:spPr>
          <a:xfrm rot="5400000" flipV="1">
            <a:off x="15087600" y="88895"/>
            <a:ext cx="0" cy="1371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1100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36192" y="877824"/>
            <a:ext cx="14580108" cy="22494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536193" y="3429000"/>
            <a:ext cx="14580110" cy="603504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536194" y="9706056"/>
            <a:ext cx="3231215" cy="411480"/>
          </a:xfrm>
          <a:prstGeom prst="rect">
            <a:avLst/>
          </a:prstGeom>
        </p:spPr>
        <p:txBody>
          <a:bodyPr vert="horz" lIns="91440" tIns="45720" rIns="91440" bIns="45720" rtlCol="0" anchor="ctr"/>
          <a:lstStyle>
            <a:lvl1pPr algn="l">
              <a:defRPr sz="1500">
                <a:solidFill>
                  <a:schemeClr val="tx1">
                    <a:lumMod val="95000"/>
                    <a:lumOff val="5000"/>
                  </a:schemeClr>
                </a:solidFill>
                <a:latin typeface="+mj-lt"/>
              </a:defRPr>
            </a:lvl1pPr>
          </a:lstStyle>
          <a:p>
            <a:fld id="{AB21ACAD-0D63-44C2-978E-96A06EFAFC71}" type="datetime1">
              <a:rPr lang="en-US" smtClean="0"/>
              <a:t>4/20/2026</a:t>
            </a:fld>
            <a:endParaRPr lang="en-US" dirty="0"/>
          </a:p>
        </p:txBody>
      </p:sp>
      <p:sp>
        <p:nvSpPr>
          <p:cNvPr id="5" name="Footer Placeholder 4"/>
          <p:cNvSpPr>
            <a:spLocks noGrp="1"/>
          </p:cNvSpPr>
          <p:nvPr>
            <p:ph type="ftr" sz="quarter" idx="3"/>
          </p:nvPr>
        </p:nvSpPr>
        <p:spPr>
          <a:xfrm>
            <a:off x="7264399" y="9706056"/>
            <a:ext cx="8852189" cy="411480"/>
          </a:xfrm>
          <a:prstGeom prst="rect">
            <a:avLst/>
          </a:prstGeom>
        </p:spPr>
        <p:txBody>
          <a:bodyPr vert="horz" lIns="91440" tIns="45720" rIns="91440" bIns="45720" rtlCol="0" anchor="ctr"/>
          <a:lstStyle>
            <a:lvl1pPr algn="r">
              <a:defRPr sz="15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6256000" y="9706056"/>
            <a:ext cx="1460501" cy="411480"/>
          </a:xfrm>
          <a:prstGeom prst="rect">
            <a:avLst/>
          </a:prstGeom>
        </p:spPr>
        <p:txBody>
          <a:bodyPr vert="horz" lIns="91440" tIns="45720" rIns="91440" bIns="45720" rtlCol="0" anchor="ctr"/>
          <a:lstStyle>
            <a:lvl1pPr algn="l">
              <a:defRPr sz="1500">
                <a:solidFill>
                  <a:schemeClr val="tx1">
                    <a:lumMod val="95000"/>
                    <a:lumOff val="5000"/>
                  </a:schemeClr>
                </a:solidFill>
                <a:latin typeface="+mj-lt"/>
              </a:defRPr>
            </a:lvl1pPr>
          </a:lstStyle>
          <a:p>
            <a:fld id="{B6F15528-21DE-4FAA-801E-634DDDAF4B2B}" type="slidenum">
              <a:rPr lang="en-US" smtClean="0"/>
              <a:pPr/>
              <a:t>‹#›</a:t>
            </a:fld>
            <a:endParaRPr lang="en-US" dirty="0"/>
          </a:p>
        </p:txBody>
      </p:sp>
      <p:cxnSp>
        <p:nvCxnSpPr>
          <p:cNvPr id="8" name="Straight Connector 7"/>
          <p:cNvCxnSpPr/>
          <p:nvPr/>
        </p:nvCxnSpPr>
        <p:spPr>
          <a:xfrm flipV="1">
            <a:off x="1143000" y="1239486"/>
            <a:ext cx="0" cy="1371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0455888"/>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3890" r:id="rId9"/>
    <p:sldLayoutId id="2147483891" r:id="rId10"/>
    <p:sldLayoutId id="2147483892" r:id="rId11"/>
  </p:sldLayoutIdLst>
  <p:hf hdr="0" ftr="0" dt="0"/>
  <p:txStyles>
    <p:titleStyle>
      <a:lvl1pPr algn="l" defTabSz="1371600" rtl="0" eaLnBrk="1" latinLnBrk="0" hangingPunct="1">
        <a:lnSpc>
          <a:spcPct val="80000"/>
        </a:lnSpc>
        <a:spcBef>
          <a:spcPct val="0"/>
        </a:spcBef>
        <a:buNone/>
        <a:defRPr sz="7500" kern="1200" cap="all" spc="150" baseline="0">
          <a:solidFill>
            <a:schemeClr val="tx1">
              <a:lumMod val="95000"/>
              <a:lumOff val="5000"/>
            </a:schemeClr>
          </a:solidFill>
          <a:latin typeface="+mj-lt"/>
          <a:ea typeface="+mj-ea"/>
          <a:cs typeface="+mj-cs"/>
        </a:defRPr>
      </a:lvl1pPr>
    </p:titleStyle>
    <p:bodyStyle>
      <a:lvl1pPr marL="137160" indent="-137160" algn="l" defTabSz="1371600" rtl="0" eaLnBrk="1" latinLnBrk="0" hangingPunct="1">
        <a:lnSpc>
          <a:spcPct val="90000"/>
        </a:lnSpc>
        <a:spcBef>
          <a:spcPts val="1800"/>
        </a:spcBef>
        <a:spcAft>
          <a:spcPts val="300"/>
        </a:spcAft>
        <a:buClr>
          <a:schemeClr val="accent1"/>
        </a:buClr>
        <a:buSzPct val="100000"/>
        <a:buFont typeface="Tw Cen MT" panose="020B0602020104020603" pitchFamily="34" charset="0"/>
        <a:buChar char=" "/>
        <a:defRPr sz="3300" kern="1200">
          <a:solidFill>
            <a:schemeClr val="tx1"/>
          </a:solidFill>
          <a:latin typeface="+mn-lt"/>
          <a:ea typeface="+mn-ea"/>
          <a:cs typeface="+mn-cs"/>
        </a:defRPr>
      </a:lvl1pPr>
      <a:lvl2pPr marL="397764" indent="-205740" algn="l" defTabSz="1371600" rtl="0" eaLnBrk="1" latinLnBrk="0" hangingPunct="1">
        <a:lnSpc>
          <a:spcPct val="90000"/>
        </a:lnSpc>
        <a:spcBef>
          <a:spcPts val="300"/>
        </a:spcBef>
        <a:spcAft>
          <a:spcPts val="600"/>
        </a:spcAft>
        <a:buClr>
          <a:schemeClr val="accent1"/>
        </a:buClr>
        <a:buFont typeface="Wingdings 3" pitchFamily="18" charset="2"/>
        <a:buChar char=""/>
        <a:defRPr sz="2700" kern="1200">
          <a:solidFill>
            <a:schemeClr val="tx1"/>
          </a:solidFill>
          <a:latin typeface="+mn-lt"/>
          <a:ea typeface="+mn-ea"/>
          <a:cs typeface="+mn-cs"/>
        </a:defRPr>
      </a:lvl2pPr>
      <a:lvl3pPr marL="672084" indent="-205740" algn="l" defTabSz="1371600" rtl="0" eaLnBrk="1" latinLnBrk="0" hangingPunct="1">
        <a:lnSpc>
          <a:spcPct val="90000"/>
        </a:lnSpc>
        <a:spcBef>
          <a:spcPts val="300"/>
        </a:spcBef>
        <a:spcAft>
          <a:spcPts val="600"/>
        </a:spcAft>
        <a:buClr>
          <a:schemeClr val="accent1"/>
        </a:buClr>
        <a:buFont typeface="Wingdings 3" pitchFamily="18" charset="2"/>
        <a:buChar char=""/>
        <a:defRPr sz="2100" kern="1200">
          <a:solidFill>
            <a:schemeClr val="tx1"/>
          </a:solidFill>
          <a:latin typeface="+mn-lt"/>
          <a:ea typeface="+mn-ea"/>
          <a:cs typeface="+mn-cs"/>
        </a:defRPr>
      </a:lvl3pPr>
      <a:lvl4pPr marL="891540" indent="-205740" algn="l" defTabSz="1371600" rtl="0" eaLnBrk="1" latinLnBrk="0" hangingPunct="1">
        <a:lnSpc>
          <a:spcPct val="90000"/>
        </a:lnSpc>
        <a:spcBef>
          <a:spcPts val="300"/>
        </a:spcBef>
        <a:spcAft>
          <a:spcPts val="600"/>
        </a:spcAft>
        <a:buClr>
          <a:schemeClr val="accent1"/>
        </a:buClr>
        <a:buFont typeface="Wingdings 3" pitchFamily="18" charset="2"/>
        <a:buChar char=""/>
        <a:defRPr sz="2100" kern="1200">
          <a:solidFill>
            <a:schemeClr val="tx1"/>
          </a:solidFill>
          <a:latin typeface="+mn-lt"/>
          <a:ea typeface="+mn-ea"/>
          <a:cs typeface="+mn-cs"/>
        </a:defRPr>
      </a:lvl4pPr>
      <a:lvl5pPr marL="1165860" indent="-205740" algn="l" defTabSz="1371600" rtl="0" eaLnBrk="1" latinLnBrk="0" hangingPunct="1">
        <a:lnSpc>
          <a:spcPct val="90000"/>
        </a:lnSpc>
        <a:spcBef>
          <a:spcPts val="300"/>
        </a:spcBef>
        <a:spcAft>
          <a:spcPts val="600"/>
        </a:spcAft>
        <a:buClr>
          <a:schemeClr val="accent1"/>
        </a:buClr>
        <a:buFont typeface="Wingdings 3" pitchFamily="18" charset="2"/>
        <a:buChar char=""/>
        <a:defRPr sz="2100" kern="1200">
          <a:solidFill>
            <a:schemeClr val="tx1"/>
          </a:solidFill>
          <a:latin typeface="+mn-lt"/>
          <a:ea typeface="+mn-ea"/>
          <a:cs typeface="+mn-cs"/>
        </a:defRPr>
      </a:lvl5pPr>
      <a:lvl6pPr marL="1371600" indent="-205740" algn="l" defTabSz="1371600" rtl="0" eaLnBrk="1" latinLnBrk="0" hangingPunct="1">
        <a:lnSpc>
          <a:spcPct val="90000"/>
        </a:lnSpc>
        <a:spcBef>
          <a:spcPts val="300"/>
        </a:spcBef>
        <a:spcAft>
          <a:spcPts val="600"/>
        </a:spcAft>
        <a:buClr>
          <a:schemeClr val="accent1"/>
        </a:buClr>
        <a:buFont typeface="Wingdings 3" pitchFamily="18" charset="2"/>
        <a:buChar char=""/>
        <a:defRPr sz="2100" kern="1200">
          <a:solidFill>
            <a:schemeClr val="tx1"/>
          </a:solidFill>
          <a:latin typeface="+mn-lt"/>
          <a:ea typeface="+mn-ea"/>
          <a:cs typeface="+mn-cs"/>
        </a:defRPr>
      </a:lvl6pPr>
      <a:lvl7pPr marL="1591056" indent="-205740" algn="l" defTabSz="1371600" rtl="0" eaLnBrk="1" latinLnBrk="0" hangingPunct="1">
        <a:lnSpc>
          <a:spcPct val="90000"/>
        </a:lnSpc>
        <a:spcBef>
          <a:spcPts val="300"/>
        </a:spcBef>
        <a:spcAft>
          <a:spcPts val="600"/>
        </a:spcAft>
        <a:buClr>
          <a:schemeClr val="accent1"/>
        </a:buClr>
        <a:buFont typeface="Wingdings 3" pitchFamily="18" charset="2"/>
        <a:buChar char=""/>
        <a:defRPr sz="2100" kern="1200">
          <a:solidFill>
            <a:schemeClr val="tx1"/>
          </a:solidFill>
          <a:latin typeface="+mn-lt"/>
          <a:ea typeface="+mn-ea"/>
          <a:cs typeface="+mn-cs"/>
        </a:defRPr>
      </a:lvl7pPr>
      <a:lvl8pPr marL="1824228" indent="-205740" algn="l" defTabSz="1371600" rtl="0" eaLnBrk="1" latinLnBrk="0" hangingPunct="1">
        <a:lnSpc>
          <a:spcPct val="90000"/>
        </a:lnSpc>
        <a:spcBef>
          <a:spcPts val="300"/>
        </a:spcBef>
        <a:spcAft>
          <a:spcPts val="600"/>
        </a:spcAft>
        <a:buClr>
          <a:schemeClr val="accent1"/>
        </a:buClr>
        <a:buFont typeface="Wingdings 3" pitchFamily="18" charset="2"/>
        <a:buChar char=""/>
        <a:defRPr sz="2100" kern="1200">
          <a:solidFill>
            <a:schemeClr val="tx1"/>
          </a:solidFill>
          <a:latin typeface="+mn-lt"/>
          <a:ea typeface="+mn-ea"/>
          <a:cs typeface="+mn-cs"/>
        </a:defRPr>
      </a:lvl8pPr>
      <a:lvl9pPr marL="2043684" indent="-205740" algn="l" defTabSz="1371600" rtl="0" eaLnBrk="1" latinLnBrk="0" hangingPunct="1">
        <a:lnSpc>
          <a:spcPct val="90000"/>
        </a:lnSpc>
        <a:spcBef>
          <a:spcPts val="300"/>
        </a:spcBef>
        <a:spcAft>
          <a:spcPts val="600"/>
        </a:spcAft>
        <a:buClr>
          <a:schemeClr val="accent1"/>
        </a:buClr>
        <a:buFont typeface="Wingdings 3" pitchFamily="18" charset="2"/>
        <a:buChar char=""/>
        <a:defRPr sz="21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6.sv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6.sv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4.svg"/><Relationship Id="rId7"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8239587"/>
            <a:ext cx="18288000" cy="49002"/>
          </a:xfrm>
          <a:prstGeom prst="line">
            <a:avLst/>
          </a:prstGeom>
          <a:ln w="19050" cap="flat">
            <a:solidFill>
              <a:srgbClr val="48276D"/>
            </a:solidFill>
            <a:prstDash val="solid"/>
            <a:headEnd type="none" w="sm" len="sm"/>
            <a:tailEnd type="none" w="sm" len="sm"/>
          </a:ln>
        </p:spPr>
      </p:sp>
      <p:sp>
        <p:nvSpPr>
          <p:cNvPr id="6" name="Freeform 6"/>
          <p:cNvSpPr/>
          <p:nvPr/>
        </p:nvSpPr>
        <p:spPr>
          <a:xfrm>
            <a:off x="15498007" y="79244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35000"/>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17243189" y="2515553"/>
            <a:ext cx="1044811" cy="5724034"/>
            <a:chOff x="0" y="0"/>
            <a:chExt cx="275176" cy="1507565"/>
          </a:xfrm>
        </p:grpSpPr>
        <p:sp>
          <p:nvSpPr>
            <p:cNvPr id="12" name="Freeform 12"/>
            <p:cNvSpPr/>
            <p:nvPr/>
          </p:nvSpPr>
          <p:spPr>
            <a:xfrm>
              <a:off x="0" y="0"/>
              <a:ext cx="275176" cy="1507565"/>
            </a:xfrm>
            <a:custGeom>
              <a:avLst/>
              <a:gdLst/>
              <a:ahLst/>
              <a:cxnLst/>
              <a:rect l="l" t="t" r="r" b="b"/>
              <a:pathLst>
                <a:path w="275176" h="1507565">
                  <a:moveTo>
                    <a:pt x="0" y="0"/>
                  </a:moveTo>
                  <a:lnTo>
                    <a:pt x="275176" y="0"/>
                  </a:lnTo>
                  <a:lnTo>
                    <a:pt x="275176" y="1507565"/>
                  </a:lnTo>
                  <a:lnTo>
                    <a:pt x="0" y="1507565"/>
                  </a:lnTo>
                  <a:close/>
                </a:path>
              </a:pathLst>
            </a:custGeom>
            <a:gradFill rotWithShape="1">
              <a:gsLst>
                <a:gs pos="0">
                  <a:srgbClr val="9374B3">
                    <a:alpha val="100000"/>
                  </a:srgbClr>
                </a:gs>
                <a:gs pos="50000">
                  <a:srgbClr val="7161A6">
                    <a:alpha val="100000"/>
                  </a:srgbClr>
                </a:gs>
                <a:gs pos="100000">
                  <a:srgbClr val="4A4D9C">
                    <a:alpha val="100000"/>
                  </a:srgbClr>
                </a:gs>
              </a:gsLst>
              <a:lin ang="0"/>
            </a:gradFill>
          </p:spPr>
        </p:sp>
        <p:sp>
          <p:nvSpPr>
            <p:cNvPr id="13" name="TextBox 13"/>
            <p:cNvSpPr txBox="1"/>
            <p:nvPr/>
          </p:nvSpPr>
          <p:spPr>
            <a:xfrm>
              <a:off x="0" y="-38100"/>
              <a:ext cx="275176" cy="1545665"/>
            </a:xfrm>
            <a:prstGeom prst="rect">
              <a:avLst/>
            </a:prstGeom>
          </p:spPr>
          <p:txBody>
            <a:bodyPr lIns="50800" tIns="50800" rIns="50800" bIns="50800" rtlCol="0" anchor="ctr"/>
            <a:lstStyle/>
            <a:p>
              <a:pPr algn="ctr">
                <a:lnSpc>
                  <a:spcPts val="2659"/>
                </a:lnSpc>
                <a:spcBef>
                  <a:spcPct val="0"/>
                </a:spcBef>
              </a:pPr>
              <a:endParaRPr dirty="0"/>
            </a:p>
          </p:txBody>
        </p:sp>
      </p:grpSp>
      <p:sp>
        <p:nvSpPr>
          <p:cNvPr id="14" name="Freeform 14"/>
          <p:cNvSpPr/>
          <p:nvPr/>
        </p:nvSpPr>
        <p:spPr>
          <a:xfrm rot="-5400000">
            <a:off x="17461217" y="3621819"/>
            <a:ext cx="711163" cy="177791"/>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AutoShape 15"/>
          <p:cNvSpPr/>
          <p:nvPr/>
        </p:nvSpPr>
        <p:spPr>
          <a:xfrm flipV="1">
            <a:off x="17807273" y="4615939"/>
            <a:ext cx="0" cy="1044644"/>
          </a:xfrm>
          <a:prstGeom prst="line">
            <a:avLst/>
          </a:prstGeom>
          <a:ln w="19050" cap="flat">
            <a:solidFill>
              <a:srgbClr val="FFFFFF"/>
            </a:solidFill>
            <a:prstDash val="solid"/>
            <a:headEnd type="none" w="sm" len="sm"/>
            <a:tailEnd type="none" w="sm" len="sm"/>
          </a:ln>
        </p:spPr>
      </p:sp>
      <p:sp>
        <p:nvSpPr>
          <p:cNvPr id="16" name="Freeform 16"/>
          <p:cNvSpPr/>
          <p:nvPr/>
        </p:nvSpPr>
        <p:spPr>
          <a:xfrm rot="-5400000">
            <a:off x="17461217" y="6544683"/>
            <a:ext cx="711163" cy="177791"/>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5" name="Text 2"/>
          <p:cNvSpPr/>
          <p:nvPr/>
        </p:nvSpPr>
        <p:spPr>
          <a:xfrm>
            <a:off x="1316536" y="774765"/>
            <a:ext cx="15447464" cy="1553629"/>
          </a:xfrm>
          <a:prstGeom prst="rect">
            <a:avLst/>
          </a:prstGeom>
          <a:noFill/>
          <a:ln/>
        </p:spPr>
        <p:txBody>
          <a:bodyPr wrap="none" lIns="0" tIns="0" rIns="0" bIns="0" rtlCol="0" anchor="t"/>
          <a:lstStyle/>
          <a:p>
            <a:pPr algn="ctr">
              <a:lnSpc>
                <a:spcPts val="5500"/>
              </a:lnSpc>
              <a:buNone/>
            </a:pPr>
            <a:r>
              <a:rPr lang="en-US" sz="4000" b="1" dirty="0">
                <a:solidFill>
                  <a:srgbClr val="000000"/>
                </a:solidFill>
                <a:latin typeface="Montserrat Bold" pitchFamily="34" charset="0"/>
              </a:rPr>
              <a:t>Non-Uniform Low-Light Face Image Enhancement Based</a:t>
            </a:r>
          </a:p>
          <a:p>
            <a:pPr algn="ctr">
              <a:lnSpc>
                <a:spcPts val="5500"/>
              </a:lnSpc>
              <a:buNone/>
            </a:pPr>
            <a:r>
              <a:rPr lang="en-US" sz="4000" b="1" dirty="0">
                <a:solidFill>
                  <a:srgbClr val="000000"/>
                </a:solidFill>
                <a:latin typeface="Montserrat Bold" pitchFamily="34" charset="0"/>
              </a:rPr>
              <a:t>On Dark Channel Prior And Image Uniform Posterior</a:t>
            </a:r>
            <a:endParaRPr lang="en-US" sz="4000" dirty="0"/>
          </a:p>
        </p:txBody>
      </p:sp>
      <p:pic>
        <p:nvPicPr>
          <p:cNvPr id="36" name="Picture 3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26109" y="2533678"/>
            <a:ext cx="3327440" cy="2262946"/>
          </a:xfrm>
          <a:prstGeom prst="rect">
            <a:avLst/>
          </a:prstGeom>
        </p:spPr>
      </p:pic>
      <p:sp>
        <p:nvSpPr>
          <p:cNvPr id="39" name="Text 4"/>
          <p:cNvSpPr/>
          <p:nvPr/>
        </p:nvSpPr>
        <p:spPr>
          <a:xfrm>
            <a:off x="831581" y="5563691"/>
            <a:ext cx="2804874" cy="350639"/>
          </a:xfrm>
          <a:prstGeom prst="rect">
            <a:avLst/>
          </a:prstGeom>
          <a:noFill/>
          <a:ln/>
        </p:spPr>
        <p:txBody>
          <a:bodyPr wrap="none" lIns="0" tIns="0" rIns="0" bIns="0" rtlCol="0" anchor="t"/>
          <a:lstStyle/>
          <a:p>
            <a:pPr marL="0" indent="0" algn="l">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Presented By</a:t>
            </a:r>
            <a:endParaRPr lang="en-US" sz="2200" dirty="0"/>
          </a:p>
        </p:txBody>
      </p:sp>
      <p:sp>
        <p:nvSpPr>
          <p:cNvPr id="40" name="Text 5"/>
          <p:cNvSpPr/>
          <p:nvPr/>
        </p:nvSpPr>
        <p:spPr>
          <a:xfrm>
            <a:off x="783113" y="6010856"/>
            <a:ext cx="5380818" cy="2407617"/>
          </a:xfrm>
          <a:prstGeom prst="rect">
            <a:avLst/>
          </a:prstGeom>
          <a:noFill/>
          <a:ln/>
        </p:spPr>
        <p:txBody>
          <a:bodyPr wrap="square" lIns="0" tIns="0" rIns="0" bIns="0" rtlCol="0" anchor="t"/>
          <a:lstStyle/>
          <a:p>
            <a:pPr marL="0" indent="0" algn="l">
              <a:lnSpc>
                <a:spcPts val="2900"/>
              </a:lnSpc>
              <a:buNone/>
            </a:pPr>
            <a:r>
              <a:rPr lang="en-US" sz="2400" dirty="0">
                <a:solidFill>
                  <a:srgbClr val="3D3838"/>
                </a:solidFill>
                <a:latin typeface="Source Sans 3" pitchFamily="34" charset="0"/>
                <a:cs typeface="Source Sans 3" pitchFamily="34" charset="-120"/>
              </a:rPr>
              <a:t>T. Hari Krishna         228B1A04A7</a:t>
            </a:r>
          </a:p>
          <a:p>
            <a:pPr marL="0" indent="0" algn="l">
              <a:lnSpc>
                <a:spcPts val="2900"/>
              </a:lnSpc>
              <a:buNone/>
            </a:pPr>
            <a:r>
              <a:rPr lang="en-US" sz="2400" dirty="0">
                <a:solidFill>
                  <a:srgbClr val="3D3838"/>
                </a:solidFill>
                <a:latin typeface="Source Sans 3" pitchFamily="34" charset="0"/>
                <a:cs typeface="Source Sans 3" pitchFamily="34" charset="-120"/>
              </a:rPr>
              <a:t>P. Venkata Sai          228B1A04A5</a:t>
            </a:r>
          </a:p>
          <a:p>
            <a:pPr marL="0" indent="0" algn="l">
              <a:lnSpc>
                <a:spcPts val="2900"/>
              </a:lnSpc>
              <a:buNone/>
            </a:pPr>
            <a:r>
              <a:rPr lang="en-US" sz="2400" dirty="0">
                <a:solidFill>
                  <a:srgbClr val="3D3838"/>
                </a:solidFill>
                <a:latin typeface="Source Sans 3" pitchFamily="34" charset="0"/>
                <a:cs typeface="Source Sans 3" pitchFamily="34" charset="-120"/>
              </a:rPr>
              <a:t>Y.V. Ravi </a:t>
            </a:r>
            <a:r>
              <a:rPr lang="en-US" sz="2400" dirty="0" err="1">
                <a:solidFill>
                  <a:srgbClr val="3D3838"/>
                </a:solidFill>
                <a:latin typeface="Source Sans 3" pitchFamily="34" charset="0"/>
                <a:cs typeface="Source Sans 3" pitchFamily="34" charset="-120"/>
              </a:rPr>
              <a:t>Teja</a:t>
            </a:r>
            <a:r>
              <a:rPr lang="en-US" sz="2400" dirty="0">
                <a:solidFill>
                  <a:srgbClr val="3D3838"/>
                </a:solidFill>
                <a:latin typeface="Source Sans 3" pitchFamily="34" charset="0"/>
                <a:cs typeface="Source Sans 3" pitchFamily="34" charset="-120"/>
              </a:rPr>
              <a:t>            228B1A04A9</a:t>
            </a:r>
          </a:p>
          <a:p>
            <a:pPr>
              <a:lnSpc>
                <a:spcPts val="2900"/>
              </a:lnSpc>
            </a:pPr>
            <a:r>
              <a:rPr lang="en-US" sz="2400" dirty="0">
                <a:solidFill>
                  <a:srgbClr val="3D3838"/>
                </a:solidFill>
                <a:latin typeface="Source Sans 3" pitchFamily="34" charset="0"/>
                <a:cs typeface="Source Sans 3" pitchFamily="34" charset="-120"/>
              </a:rPr>
              <a:t>D. </a:t>
            </a:r>
            <a:r>
              <a:rPr lang="en-US" sz="2400" dirty="0" err="1">
                <a:solidFill>
                  <a:srgbClr val="3D3838"/>
                </a:solidFill>
                <a:latin typeface="Source Sans 3" pitchFamily="34" charset="0"/>
                <a:cs typeface="Source Sans 3" pitchFamily="34" charset="-120"/>
              </a:rPr>
              <a:t>Manikanta</a:t>
            </a:r>
            <a:r>
              <a:rPr lang="en-US" sz="2400" dirty="0">
                <a:solidFill>
                  <a:srgbClr val="3D3838"/>
                </a:solidFill>
                <a:latin typeface="Source Sans 3" pitchFamily="34" charset="0"/>
                <a:cs typeface="Source Sans 3" pitchFamily="34" charset="-120"/>
              </a:rPr>
              <a:t> Sai     228B1A0489</a:t>
            </a:r>
          </a:p>
        </p:txBody>
      </p:sp>
      <p:sp>
        <p:nvSpPr>
          <p:cNvPr id="43" name="Text 7"/>
          <p:cNvSpPr/>
          <p:nvPr/>
        </p:nvSpPr>
        <p:spPr>
          <a:xfrm>
            <a:off x="7226109" y="5635717"/>
            <a:ext cx="3327440" cy="350639"/>
          </a:xfrm>
          <a:prstGeom prst="rect">
            <a:avLst/>
          </a:prstGeom>
          <a:noFill/>
          <a:ln/>
        </p:spPr>
        <p:txBody>
          <a:bodyPr wrap="none" lIns="0" tIns="0" rIns="0" bIns="0" rtlCol="0" anchor="t"/>
          <a:lstStyle/>
          <a:p>
            <a:pPr marL="0" indent="0" algn="ctr">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Under the Guidance of</a:t>
            </a:r>
            <a:endParaRPr lang="en-US" sz="2200" dirty="0"/>
          </a:p>
        </p:txBody>
      </p:sp>
      <p:sp>
        <p:nvSpPr>
          <p:cNvPr id="44" name="Text 8"/>
          <p:cNvSpPr/>
          <p:nvPr/>
        </p:nvSpPr>
        <p:spPr>
          <a:xfrm>
            <a:off x="6453591" y="6030383"/>
            <a:ext cx="5380818" cy="740331"/>
          </a:xfrm>
          <a:prstGeom prst="rect">
            <a:avLst/>
          </a:prstGeom>
          <a:noFill/>
          <a:ln/>
        </p:spPr>
        <p:txBody>
          <a:bodyPr wrap="square" lIns="0" tIns="0" rIns="0" bIns="0" rtlCol="0" anchor="t"/>
          <a:lstStyle/>
          <a:p>
            <a:pPr marL="457200" indent="-457200" algn="ctr">
              <a:lnSpc>
                <a:spcPts val="2900"/>
              </a:lnSpc>
              <a:buNone/>
            </a:pPr>
            <a:r>
              <a:rPr lang="en-US" sz="2400" dirty="0">
                <a:solidFill>
                  <a:srgbClr val="3D3838"/>
                </a:solidFill>
                <a:latin typeface="Source Sans 3" pitchFamily="34" charset="0"/>
                <a:ea typeface="Source Sans 3" pitchFamily="34" charset="-122"/>
                <a:cs typeface="Source Sans 3" pitchFamily="34" charset="-120"/>
              </a:rPr>
              <a:t>Mr. K. Naga </a:t>
            </a:r>
            <a:r>
              <a:rPr lang="en-US" sz="2400" dirty="0" err="1">
                <a:solidFill>
                  <a:srgbClr val="3D3838"/>
                </a:solidFill>
                <a:latin typeface="Source Sans 3" pitchFamily="34" charset="0"/>
                <a:ea typeface="Source Sans 3" pitchFamily="34" charset="-122"/>
                <a:cs typeface="Source Sans 3" pitchFamily="34" charset="-120"/>
              </a:rPr>
              <a:t>Hanuma</a:t>
            </a:r>
            <a:r>
              <a:rPr lang="en-US" sz="2400" dirty="0">
                <a:solidFill>
                  <a:srgbClr val="3D3838"/>
                </a:solidFill>
                <a:latin typeface="Source Sans 3" pitchFamily="34" charset="0"/>
                <a:ea typeface="Source Sans 3" pitchFamily="34" charset="-122"/>
                <a:cs typeface="Source Sans 3" pitchFamily="34" charset="-120"/>
              </a:rPr>
              <a:t> Chari, </a:t>
            </a:r>
            <a:r>
              <a:rPr lang="en-US" sz="2000" dirty="0" err="1">
                <a:solidFill>
                  <a:srgbClr val="3D3838"/>
                </a:solidFill>
                <a:latin typeface="Source Sans 3" pitchFamily="34" charset="0"/>
                <a:ea typeface="Source Sans 3" pitchFamily="34" charset="-122"/>
                <a:cs typeface="Source Sans 3" pitchFamily="34" charset="-120"/>
              </a:rPr>
              <a:t>M.Tech</a:t>
            </a:r>
            <a:r>
              <a:rPr lang="en-US" sz="2000" dirty="0">
                <a:solidFill>
                  <a:srgbClr val="3D3838"/>
                </a:solidFill>
                <a:latin typeface="Source Sans 3" pitchFamily="34" charset="0"/>
                <a:ea typeface="Source Sans 3" pitchFamily="34" charset="-122"/>
                <a:cs typeface="Source Sans 3" pitchFamily="34" charset="-120"/>
              </a:rPr>
              <a:t>..,</a:t>
            </a:r>
            <a:endParaRPr lang="en-US" sz="2400" dirty="0">
              <a:solidFill>
                <a:srgbClr val="3D3838"/>
              </a:solidFill>
              <a:latin typeface="Source Sans 3" pitchFamily="34" charset="0"/>
              <a:ea typeface="Source Sans 3" pitchFamily="34" charset="-122"/>
              <a:cs typeface="Source Sans 3" pitchFamily="34" charset="-120"/>
            </a:endParaRPr>
          </a:p>
          <a:p>
            <a:pPr marL="457200" indent="-457200" algn="ctr">
              <a:lnSpc>
                <a:spcPts val="2900"/>
              </a:lnSpc>
              <a:buNone/>
            </a:pPr>
            <a:r>
              <a:rPr lang="en-US" sz="2400" dirty="0">
                <a:solidFill>
                  <a:srgbClr val="3D3838"/>
                </a:solidFill>
                <a:latin typeface="Source Sans 3" pitchFamily="34" charset="0"/>
                <a:ea typeface="Source Sans 3" pitchFamily="34" charset="-122"/>
                <a:cs typeface="Source Sans 3" pitchFamily="34" charset="-120"/>
              </a:rPr>
              <a:t>Associate Professor</a:t>
            </a:r>
            <a:endParaRPr lang="en-US" sz="2400" dirty="0"/>
          </a:p>
        </p:txBody>
      </p:sp>
      <p:sp>
        <p:nvSpPr>
          <p:cNvPr id="47" name="Text 10"/>
          <p:cNvSpPr/>
          <p:nvPr/>
        </p:nvSpPr>
        <p:spPr>
          <a:xfrm>
            <a:off x="13535078" y="5562214"/>
            <a:ext cx="2804874" cy="350639"/>
          </a:xfrm>
          <a:prstGeom prst="rect">
            <a:avLst/>
          </a:prstGeom>
          <a:noFill/>
          <a:ln/>
        </p:spPr>
        <p:txBody>
          <a:bodyPr wrap="none" lIns="0" tIns="0" rIns="0" bIns="0" rtlCol="0" anchor="t"/>
          <a:lstStyle/>
          <a:p>
            <a:pPr marL="0" indent="0" algn="l">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Department</a:t>
            </a:r>
            <a:endParaRPr lang="en-US" sz="2200" dirty="0"/>
          </a:p>
        </p:txBody>
      </p:sp>
      <p:sp>
        <p:nvSpPr>
          <p:cNvPr id="48" name="Text 11"/>
          <p:cNvSpPr/>
          <p:nvPr/>
        </p:nvSpPr>
        <p:spPr>
          <a:xfrm>
            <a:off x="11417305" y="5961855"/>
            <a:ext cx="6399493" cy="740331"/>
          </a:xfrm>
          <a:prstGeom prst="rect">
            <a:avLst/>
          </a:prstGeom>
          <a:noFill/>
          <a:ln/>
        </p:spPr>
        <p:txBody>
          <a:bodyPr wrap="square" lIns="0" tIns="0" rIns="0" bIns="0" rtlCol="0" anchor="t"/>
          <a:lstStyle/>
          <a:p>
            <a:pPr marL="0" indent="0" algn="ctr">
              <a:lnSpc>
                <a:spcPts val="2900"/>
              </a:lnSpc>
              <a:buNone/>
            </a:pPr>
            <a:r>
              <a:rPr lang="en-US" sz="2400" dirty="0">
                <a:solidFill>
                  <a:srgbClr val="3D3838"/>
                </a:solidFill>
                <a:latin typeface="Source Sans 3" pitchFamily="34" charset="0"/>
                <a:ea typeface="Source Sans 3" pitchFamily="34" charset="-122"/>
                <a:cs typeface="Source Sans 3" pitchFamily="34" charset="-120"/>
              </a:rPr>
              <a:t>Electronics and Communication</a:t>
            </a:r>
          </a:p>
          <a:p>
            <a:pPr marL="0" indent="0" algn="ctr">
              <a:lnSpc>
                <a:spcPts val="2900"/>
              </a:lnSpc>
              <a:buNone/>
            </a:pPr>
            <a:r>
              <a:rPr lang="en-US" sz="2400" dirty="0">
                <a:solidFill>
                  <a:srgbClr val="3D3838"/>
                </a:solidFill>
                <a:latin typeface="Source Sans 3" pitchFamily="34" charset="0"/>
                <a:ea typeface="Source Sans 3" pitchFamily="34" charset="-122"/>
                <a:cs typeface="Source Sans 3" pitchFamily="34" charset="-120"/>
              </a:rPr>
              <a:t> Engineering</a:t>
            </a:r>
            <a:endParaRPr lang="en-US" sz="2400" dirty="0"/>
          </a:p>
        </p:txBody>
      </p:sp>
      <p:sp>
        <p:nvSpPr>
          <p:cNvPr id="49" name="Text 5"/>
          <p:cNvSpPr/>
          <p:nvPr/>
        </p:nvSpPr>
        <p:spPr>
          <a:xfrm>
            <a:off x="4722328" y="8467475"/>
            <a:ext cx="8442996" cy="740331"/>
          </a:xfrm>
          <a:prstGeom prst="rect">
            <a:avLst/>
          </a:prstGeom>
          <a:noFill/>
          <a:ln/>
        </p:spPr>
        <p:txBody>
          <a:bodyPr wrap="square" lIns="0" tIns="0" rIns="0" bIns="0" rtlCol="0" anchor="t"/>
          <a:lstStyle/>
          <a:p>
            <a:pPr marL="0" indent="0" algn="ctr">
              <a:lnSpc>
                <a:spcPts val="2900"/>
              </a:lnSpc>
              <a:buNone/>
            </a:pPr>
            <a:r>
              <a:rPr lang="en-US" sz="2800" dirty="0">
                <a:latin typeface="Source Sans 3" panose="020B0604020202020204" charset="0"/>
                <a:cs typeface="Source Sans 3" panose="020B0604020202020204" charset="0"/>
              </a:rPr>
              <a:t>R20 Regulation, Ac. Year -2025-26, Year/Sem : IV - II</a:t>
            </a:r>
          </a:p>
        </p:txBody>
      </p:sp>
      <p:sp>
        <p:nvSpPr>
          <p:cNvPr id="50" name="Text 5"/>
          <p:cNvSpPr/>
          <p:nvPr/>
        </p:nvSpPr>
        <p:spPr>
          <a:xfrm>
            <a:off x="6802518" y="9040033"/>
            <a:ext cx="4136350" cy="740331"/>
          </a:xfrm>
          <a:prstGeom prst="rect">
            <a:avLst/>
          </a:prstGeom>
          <a:noFill/>
          <a:ln/>
        </p:spPr>
        <p:txBody>
          <a:bodyPr wrap="square" lIns="0" tIns="0" rIns="0" bIns="0" rtlCol="0" anchor="t"/>
          <a:lstStyle/>
          <a:p>
            <a:pPr algn="ctr">
              <a:lnSpc>
                <a:spcPts val="2900"/>
              </a:lnSpc>
            </a:pPr>
            <a:r>
              <a:rPr lang="en-US" sz="2800" dirty="0">
                <a:latin typeface="Source Sans 3" panose="020B0604020202020204" charset="0"/>
                <a:cs typeface="Source Sans 3" panose="020B0604020202020204" charset="0"/>
              </a:rPr>
              <a:t>Date: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0D349A-A250-4336-A890-81482F0B4D65}"/>
              </a:ext>
            </a:extLst>
          </p:cNvPr>
          <p:cNvSpPr>
            <a:spLocks noGrp="1"/>
          </p:cNvSpPr>
          <p:nvPr>
            <p:ph type="sldNum" sz="quarter" idx="12"/>
          </p:nvPr>
        </p:nvSpPr>
        <p:spPr/>
        <p:txBody>
          <a:bodyPr/>
          <a:lstStyle/>
          <a:p>
            <a:fld id="{B6F15528-21DE-4FAA-801E-634DDDAF4B2B}" type="slidenum">
              <a:rPr lang="en-US" smtClean="0"/>
              <a:pPr/>
              <a:t>2</a:t>
            </a:fld>
            <a:endParaRPr lang="en-US" dirty="0"/>
          </a:p>
        </p:txBody>
      </p:sp>
      <p:sp>
        <p:nvSpPr>
          <p:cNvPr id="3" name="AutoShape 2">
            <a:extLst>
              <a:ext uri="{FF2B5EF4-FFF2-40B4-BE49-F238E27FC236}">
                <a16:creationId xmlns:a16="http://schemas.microsoft.com/office/drawing/2014/main" id="{4CA5ED08-E4E6-41D0-8592-15151B4AB396}"/>
              </a:ext>
            </a:extLst>
          </p:cNvPr>
          <p:cNvSpPr/>
          <p:nvPr/>
        </p:nvSpPr>
        <p:spPr>
          <a:xfrm>
            <a:off x="4195001" y="9258300"/>
            <a:ext cx="13067023" cy="0"/>
          </a:xfrm>
          <a:prstGeom prst="line">
            <a:avLst/>
          </a:prstGeom>
          <a:ln w="19050" cap="flat">
            <a:solidFill>
              <a:srgbClr val="48276D"/>
            </a:solidFill>
            <a:prstDash val="solid"/>
            <a:headEnd type="none" w="sm" len="sm"/>
            <a:tailEnd type="none" w="sm" len="sm"/>
          </a:ln>
        </p:spPr>
      </p:sp>
      <p:sp>
        <p:nvSpPr>
          <p:cNvPr id="4" name="Freeform 3">
            <a:extLst>
              <a:ext uri="{FF2B5EF4-FFF2-40B4-BE49-F238E27FC236}">
                <a16:creationId xmlns:a16="http://schemas.microsoft.com/office/drawing/2014/main" id="{55CCF4FA-0FAF-4F35-AE6C-EE21E002D86F}"/>
              </a:ext>
            </a:extLst>
          </p:cNvPr>
          <p:cNvSpPr/>
          <p:nvPr/>
        </p:nvSpPr>
        <p:spPr>
          <a:xfrm>
            <a:off x="15468600" y="7924464"/>
            <a:ext cx="4115658" cy="304923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35000"/>
              <a:extLst>
                <a:ext uri="{96DAC541-7B7A-43D3-8B79-37D633B846F1}">
                  <asvg:svgBlip xmlns:asvg="http://schemas.microsoft.com/office/drawing/2016/SVG/main" r:embed="rId3"/>
                </a:ext>
              </a:extLst>
            </a:blip>
            <a:stretch>
              <a:fillRect/>
            </a:stretch>
          </a:blipFill>
        </p:spPr>
      </p:sp>
      <p:sp>
        <p:nvSpPr>
          <p:cNvPr id="5" name="AutoShape 4">
            <a:extLst>
              <a:ext uri="{FF2B5EF4-FFF2-40B4-BE49-F238E27FC236}">
                <a16:creationId xmlns:a16="http://schemas.microsoft.com/office/drawing/2014/main" id="{CFC8AA8F-966A-42A2-BEAD-7A7A58CFD08C}"/>
              </a:ext>
            </a:extLst>
          </p:cNvPr>
          <p:cNvSpPr/>
          <p:nvPr/>
        </p:nvSpPr>
        <p:spPr>
          <a:xfrm flipV="1">
            <a:off x="1028700" y="1047750"/>
            <a:ext cx="16233986" cy="0"/>
          </a:xfrm>
          <a:prstGeom prst="line">
            <a:avLst/>
          </a:prstGeom>
          <a:ln w="19050" cap="flat">
            <a:solidFill>
              <a:srgbClr val="48276D"/>
            </a:solidFill>
            <a:prstDash val="solid"/>
            <a:headEnd type="none" w="sm" len="sm"/>
            <a:tailEnd type="none" w="sm" len="sm"/>
          </a:ln>
        </p:spPr>
      </p:sp>
      <p:grpSp>
        <p:nvGrpSpPr>
          <p:cNvPr id="6" name="Group 6">
            <a:extLst>
              <a:ext uri="{FF2B5EF4-FFF2-40B4-BE49-F238E27FC236}">
                <a16:creationId xmlns:a16="http://schemas.microsoft.com/office/drawing/2014/main" id="{A3A286B4-A980-4534-A877-0D096A4EDF6E}"/>
              </a:ext>
            </a:extLst>
          </p:cNvPr>
          <p:cNvGrpSpPr/>
          <p:nvPr/>
        </p:nvGrpSpPr>
        <p:grpSpPr>
          <a:xfrm>
            <a:off x="17243189" y="2833442"/>
            <a:ext cx="1045029" cy="4241736"/>
            <a:chOff x="0" y="0"/>
            <a:chExt cx="275176" cy="1507565"/>
          </a:xfrm>
        </p:grpSpPr>
        <p:sp>
          <p:nvSpPr>
            <p:cNvPr id="7" name="Freeform 7">
              <a:extLst>
                <a:ext uri="{FF2B5EF4-FFF2-40B4-BE49-F238E27FC236}">
                  <a16:creationId xmlns:a16="http://schemas.microsoft.com/office/drawing/2014/main" id="{FFE6BBB9-B153-4A8E-A2FB-923D0DD8A575}"/>
                </a:ext>
              </a:extLst>
            </p:cNvPr>
            <p:cNvSpPr/>
            <p:nvPr/>
          </p:nvSpPr>
          <p:spPr>
            <a:xfrm>
              <a:off x="0" y="0"/>
              <a:ext cx="275176" cy="1507565"/>
            </a:xfrm>
            <a:custGeom>
              <a:avLst/>
              <a:gdLst/>
              <a:ahLst/>
              <a:cxnLst/>
              <a:rect l="l" t="t" r="r" b="b"/>
              <a:pathLst>
                <a:path w="275176" h="1507565">
                  <a:moveTo>
                    <a:pt x="0" y="0"/>
                  </a:moveTo>
                  <a:lnTo>
                    <a:pt x="275176" y="0"/>
                  </a:lnTo>
                  <a:lnTo>
                    <a:pt x="275176" y="1507565"/>
                  </a:lnTo>
                  <a:lnTo>
                    <a:pt x="0" y="1507565"/>
                  </a:lnTo>
                  <a:close/>
                </a:path>
              </a:pathLst>
            </a:custGeom>
            <a:gradFill rotWithShape="1">
              <a:gsLst>
                <a:gs pos="0">
                  <a:srgbClr val="9374B3">
                    <a:alpha val="100000"/>
                  </a:srgbClr>
                </a:gs>
                <a:gs pos="50000">
                  <a:srgbClr val="7161A6">
                    <a:alpha val="100000"/>
                  </a:srgbClr>
                </a:gs>
                <a:gs pos="100000">
                  <a:srgbClr val="4A4D9C">
                    <a:alpha val="100000"/>
                  </a:srgbClr>
                </a:gs>
              </a:gsLst>
              <a:lin ang="0"/>
            </a:gradFill>
          </p:spPr>
        </p:sp>
        <p:sp>
          <p:nvSpPr>
            <p:cNvPr id="8" name="TextBox 8">
              <a:extLst>
                <a:ext uri="{FF2B5EF4-FFF2-40B4-BE49-F238E27FC236}">
                  <a16:creationId xmlns:a16="http://schemas.microsoft.com/office/drawing/2014/main" id="{52933758-2F25-423C-89F0-FFAFED3BD5AE}"/>
                </a:ext>
              </a:extLst>
            </p:cNvPr>
            <p:cNvSpPr txBox="1"/>
            <p:nvPr/>
          </p:nvSpPr>
          <p:spPr>
            <a:xfrm>
              <a:off x="0" y="-38100"/>
              <a:ext cx="275176" cy="1545665"/>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71300037-0CBE-470A-BF4F-72B3A891F58D}"/>
              </a:ext>
            </a:extLst>
          </p:cNvPr>
          <p:cNvSpPr/>
          <p:nvPr/>
        </p:nvSpPr>
        <p:spPr>
          <a:xfrm rot="16200000">
            <a:off x="17553317" y="3847608"/>
            <a:ext cx="527000" cy="177828"/>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AutoShape 10">
            <a:extLst>
              <a:ext uri="{FF2B5EF4-FFF2-40B4-BE49-F238E27FC236}">
                <a16:creationId xmlns:a16="http://schemas.microsoft.com/office/drawing/2014/main" id="{4DE28AB2-8748-405C-87DE-5ACB33D55E00}"/>
              </a:ext>
            </a:extLst>
          </p:cNvPr>
          <p:cNvSpPr/>
          <p:nvPr/>
        </p:nvSpPr>
        <p:spPr>
          <a:xfrm flipV="1">
            <a:off x="17807273" y="4933828"/>
            <a:ext cx="0" cy="774123"/>
          </a:xfrm>
          <a:prstGeom prst="line">
            <a:avLst/>
          </a:prstGeom>
          <a:ln w="19050" cap="flat">
            <a:solidFill>
              <a:srgbClr val="FFFFFF"/>
            </a:solidFill>
            <a:prstDash val="solid"/>
            <a:headEnd type="none" w="sm" len="sm"/>
            <a:tailEnd type="none" w="sm" len="sm"/>
          </a:ln>
        </p:spPr>
      </p:sp>
      <p:sp>
        <p:nvSpPr>
          <p:cNvPr id="11" name="Freeform 11">
            <a:extLst>
              <a:ext uri="{FF2B5EF4-FFF2-40B4-BE49-F238E27FC236}">
                <a16:creationId xmlns:a16="http://schemas.microsoft.com/office/drawing/2014/main" id="{F151EB5E-8492-4F50-9E45-174746607976}"/>
              </a:ext>
            </a:extLst>
          </p:cNvPr>
          <p:cNvSpPr/>
          <p:nvPr/>
        </p:nvSpPr>
        <p:spPr>
          <a:xfrm rot="16200000">
            <a:off x="17553317" y="6770472"/>
            <a:ext cx="527000" cy="177828"/>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TextBox 13">
            <a:extLst>
              <a:ext uri="{FF2B5EF4-FFF2-40B4-BE49-F238E27FC236}">
                <a16:creationId xmlns:a16="http://schemas.microsoft.com/office/drawing/2014/main" id="{F6AAD797-F8F0-4837-AA51-52D108BDA99C}"/>
              </a:ext>
            </a:extLst>
          </p:cNvPr>
          <p:cNvSpPr txBox="1"/>
          <p:nvPr/>
        </p:nvSpPr>
        <p:spPr>
          <a:xfrm>
            <a:off x="1103632" y="592748"/>
            <a:ext cx="2225395" cy="346249"/>
          </a:xfrm>
          <a:prstGeom prst="rect">
            <a:avLst/>
          </a:prstGeom>
        </p:spPr>
        <p:txBody>
          <a:bodyPr wrap="square" lIns="0" tIns="0" rIns="0" bIns="0" rtlCol="0" anchor="t">
            <a:spAutoFit/>
          </a:bodyPr>
          <a:lstStyle/>
          <a:p>
            <a:pPr algn="l">
              <a:lnSpc>
                <a:spcPts val="2939"/>
              </a:lnSpc>
            </a:pPr>
            <a:r>
              <a:rPr lang="en-US" sz="2099" dirty="0">
                <a:solidFill>
                  <a:srgbClr val="69498D"/>
                </a:solidFill>
                <a:latin typeface="Roboto"/>
                <a:ea typeface="Roboto"/>
                <a:cs typeface="Roboto"/>
                <a:sym typeface="Roboto"/>
              </a:rPr>
              <a:t>R20 Regulations</a:t>
            </a:r>
          </a:p>
        </p:txBody>
      </p:sp>
      <p:sp>
        <p:nvSpPr>
          <p:cNvPr id="13" name="TextBox 14">
            <a:extLst>
              <a:ext uri="{FF2B5EF4-FFF2-40B4-BE49-F238E27FC236}">
                <a16:creationId xmlns:a16="http://schemas.microsoft.com/office/drawing/2014/main" id="{E9166A81-8936-4B38-81D0-0CDB5D392AAA}"/>
              </a:ext>
            </a:extLst>
          </p:cNvPr>
          <p:cNvSpPr txBox="1"/>
          <p:nvPr/>
        </p:nvSpPr>
        <p:spPr>
          <a:xfrm>
            <a:off x="8137006" y="662941"/>
            <a:ext cx="2026528" cy="346249"/>
          </a:xfrm>
          <a:prstGeom prst="rect">
            <a:avLst/>
          </a:prstGeom>
        </p:spPr>
        <p:txBody>
          <a:bodyPr wrap="square" lIns="0" tIns="0" rIns="0" bIns="0" rtlCol="0" anchor="t">
            <a:spAutoFit/>
          </a:bodyPr>
          <a:lstStyle/>
          <a:p>
            <a:pPr algn="ctr">
              <a:lnSpc>
                <a:spcPts val="2939"/>
              </a:lnSpc>
            </a:pPr>
            <a:r>
              <a:rPr lang="en-US" sz="2099" dirty="0">
                <a:solidFill>
                  <a:srgbClr val="69498D"/>
                </a:solidFill>
                <a:latin typeface="Roboto"/>
                <a:ea typeface="Roboto"/>
                <a:cs typeface="Roboto"/>
                <a:sym typeface="Roboto"/>
              </a:rPr>
              <a:t>IV B. Tech ECE</a:t>
            </a:r>
          </a:p>
        </p:txBody>
      </p:sp>
      <p:sp>
        <p:nvSpPr>
          <p:cNvPr id="14" name="TextBox 15">
            <a:extLst>
              <a:ext uri="{FF2B5EF4-FFF2-40B4-BE49-F238E27FC236}">
                <a16:creationId xmlns:a16="http://schemas.microsoft.com/office/drawing/2014/main" id="{F8850B75-325B-45E3-8FED-4C8D7EEDDF78}"/>
              </a:ext>
            </a:extLst>
          </p:cNvPr>
          <p:cNvSpPr txBox="1"/>
          <p:nvPr/>
        </p:nvSpPr>
        <p:spPr>
          <a:xfrm>
            <a:off x="13151090" y="701473"/>
            <a:ext cx="3904115" cy="718145"/>
          </a:xfrm>
          <a:prstGeom prst="rect">
            <a:avLst/>
          </a:prstGeom>
        </p:spPr>
        <p:txBody>
          <a:bodyPr wrap="square" lIns="0" tIns="0" rIns="0" bIns="0" rtlCol="0" anchor="t">
            <a:spAutoFit/>
          </a:bodyPr>
          <a:lstStyle/>
          <a:p>
            <a:pPr algn="l">
              <a:lnSpc>
                <a:spcPts val="2939"/>
              </a:lnSpc>
            </a:pPr>
            <a:r>
              <a:rPr lang="en-US" sz="2099">
                <a:solidFill>
                  <a:srgbClr val="69498D"/>
                </a:solidFill>
                <a:latin typeface="Roboto"/>
                <a:ea typeface="Roboto"/>
                <a:cs typeface="Roboto"/>
                <a:sym typeface="Roboto"/>
              </a:rPr>
              <a:t>Ac. Year : 2025-26/ Semester -II</a:t>
            </a:r>
          </a:p>
          <a:p>
            <a:pPr algn="l">
              <a:lnSpc>
                <a:spcPts val="2939"/>
              </a:lnSpc>
            </a:pPr>
            <a:endParaRPr lang="en-US" sz="2099">
              <a:solidFill>
                <a:srgbClr val="69498D"/>
              </a:solidFill>
              <a:latin typeface="Roboto"/>
              <a:ea typeface="Roboto"/>
              <a:cs typeface="Roboto"/>
              <a:sym typeface="Roboto"/>
            </a:endParaRPr>
          </a:p>
        </p:txBody>
      </p:sp>
      <p:sp>
        <p:nvSpPr>
          <p:cNvPr id="15" name="TextBox 16">
            <a:extLst>
              <a:ext uri="{FF2B5EF4-FFF2-40B4-BE49-F238E27FC236}">
                <a16:creationId xmlns:a16="http://schemas.microsoft.com/office/drawing/2014/main" id="{E0B1C68C-E497-4BAC-AD1B-4748FFA7A91A}"/>
              </a:ext>
            </a:extLst>
          </p:cNvPr>
          <p:cNvSpPr txBox="1"/>
          <p:nvPr/>
        </p:nvSpPr>
        <p:spPr>
          <a:xfrm>
            <a:off x="1573578" y="9051608"/>
            <a:ext cx="3904115" cy="346249"/>
          </a:xfrm>
          <a:prstGeom prst="rect">
            <a:avLst/>
          </a:prstGeom>
        </p:spPr>
        <p:txBody>
          <a:bodyPr wrap="square" lIns="0" tIns="0" rIns="0" bIns="0" rtlCol="0" anchor="t">
            <a:spAutoFit/>
          </a:bodyPr>
          <a:lstStyle/>
          <a:p>
            <a:pPr algn="l">
              <a:lnSpc>
                <a:spcPts val="2939"/>
              </a:lnSpc>
            </a:pPr>
            <a:r>
              <a:rPr lang="en-US" sz="2099" dirty="0">
                <a:solidFill>
                  <a:srgbClr val="69498D"/>
                </a:solidFill>
                <a:latin typeface="Roboto"/>
                <a:ea typeface="Roboto"/>
                <a:cs typeface="Roboto"/>
                <a:sym typeface="Roboto"/>
              </a:rPr>
              <a:t>Final Review</a:t>
            </a:r>
          </a:p>
        </p:txBody>
      </p:sp>
      <p:sp>
        <p:nvSpPr>
          <p:cNvPr id="16" name="Text 2">
            <a:extLst>
              <a:ext uri="{FF2B5EF4-FFF2-40B4-BE49-F238E27FC236}">
                <a16:creationId xmlns:a16="http://schemas.microsoft.com/office/drawing/2014/main" id="{749974A8-86E5-42CD-8F46-E81F68B13792}"/>
              </a:ext>
            </a:extLst>
          </p:cNvPr>
          <p:cNvSpPr/>
          <p:nvPr/>
        </p:nvSpPr>
        <p:spPr>
          <a:xfrm>
            <a:off x="1295400" y="1430025"/>
            <a:ext cx="7647432" cy="417063"/>
          </a:xfrm>
          <a:prstGeom prst="rect">
            <a:avLst/>
          </a:prstGeom>
          <a:noFill/>
          <a:ln/>
        </p:spPr>
        <p:txBody>
          <a:bodyPr wrap="none" lIns="0" tIns="0" rIns="0" bIns="0" rtlCol="0" anchor="t"/>
          <a:lstStyle/>
          <a:p>
            <a:pPr marL="0" indent="0" algn="l">
              <a:lnSpc>
                <a:spcPts val="4400"/>
              </a:lnSpc>
              <a:buNone/>
            </a:pPr>
            <a:r>
              <a:rPr lang="en-US" sz="3500" b="1" dirty="0">
                <a:solidFill>
                  <a:srgbClr val="000000"/>
                </a:solidFill>
                <a:latin typeface="Montserrat Bold" pitchFamily="34" charset="0"/>
              </a:rPr>
              <a:t>Abstract</a:t>
            </a:r>
            <a:endParaRPr lang="en-US" sz="3500" dirty="0"/>
          </a:p>
        </p:txBody>
      </p:sp>
      <p:pic>
        <p:nvPicPr>
          <p:cNvPr id="17" name="Picture 16">
            <a:extLst>
              <a:ext uri="{FF2B5EF4-FFF2-40B4-BE49-F238E27FC236}">
                <a16:creationId xmlns:a16="http://schemas.microsoft.com/office/drawing/2014/main" id="{4A0F7E6F-B68C-4FB8-AFAB-370B4600C04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243189" y="174336"/>
            <a:ext cx="740603" cy="770227"/>
          </a:xfrm>
          <a:prstGeom prst="rect">
            <a:avLst/>
          </a:prstGeom>
        </p:spPr>
      </p:pic>
      <p:sp>
        <p:nvSpPr>
          <p:cNvPr id="18" name="Rectangle 17">
            <a:extLst>
              <a:ext uri="{FF2B5EF4-FFF2-40B4-BE49-F238E27FC236}">
                <a16:creationId xmlns:a16="http://schemas.microsoft.com/office/drawing/2014/main" id="{484417B1-DE1F-4DFF-9141-B86F8DF00A1C}"/>
              </a:ext>
            </a:extLst>
          </p:cNvPr>
          <p:cNvSpPr/>
          <p:nvPr/>
        </p:nvSpPr>
        <p:spPr>
          <a:xfrm>
            <a:off x="1295400" y="2377442"/>
            <a:ext cx="15466846" cy="3108543"/>
          </a:xfrm>
          <a:prstGeom prst="rect">
            <a:avLst/>
          </a:prstGeom>
        </p:spPr>
        <p:txBody>
          <a:bodyPr wrap="square">
            <a:spAutoFit/>
          </a:bodyPr>
          <a:lstStyle/>
          <a:p>
            <a:pPr marL="457200" indent="-457200" algn="just">
              <a:buFont typeface="Arial" panose="020B0604020202020204" pitchFamily="34" charset="0"/>
              <a:buChar char="•"/>
            </a:pPr>
            <a:r>
              <a:rPr lang="en-US" sz="2800" dirty="0">
                <a:latin typeface="Source Sans 3" panose="020B0604020202020204" charset="0"/>
                <a:cs typeface="Source Sans 3" panose="020B0604020202020204" charset="0"/>
              </a:rPr>
              <a:t>This project proposes a deep learning framework for enhancing facial images captured in non-uniform low-light and backlit conditions, using ALSM and Dark Channel Prior to estimate illumination.</a:t>
            </a:r>
          </a:p>
          <a:p>
            <a:pPr marL="457200" indent="-457200" algn="just">
              <a:buFont typeface="Arial" panose="020B0604020202020204" pitchFamily="34" charset="0"/>
              <a:buChar char="•"/>
            </a:pPr>
            <a:endParaRPr lang="en-US" sz="2800" dirty="0">
              <a:latin typeface="Source Sans 3" panose="020B0604020202020204" charset="0"/>
              <a:cs typeface="Source Sans 3" panose="020B0604020202020204" charset="0"/>
            </a:endParaRPr>
          </a:p>
          <a:p>
            <a:pPr marL="457200" indent="-457200" algn="just">
              <a:buFont typeface="Arial" panose="020B0604020202020204" pitchFamily="34" charset="0"/>
              <a:buChar char="•"/>
            </a:pPr>
            <a:r>
              <a:rPr lang="en-US" sz="2800" dirty="0">
                <a:latin typeface="Source Sans 3" panose="020B0604020202020204" charset="0"/>
                <a:cs typeface="Source Sans 3" panose="020B0604020202020204" charset="0"/>
              </a:rPr>
              <a:t>An Image Uniform Posterior constraint ensures natural and detailed results, with experiments showing superior performance over existing state of the art methods in complex lighting environments.</a:t>
            </a:r>
          </a:p>
        </p:txBody>
      </p:sp>
    </p:spTree>
    <p:extLst>
      <p:ext uri="{BB962C8B-B14F-4D97-AF65-F5344CB8AC3E}">
        <p14:creationId xmlns:p14="http://schemas.microsoft.com/office/powerpoint/2010/main" val="4188125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195002" y="9258300"/>
            <a:ext cx="13064298" cy="0"/>
          </a:xfrm>
          <a:prstGeom prst="line">
            <a:avLst/>
          </a:prstGeom>
          <a:ln w="19050" cap="flat">
            <a:solidFill>
              <a:srgbClr val="48276D"/>
            </a:solidFill>
            <a:prstDash val="solid"/>
            <a:headEnd type="none" w="sm" len="sm"/>
            <a:tailEnd type="none" w="sm" len="sm"/>
          </a:ln>
        </p:spPr>
      </p:sp>
      <p:sp>
        <p:nvSpPr>
          <p:cNvPr id="3" name="Freeform 3"/>
          <p:cNvSpPr/>
          <p:nvPr/>
        </p:nvSpPr>
        <p:spPr>
          <a:xfrm>
            <a:off x="15498007" y="7962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alphaModFix amt="35000"/>
              <a:extLst>
                <a:ext uri="{96DAC541-7B7A-43D3-8B79-37D633B846F1}">
                  <asvg:svgBlip xmlns:asvg="http://schemas.microsoft.com/office/drawing/2016/SVG/main" r:embed="rId4"/>
                </a:ext>
              </a:extLst>
            </a:blip>
            <a:stretch>
              <a:fillRect/>
            </a:stretch>
          </a:blipFill>
        </p:spPr>
      </p:sp>
      <p:sp>
        <p:nvSpPr>
          <p:cNvPr id="4" name="AutoShape 4"/>
          <p:cNvSpPr/>
          <p:nvPr/>
        </p:nvSpPr>
        <p:spPr>
          <a:xfrm flipV="1">
            <a:off x="1028700" y="1047750"/>
            <a:ext cx="16230600" cy="0"/>
          </a:xfrm>
          <a:prstGeom prst="line">
            <a:avLst/>
          </a:prstGeom>
          <a:ln w="19050" cap="flat">
            <a:solidFill>
              <a:srgbClr val="48276D"/>
            </a:solidFill>
            <a:prstDash val="solid"/>
            <a:headEnd type="none" w="sm" len="sm"/>
            <a:tailEnd type="none" w="sm" len="sm"/>
          </a:ln>
        </p:spPr>
      </p:sp>
      <p:grpSp>
        <p:nvGrpSpPr>
          <p:cNvPr id="6" name="Group 6"/>
          <p:cNvGrpSpPr/>
          <p:nvPr/>
        </p:nvGrpSpPr>
        <p:grpSpPr>
          <a:xfrm>
            <a:off x="17243189" y="2833442"/>
            <a:ext cx="1044811" cy="5724034"/>
            <a:chOff x="0" y="0"/>
            <a:chExt cx="275176" cy="1507565"/>
          </a:xfrm>
        </p:grpSpPr>
        <p:sp>
          <p:nvSpPr>
            <p:cNvPr id="7" name="Freeform 7"/>
            <p:cNvSpPr/>
            <p:nvPr/>
          </p:nvSpPr>
          <p:spPr>
            <a:xfrm>
              <a:off x="0" y="0"/>
              <a:ext cx="275176" cy="1507565"/>
            </a:xfrm>
            <a:custGeom>
              <a:avLst/>
              <a:gdLst/>
              <a:ahLst/>
              <a:cxnLst/>
              <a:rect l="l" t="t" r="r" b="b"/>
              <a:pathLst>
                <a:path w="275176" h="1507565">
                  <a:moveTo>
                    <a:pt x="0" y="0"/>
                  </a:moveTo>
                  <a:lnTo>
                    <a:pt x="275176" y="0"/>
                  </a:lnTo>
                  <a:lnTo>
                    <a:pt x="275176" y="1507565"/>
                  </a:lnTo>
                  <a:lnTo>
                    <a:pt x="0" y="1507565"/>
                  </a:lnTo>
                  <a:close/>
                </a:path>
              </a:pathLst>
            </a:custGeom>
            <a:gradFill rotWithShape="1">
              <a:gsLst>
                <a:gs pos="0">
                  <a:srgbClr val="9374B3">
                    <a:alpha val="100000"/>
                  </a:srgbClr>
                </a:gs>
                <a:gs pos="50000">
                  <a:srgbClr val="7161A6">
                    <a:alpha val="100000"/>
                  </a:srgbClr>
                </a:gs>
                <a:gs pos="100000">
                  <a:srgbClr val="4A4D9C">
                    <a:alpha val="100000"/>
                  </a:srgbClr>
                </a:gs>
              </a:gsLst>
              <a:lin ang="0"/>
            </a:gradFill>
          </p:spPr>
        </p:sp>
        <p:sp>
          <p:nvSpPr>
            <p:cNvPr id="8" name="TextBox 8"/>
            <p:cNvSpPr txBox="1"/>
            <p:nvPr/>
          </p:nvSpPr>
          <p:spPr>
            <a:xfrm>
              <a:off x="0" y="-38100"/>
              <a:ext cx="275176" cy="1545665"/>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rot="-5400000">
            <a:off x="17461217" y="3939708"/>
            <a:ext cx="711163" cy="177791"/>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AutoShape 10"/>
          <p:cNvSpPr/>
          <p:nvPr/>
        </p:nvSpPr>
        <p:spPr>
          <a:xfrm flipV="1">
            <a:off x="17807273" y="4933828"/>
            <a:ext cx="0" cy="1044644"/>
          </a:xfrm>
          <a:prstGeom prst="line">
            <a:avLst/>
          </a:prstGeom>
          <a:ln w="19050" cap="flat">
            <a:solidFill>
              <a:srgbClr val="FFFFFF"/>
            </a:solidFill>
            <a:prstDash val="solid"/>
            <a:headEnd type="none" w="sm" len="sm"/>
            <a:tailEnd type="none" w="sm" len="sm"/>
          </a:ln>
        </p:spPr>
      </p:sp>
      <p:sp>
        <p:nvSpPr>
          <p:cNvPr id="11" name="Freeform 11"/>
          <p:cNvSpPr/>
          <p:nvPr/>
        </p:nvSpPr>
        <p:spPr>
          <a:xfrm rot="-5400000">
            <a:off x="17461217" y="6862572"/>
            <a:ext cx="711163" cy="177791"/>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3" name="TextBox 13"/>
          <p:cNvSpPr txBox="1"/>
          <p:nvPr/>
        </p:nvSpPr>
        <p:spPr>
          <a:xfrm>
            <a:off x="1103632" y="592747"/>
            <a:ext cx="2224931" cy="371897"/>
          </a:xfrm>
          <a:prstGeom prst="rect">
            <a:avLst/>
          </a:prstGeom>
        </p:spPr>
        <p:txBody>
          <a:bodyPr lIns="0" tIns="0" rIns="0" bIns="0" rtlCol="0" anchor="t">
            <a:spAutoFit/>
          </a:bodyPr>
          <a:lstStyle/>
          <a:p>
            <a:pPr algn="l">
              <a:lnSpc>
                <a:spcPts val="2939"/>
              </a:lnSpc>
            </a:pPr>
            <a:r>
              <a:rPr lang="en-US" sz="2099" dirty="0">
                <a:solidFill>
                  <a:srgbClr val="69498D"/>
                </a:solidFill>
                <a:latin typeface="Roboto"/>
                <a:ea typeface="Roboto"/>
                <a:cs typeface="Roboto"/>
                <a:sym typeface="Roboto"/>
              </a:rPr>
              <a:t>R20 Regulations</a:t>
            </a:r>
          </a:p>
        </p:txBody>
      </p:sp>
      <p:sp>
        <p:nvSpPr>
          <p:cNvPr id="14" name="TextBox 14"/>
          <p:cNvSpPr txBox="1"/>
          <p:nvPr/>
        </p:nvSpPr>
        <p:spPr>
          <a:xfrm>
            <a:off x="8137006" y="662940"/>
            <a:ext cx="2026105" cy="371897"/>
          </a:xfrm>
          <a:prstGeom prst="rect">
            <a:avLst/>
          </a:prstGeom>
        </p:spPr>
        <p:txBody>
          <a:bodyPr lIns="0" tIns="0" rIns="0" bIns="0" rtlCol="0" anchor="t">
            <a:spAutoFit/>
          </a:bodyPr>
          <a:lstStyle/>
          <a:p>
            <a:pPr algn="ctr">
              <a:lnSpc>
                <a:spcPts val="2939"/>
              </a:lnSpc>
            </a:pPr>
            <a:r>
              <a:rPr lang="en-US" sz="2099" dirty="0">
                <a:solidFill>
                  <a:srgbClr val="69498D"/>
                </a:solidFill>
                <a:latin typeface="Roboto"/>
                <a:ea typeface="Roboto"/>
                <a:cs typeface="Roboto"/>
                <a:sym typeface="Roboto"/>
              </a:rPr>
              <a:t>IV B. Tech ECE</a:t>
            </a:r>
          </a:p>
        </p:txBody>
      </p:sp>
      <p:sp>
        <p:nvSpPr>
          <p:cNvPr id="15" name="TextBox 15"/>
          <p:cNvSpPr txBox="1"/>
          <p:nvPr/>
        </p:nvSpPr>
        <p:spPr>
          <a:xfrm>
            <a:off x="13151090" y="701472"/>
            <a:ext cx="3903301" cy="737235"/>
          </a:xfrm>
          <a:prstGeom prst="rect">
            <a:avLst/>
          </a:prstGeom>
        </p:spPr>
        <p:txBody>
          <a:bodyPr lIns="0" tIns="0" rIns="0" bIns="0" rtlCol="0" anchor="t">
            <a:spAutoFit/>
          </a:bodyPr>
          <a:lstStyle/>
          <a:p>
            <a:pPr algn="l">
              <a:lnSpc>
                <a:spcPts val="2939"/>
              </a:lnSpc>
            </a:pPr>
            <a:r>
              <a:rPr lang="en-US" sz="2099">
                <a:solidFill>
                  <a:srgbClr val="69498D"/>
                </a:solidFill>
                <a:latin typeface="Roboto"/>
                <a:ea typeface="Roboto"/>
                <a:cs typeface="Roboto"/>
                <a:sym typeface="Roboto"/>
              </a:rPr>
              <a:t>Ac. Year : 2025-26/ Semester -II</a:t>
            </a:r>
          </a:p>
          <a:p>
            <a:pPr algn="l">
              <a:lnSpc>
                <a:spcPts val="2939"/>
              </a:lnSpc>
            </a:pPr>
            <a:endParaRPr lang="en-US" sz="2099">
              <a:solidFill>
                <a:srgbClr val="69498D"/>
              </a:solidFill>
              <a:latin typeface="Roboto"/>
              <a:ea typeface="Roboto"/>
              <a:cs typeface="Roboto"/>
              <a:sym typeface="Roboto"/>
            </a:endParaRPr>
          </a:p>
        </p:txBody>
      </p:sp>
      <p:sp>
        <p:nvSpPr>
          <p:cNvPr id="16" name="TextBox 16"/>
          <p:cNvSpPr txBox="1"/>
          <p:nvPr/>
        </p:nvSpPr>
        <p:spPr>
          <a:xfrm>
            <a:off x="1573578" y="9051607"/>
            <a:ext cx="3903301" cy="346249"/>
          </a:xfrm>
          <a:prstGeom prst="rect">
            <a:avLst/>
          </a:prstGeom>
        </p:spPr>
        <p:txBody>
          <a:bodyPr lIns="0" tIns="0" rIns="0" bIns="0" rtlCol="0" anchor="t">
            <a:spAutoFit/>
          </a:bodyPr>
          <a:lstStyle/>
          <a:p>
            <a:pPr>
              <a:lnSpc>
                <a:spcPts val="2939"/>
              </a:lnSpc>
            </a:pPr>
            <a:r>
              <a:rPr lang="en-US" sz="2099" dirty="0">
                <a:solidFill>
                  <a:srgbClr val="69498D"/>
                </a:solidFill>
                <a:latin typeface="Roboto"/>
                <a:ea typeface="Roboto"/>
                <a:cs typeface="Roboto"/>
                <a:sym typeface="Roboto"/>
              </a:rPr>
              <a:t>Final Review</a:t>
            </a:r>
          </a:p>
        </p:txBody>
      </p:sp>
      <p:sp>
        <p:nvSpPr>
          <p:cNvPr id="18" name="Text 2"/>
          <p:cNvSpPr/>
          <p:nvPr/>
        </p:nvSpPr>
        <p:spPr>
          <a:xfrm>
            <a:off x="1295400" y="1430025"/>
            <a:ext cx="7645837" cy="562808"/>
          </a:xfrm>
          <a:prstGeom prst="rect">
            <a:avLst/>
          </a:prstGeom>
          <a:noFill/>
          <a:ln/>
        </p:spPr>
        <p:txBody>
          <a:bodyPr wrap="none" lIns="0" tIns="0" rIns="0" bIns="0" rtlCol="0" anchor="t"/>
          <a:lstStyle/>
          <a:p>
            <a:pPr marL="0" indent="0" algn="l">
              <a:lnSpc>
                <a:spcPts val="4400"/>
              </a:lnSpc>
              <a:buNone/>
            </a:pPr>
            <a:r>
              <a:rPr lang="en-US" sz="3500" b="1" dirty="0">
                <a:solidFill>
                  <a:srgbClr val="000000"/>
                </a:solidFill>
                <a:latin typeface="Montserrat Bold" pitchFamily="34" charset="0"/>
                <a:ea typeface="Montserrat Bold" pitchFamily="34" charset="-122"/>
                <a:cs typeface="Montserrat Bold" pitchFamily="34" charset="-120"/>
              </a:rPr>
              <a:t>Literature Review &amp; Background</a:t>
            </a:r>
            <a:endParaRPr lang="en-US" sz="3500" dirty="0"/>
          </a:p>
        </p:txBody>
      </p:sp>
      <p:sp>
        <p:nvSpPr>
          <p:cNvPr id="20" name="Text 4"/>
          <p:cNvSpPr/>
          <p:nvPr/>
        </p:nvSpPr>
        <p:spPr>
          <a:xfrm>
            <a:off x="1295399" y="2422279"/>
            <a:ext cx="15467063" cy="6341713"/>
          </a:xfrm>
          <a:prstGeom prst="rect">
            <a:avLst/>
          </a:prstGeom>
          <a:noFill/>
          <a:ln/>
        </p:spPr>
        <p:txBody>
          <a:bodyPr wrap="square" lIns="0" tIns="0" rIns="0" bIns="0" rtlCol="0" anchor="t"/>
          <a:lstStyle/>
          <a:p>
            <a:pPr algn="just">
              <a:buSzPct val="100000"/>
            </a:pPr>
            <a:r>
              <a:rPr lang="en-US" sz="3200" b="1" dirty="0">
                <a:latin typeface="Source Sans 3" panose="020B0604020202020204" charset="0"/>
                <a:cs typeface="Source Sans 3" panose="020B0604020202020204" charset="0"/>
              </a:rPr>
              <a:t>Core idea:</a:t>
            </a:r>
            <a:r>
              <a:rPr lang="en-US" sz="3200" dirty="0">
                <a:latin typeface="Source Sans 3" panose="020B0604020202020204" charset="0"/>
                <a:cs typeface="Source Sans 3" panose="020B0604020202020204" charset="0"/>
              </a:rPr>
              <a:t> </a:t>
            </a:r>
          </a:p>
          <a:p>
            <a:pPr marL="342900" indent="-342900" algn="just">
              <a:buSzPct val="100000"/>
              <a:buChar char="•"/>
            </a:pPr>
            <a:r>
              <a:rPr lang="en-US" sz="2800" dirty="0">
                <a:latin typeface="Source Sans 3" panose="020B0604020202020204" charset="0"/>
                <a:cs typeface="Source Sans 3" panose="020B0604020202020204" charset="0"/>
              </a:rPr>
              <a:t>Uses Dark Channel Prior with image uniform posterior modeling to correct non-uniform illumination in low-light face images while preserving facial details.</a:t>
            </a:r>
          </a:p>
          <a:p>
            <a:pPr marL="342900" indent="-342900" algn="just">
              <a:buSzPct val="100000"/>
              <a:buChar char="•"/>
            </a:pPr>
            <a:endParaRPr lang="en-US" sz="2800" dirty="0">
              <a:latin typeface="Source Sans 3" panose="020B0604020202020204" charset="0"/>
              <a:cs typeface="Source Sans 3" panose="020B0604020202020204" charset="0"/>
            </a:endParaRPr>
          </a:p>
          <a:p>
            <a:pPr marL="342900" indent="-342900" algn="just">
              <a:buSzPct val="100000"/>
              <a:buChar char="•"/>
            </a:pPr>
            <a:endParaRPr lang="en-US" sz="2800" dirty="0">
              <a:latin typeface="Source Sans 3" panose="020B0604020202020204" charset="0"/>
              <a:cs typeface="Source Sans 3" panose="020B0604020202020204" charset="0"/>
            </a:endParaRPr>
          </a:p>
          <a:p>
            <a:pPr algn="just">
              <a:buSzPct val="100000"/>
            </a:pPr>
            <a:r>
              <a:rPr lang="en-US" sz="3200" b="1" dirty="0">
                <a:latin typeface="Source Sans 3" panose="020B0604020202020204" charset="0"/>
                <a:cs typeface="Source Sans 3" panose="020B0604020202020204" charset="0"/>
              </a:rPr>
              <a:t>Significance:</a:t>
            </a:r>
            <a:r>
              <a:rPr lang="en-US" sz="3200" dirty="0">
                <a:latin typeface="Source Sans 3" panose="020B0604020202020204" charset="0"/>
                <a:cs typeface="Source Sans 3" panose="020B0604020202020204" charset="0"/>
              </a:rPr>
              <a:t> </a:t>
            </a:r>
          </a:p>
          <a:p>
            <a:pPr marL="342900" indent="-342900" algn="just">
              <a:buSzPct val="100000"/>
              <a:buChar char="•"/>
            </a:pPr>
            <a:r>
              <a:rPr lang="en-US" sz="2800" dirty="0">
                <a:latin typeface="Source Sans 3" panose="020B0604020202020204" charset="0"/>
                <a:cs typeface="Source Sans 3" panose="020B0604020202020204" charset="0"/>
              </a:rPr>
              <a:t>Produces clearer, more uniformly lit face images and improves face recognition performance in low-light conditions.</a:t>
            </a:r>
          </a:p>
          <a:p>
            <a:pPr marL="342900" indent="-342900" algn="just">
              <a:lnSpc>
                <a:spcPct val="150000"/>
              </a:lnSpc>
              <a:buSzPct val="100000"/>
              <a:buChar char="•"/>
            </a:pPr>
            <a:endParaRPr lang="en-US" sz="2800" dirty="0">
              <a:solidFill>
                <a:srgbClr val="3D3838"/>
              </a:solidFill>
              <a:latin typeface="Source Sans 3" panose="020B0604020202020204" charset="0"/>
              <a:cs typeface="Source Sans 3" panose="020B0604020202020204" charset="0"/>
            </a:endParaRPr>
          </a:p>
          <a:p>
            <a:pPr marL="342900" indent="-342900" algn="just">
              <a:lnSpc>
                <a:spcPct val="150000"/>
              </a:lnSpc>
              <a:buSzPct val="100000"/>
              <a:buChar char="•"/>
            </a:pPr>
            <a:endParaRPr lang="en-US" sz="2000" dirty="0">
              <a:latin typeface="Source Sans 3" panose="020B0604020202020204" charset="0"/>
              <a:cs typeface="Source Sans 3" panose="020B0604020202020204" charset="0"/>
            </a:endParaRPr>
          </a:p>
          <a:p>
            <a:pPr algn="just">
              <a:lnSpc>
                <a:spcPct val="150000"/>
              </a:lnSpc>
              <a:buSzPct val="100000"/>
            </a:pPr>
            <a:endParaRPr lang="en-US" sz="2000" dirty="0">
              <a:latin typeface="Source Sans 3" panose="020B0604020202020204" charset="0"/>
              <a:cs typeface="Source Sans 3" panose="020B0604020202020204" charset="0"/>
            </a:endParaRPr>
          </a:p>
          <a:p>
            <a:pPr marL="342900" indent="-342900" algn="just">
              <a:lnSpc>
                <a:spcPct val="150000"/>
              </a:lnSpc>
              <a:buSzPct val="100000"/>
              <a:buChar char="•"/>
            </a:pPr>
            <a:endParaRPr lang="en-US" sz="2000" dirty="0">
              <a:latin typeface="Source Sans 3" panose="020B0604020202020204" charset="0"/>
              <a:cs typeface="Source Sans 3" panose="020B0604020202020204" charset="0"/>
            </a:endParaRPr>
          </a:p>
          <a:p>
            <a:pPr marL="342900" indent="-342900" algn="just">
              <a:lnSpc>
                <a:spcPct val="150000"/>
              </a:lnSpc>
              <a:buSzPct val="100000"/>
              <a:buFont typeface="Wingdings" panose="05000000000000000000" pitchFamily="2" charset="2"/>
              <a:buChar char="Ø"/>
            </a:pPr>
            <a:r>
              <a:rPr lang="en-US" sz="2000" dirty="0">
                <a:latin typeface="Source Sans 3" panose="020B0604020202020204" charset="0"/>
                <a:cs typeface="Source Sans 3" panose="020B0604020202020204" charset="0"/>
              </a:rPr>
              <a:t>Ref: B. -Y. Zhang, Q. -C. Zhang and W. -Y. Zhang, "Non-Uniform Low-Light Face Image Enhancement Based on Dark Channel Prior and Image Uniform Posterior," in </a:t>
            </a:r>
            <a:r>
              <a:rPr lang="en-US" sz="2000" i="1" dirty="0">
                <a:latin typeface="Source Sans 3" panose="020B0604020202020204" charset="0"/>
                <a:cs typeface="Source Sans 3" panose="020B0604020202020204" charset="0"/>
              </a:rPr>
              <a:t>IEEE Access</a:t>
            </a:r>
            <a:r>
              <a:rPr lang="en-US" sz="2000" dirty="0">
                <a:latin typeface="Source Sans 3" panose="020B0604020202020204" charset="0"/>
                <a:cs typeface="Source Sans 3" panose="020B0604020202020204" charset="0"/>
              </a:rPr>
              <a:t>, vol. 12, pp. 85724-85734, 2024, </a:t>
            </a:r>
            <a:r>
              <a:rPr lang="en-US" sz="2000" dirty="0" err="1">
                <a:latin typeface="Source Sans 3" panose="020B0604020202020204" charset="0"/>
                <a:cs typeface="Source Sans 3" panose="020B0604020202020204" charset="0"/>
              </a:rPr>
              <a:t>doi</a:t>
            </a:r>
            <a:r>
              <a:rPr lang="en-US" sz="2000" dirty="0">
                <a:latin typeface="Source Sans 3" panose="020B0604020202020204" charset="0"/>
                <a:cs typeface="Source Sans 3" panose="020B0604020202020204" charset="0"/>
              </a:rPr>
              <a:t>: 10.1109/ACCESS.2024.3416130..</a:t>
            </a:r>
            <a:endParaRPr lang="en-US" sz="2000" dirty="0">
              <a:solidFill>
                <a:srgbClr val="3D3838"/>
              </a:solidFill>
              <a:latin typeface="Source Sans 3" panose="020B0604020202020204" charset="0"/>
              <a:cs typeface="Source Sans 3" panose="020B0604020202020204" charset="0"/>
            </a:endParaRPr>
          </a:p>
        </p:txBody>
      </p:sp>
      <p:sp>
        <p:nvSpPr>
          <p:cNvPr id="21" name="Text 5"/>
          <p:cNvSpPr/>
          <p:nvPr/>
        </p:nvSpPr>
        <p:spPr>
          <a:xfrm>
            <a:off x="1267961" y="4988881"/>
            <a:ext cx="13227510" cy="3923171"/>
          </a:xfrm>
          <a:prstGeom prst="rect">
            <a:avLst/>
          </a:prstGeom>
          <a:noFill/>
          <a:ln/>
        </p:spPr>
        <p:txBody>
          <a:bodyPr wrap="square" lIns="0" tIns="0" rIns="0" bIns="0" rtlCol="0" anchor="t"/>
          <a:lstStyle/>
          <a:p>
            <a:pPr>
              <a:lnSpc>
                <a:spcPts val="2300"/>
              </a:lnSpc>
              <a:buSzPct val="100000"/>
            </a:pPr>
            <a:endParaRPr lang="en-US" sz="2800" dirty="0">
              <a:latin typeface="Source Sans 3" panose="020B0604020202020204" charset="0"/>
              <a:cs typeface="Source Sans 3" panose="020B0604020202020204" charset="0"/>
            </a:endParaRPr>
          </a:p>
        </p:txBody>
      </p:sp>
      <p:sp>
        <p:nvSpPr>
          <p:cNvPr id="24" name="Slide Number Placeholder 23"/>
          <p:cNvSpPr>
            <a:spLocks noGrp="1"/>
          </p:cNvSpPr>
          <p:nvPr>
            <p:ph type="sldNum" sz="quarter" idx="12"/>
          </p:nvPr>
        </p:nvSpPr>
        <p:spPr/>
        <p:txBody>
          <a:bodyPr/>
          <a:lstStyle/>
          <a:p>
            <a:fld id="{B6F15528-21DE-4FAA-801E-634DDDAF4B2B}" type="slidenum">
              <a:rPr lang="en-US" smtClean="0"/>
              <a:pPr/>
              <a:t>3</a:t>
            </a:fld>
            <a:endParaRPr lang="en-US"/>
          </a:p>
        </p:txBody>
      </p:sp>
      <p:pic>
        <p:nvPicPr>
          <p:cNvPr id="19" name="Picture 1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243189" y="174336"/>
            <a:ext cx="740449" cy="77006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7FD506-64B4-4221-AA87-9365CE41D0FB}"/>
              </a:ext>
            </a:extLst>
          </p:cNvPr>
          <p:cNvSpPr>
            <a:spLocks noGrp="1"/>
          </p:cNvSpPr>
          <p:nvPr>
            <p:ph type="sldNum" sz="quarter" idx="12"/>
          </p:nvPr>
        </p:nvSpPr>
        <p:spPr/>
        <p:txBody>
          <a:bodyPr/>
          <a:lstStyle/>
          <a:p>
            <a:fld id="{B6F15528-21DE-4FAA-801E-634DDDAF4B2B}" type="slidenum">
              <a:rPr lang="en-US" smtClean="0"/>
              <a:pPr/>
              <a:t>4</a:t>
            </a:fld>
            <a:endParaRPr lang="en-US"/>
          </a:p>
        </p:txBody>
      </p:sp>
      <p:sp>
        <p:nvSpPr>
          <p:cNvPr id="3" name="AutoShape 2">
            <a:extLst>
              <a:ext uri="{FF2B5EF4-FFF2-40B4-BE49-F238E27FC236}">
                <a16:creationId xmlns:a16="http://schemas.microsoft.com/office/drawing/2014/main" id="{266D7683-296F-47CE-91A8-8328D8BA4FE3}"/>
              </a:ext>
            </a:extLst>
          </p:cNvPr>
          <p:cNvSpPr/>
          <p:nvPr/>
        </p:nvSpPr>
        <p:spPr>
          <a:xfrm>
            <a:off x="4347402" y="9410700"/>
            <a:ext cx="13064298" cy="0"/>
          </a:xfrm>
          <a:prstGeom prst="line">
            <a:avLst/>
          </a:prstGeom>
          <a:ln w="19050" cap="flat">
            <a:solidFill>
              <a:srgbClr val="48276D"/>
            </a:solidFill>
            <a:prstDash val="solid"/>
            <a:headEnd type="none" w="sm" len="sm"/>
            <a:tailEnd type="none" w="sm" len="sm"/>
          </a:ln>
        </p:spPr>
      </p:sp>
      <p:sp>
        <p:nvSpPr>
          <p:cNvPr id="4" name="AutoShape 4">
            <a:extLst>
              <a:ext uri="{FF2B5EF4-FFF2-40B4-BE49-F238E27FC236}">
                <a16:creationId xmlns:a16="http://schemas.microsoft.com/office/drawing/2014/main" id="{C216B890-BA0B-4B14-820B-ACB98AFAEA99}"/>
              </a:ext>
            </a:extLst>
          </p:cNvPr>
          <p:cNvSpPr/>
          <p:nvPr/>
        </p:nvSpPr>
        <p:spPr>
          <a:xfrm flipV="1">
            <a:off x="1181100" y="1200150"/>
            <a:ext cx="16230600" cy="0"/>
          </a:xfrm>
          <a:prstGeom prst="line">
            <a:avLst/>
          </a:prstGeom>
          <a:ln w="19050" cap="flat">
            <a:solidFill>
              <a:srgbClr val="48276D"/>
            </a:solidFill>
            <a:prstDash val="solid"/>
            <a:headEnd type="none" w="sm" len="sm"/>
            <a:tailEnd type="none" w="sm" len="sm"/>
          </a:ln>
        </p:spPr>
      </p:sp>
      <p:grpSp>
        <p:nvGrpSpPr>
          <p:cNvPr id="5" name="Group 6">
            <a:extLst>
              <a:ext uri="{FF2B5EF4-FFF2-40B4-BE49-F238E27FC236}">
                <a16:creationId xmlns:a16="http://schemas.microsoft.com/office/drawing/2014/main" id="{1D7041C9-D418-45C6-9B63-4DE8CAF49579}"/>
              </a:ext>
            </a:extLst>
          </p:cNvPr>
          <p:cNvGrpSpPr/>
          <p:nvPr/>
        </p:nvGrpSpPr>
        <p:grpSpPr>
          <a:xfrm>
            <a:off x="17395589" y="2985842"/>
            <a:ext cx="1044811" cy="5724034"/>
            <a:chOff x="0" y="0"/>
            <a:chExt cx="275176" cy="1507565"/>
          </a:xfrm>
        </p:grpSpPr>
        <p:sp>
          <p:nvSpPr>
            <p:cNvPr id="6" name="Freeform 7">
              <a:extLst>
                <a:ext uri="{FF2B5EF4-FFF2-40B4-BE49-F238E27FC236}">
                  <a16:creationId xmlns:a16="http://schemas.microsoft.com/office/drawing/2014/main" id="{386FD780-0D61-4878-89AF-7B7D5BA125FE}"/>
                </a:ext>
              </a:extLst>
            </p:cNvPr>
            <p:cNvSpPr/>
            <p:nvPr/>
          </p:nvSpPr>
          <p:spPr>
            <a:xfrm>
              <a:off x="0" y="0"/>
              <a:ext cx="275176" cy="1507565"/>
            </a:xfrm>
            <a:custGeom>
              <a:avLst/>
              <a:gdLst/>
              <a:ahLst/>
              <a:cxnLst/>
              <a:rect l="l" t="t" r="r" b="b"/>
              <a:pathLst>
                <a:path w="275176" h="1507565">
                  <a:moveTo>
                    <a:pt x="0" y="0"/>
                  </a:moveTo>
                  <a:lnTo>
                    <a:pt x="275176" y="0"/>
                  </a:lnTo>
                  <a:lnTo>
                    <a:pt x="275176" y="1507565"/>
                  </a:lnTo>
                  <a:lnTo>
                    <a:pt x="0" y="1507565"/>
                  </a:lnTo>
                  <a:close/>
                </a:path>
              </a:pathLst>
            </a:custGeom>
            <a:gradFill rotWithShape="1">
              <a:gsLst>
                <a:gs pos="0">
                  <a:srgbClr val="9374B3">
                    <a:alpha val="100000"/>
                  </a:srgbClr>
                </a:gs>
                <a:gs pos="50000">
                  <a:srgbClr val="7161A6">
                    <a:alpha val="100000"/>
                  </a:srgbClr>
                </a:gs>
                <a:gs pos="100000">
                  <a:srgbClr val="4A4D9C">
                    <a:alpha val="100000"/>
                  </a:srgbClr>
                </a:gs>
              </a:gsLst>
              <a:lin ang="0"/>
            </a:gradFill>
          </p:spPr>
        </p:sp>
        <p:sp>
          <p:nvSpPr>
            <p:cNvPr id="7" name="TextBox 8">
              <a:extLst>
                <a:ext uri="{FF2B5EF4-FFF2-40B4-BE49-F238E27FC236}">
                  <a16:creationId xmlns:a16="http://schemas.microsoft.com/office/drawing/2014/main" id="{BBAF00B1-EE76-4361-A315-50CFBAFFF95D}"/>
                </a:ext>
              </a:extLst>
            </p:cNvPr>
            <p:cNvSpPr txBox="1"/>
            <p:nvPr/>
          </p:nvSpPr>
          <p:spPr>
            <a:xfrm>
              <a:off x="0" y="-38100"/>
              <a:ext cx="275176" cy="1545665"/>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9">
            <a:extLst>
              <a:ext uri="{FF2B5EF4-FFF2-40B4-BE49-F238E27FC236}">
                <a16:creationId xmlns:a16="http://schemas.microsoft.com/office/drawing/2014/main" id="{703830B4-838F-4201-8501-CCE362DBC9E9}"/>
              </a:ext>
            </a:extLst>
          </p:cNvPr>
          <p:cNvSpPr/>
          <p:nvPr/>
        </p:nvSpPr>
        <p:spPr>
          <a:xfrm rot="-5400000">
            <a:off x="17613617" y="4092108"/>
            <a:ext cx="711163" cy="177791"/>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AutoShape 10">
            <a:extLst>
              <a:ext uri="{FF2B5EF4-FFF2-40B4-BE49-F238E27FC236}">
                <a16:creationId xmlns:a16="http://schemas.microsoft.com/office/drawing/2014/main" id="{1D4042E8-67A7-4BDD-8126-B288AC2CDD3F}"/>
              </a:ext>
            </a:extLst>
          </p:cNvPr>
          <p:cNvSpPr/>
          <p:nvPr/>
        </p:nvSpPr>
        <p:spPr>
          <a:xfrm flipV="1">
            <a:off x="17959673" y="5086228"/>
            <a:ext cx="0" cy="1044644"/>
          </a:xfrm>
          <a:prstGeom prst="line">
            <a:avLst/>
          </a:prstGeom>
          <a:ln w="19050" cap="flat">
            <a:solidFill>
              <a:srgbClr val="FFFFFF"/>
            </a:solidFill>
            <a:prstDash val="solid"/>
            <a:headEnd type="none" w="sm" len="sm"/>
            <a:tailEnd type="none" w="sm" len="sm"/>
          </a:ln>
        </p:spPr>
      </p:sp>
      <p:sp>
        <p:nvSpPr>
          <p:cNvPr id="10" name="Freeform 11">
            <a:extLst>
              <a:ext uri="{FF2B5EF4-FFF2-40B4-BE49-F238E27FC236}">
                <a16:creationId xmlns:a16="http://schemas.microsoft.com/office/drawing/2014/main" id="{E1C02AA6-6F20-4D79-B6C5-6699F62EFC31}"/>
              </a:ext>
            </a:extLst>
          </p:cNvPr>
          <p:cNvSpPr/>
          <p:nvPr/>
        </p:nvSpPr>
        <p:spPr>
          <a:xfrm rot="-5400000">
            <a:off x="17613617" y="7014972"/>
            <a:ext cx="711163" cy="177791"/>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TextBox 13">
            <a:extLst>
              <a:ext uri="{FF2B5EF4-FFF2-40B4-BE49-F238E27FC236}">
                <a16:creationId xmlns:a16="http://schemas.microsoft.com/office/drawing/2014/main" id="{8CD06140-1DB2-4730-8896-EF81FD6EB559}"/>
              </a:ext>
            </a:extLst>
          </p:cNvPr>
          <p:cNvSpPr txBox="1"/>
          <p:nvPr/>
        </p:nvSpPr>
        <p:spPr>
          <a:xfrm>
            <a:off x="1256032" y="745147"/>
            <a:ext cx="2224931" cy="371897"/>
          </a:xfrm>
          <a:prstGeom prst="rect">
            <a:avLst/>
          </a:prstGeom>
        </p:spPr>
        <p:txBody>
          <a:bodyPr lIns="0" tIns="0" rIns="0" bIns="0" rtlCol="0" anchor="t">
            <a:spAutoFit/>
          </a:bodyPr>
          <a:lstStyle/>
          <a:p>
            <a:pPr algn="l">
              <a:lnSpc>
                <a:spcPts val="2939"/>
              </a:lnSpc>
            </a:pPr>
            <a:r>
              <a:rPr lang="en-US" sz="2099" dirty="0">
                <a:solidFill>
                  <a:srgbClr val="69498D"/>
                </a:solidFill>
                <a:latin typeface="Roboto"/>
                <a:ea typeface="Roboto"/>
                <a:cs typeface="Roboto"/>
                <a:sym typeface="Roboto"/>
              </a:rPr>
              <a:t>R20 Regulations</a:t>
            </a:r>
          </a:p>
        </p:txBody>
      </p:sp>
      <p:sp>
        <p:nvSpPr>
          <p:cNvPr id="12" name="TextBox 14">
            <a:extLst>
              <a:ext uri="{FF2B5EF4-FFF2-40B4-BE49-F238E27FC236}">
                <a16:creationId xmlns:a16="http://schemas.microsoft.com/office/drawing/2014/main" id="{FD8CB728-B0CD-4A04-96C9-831A9B5C2A48}"/>
              </a:ext>
            </a:extLst>
          </p:cNvPr>
          <p:cNvSpPr txBox="1"/>
          <p:nvPr/>
        </p:nvSpPr>
        <p:spPr>
          <a:xfrm>
            <a:off x="8289406" y="815340"/>
            <a:ext cx="2026105" cy="371897"/>
          </a:xfrm>
          <a:prstGeom prst="rect">
            <a:avLst/>
          </a:prstGeom>
        </p:spPr>
        <p:txBody>
          <a:bodyPr lIns="0" tIns="0" rIns="0" bIns="0" rtlCol="0" anchor="t">
            <a:spAutoFit/>
          </a:bodyPr>
          <a:lstStyle/>
          <a:p>
            <a:pPr algn="ctr">
              <a:lnSpc>
                <a:spcPts val="2939"/>
              </a:lnSpc>
            </a:pPr>
            <a:r>
              <a:rPr lang="en-US" sz="2099" dirty="0">
                <a:solidFill>
                  <a:srgbClr val="69498D"/>
                </a:solidFill>
                <a:latin typeface="Roboto"/>
                <a:ea typeface="Roboto"/>
                <a:cs typeface="Roboto"/>
                <a:sym typeface="Roboto"/>
              </a:rPr>
              <a:t>IV B. Tech ECE</a:t>
            </a:r>
          </a:p>
        </p:txBody>
      </p:sp>
      <p:sp>
        <p:nvSpPr>
          <p:cNvPr id="13" name="TextBox 15">
            <a:extLst>
              <a:ext uri="{FF2B5EF4-FFF2-40B4-BE49-F238E27FC236}">
                <a16:creationId xmlns:a16="http://schemas.microsoft.com/office/drawing/2014/main" id="{1613A55E-6119-4CBD-9E6A-BF406D00B197}"/>
              </a:ext>
            </a:extLst>
          </p:cNvPr>
          <p:cNvSpPr txBox="1"/>
          <p:nvPr/>
        </p:nvSpPr>
        <p:spPr>
          <a:xfrm>
            <a:off x="13303490" y="853872"/>
            <a:ext cx="3903301" cy="737235"/>
          </a:xfrm>
          <a:prstGeom prst="rect">
            <a:avLst/>
          </a:prstGeom>
        </p:spPr>
        <p:txBody>
          <a:bodyPr lIns="0" tIns="0" rIns="0" bIns="0" rtlCol="0" anchor="t">
            <a:spAutoFit/>
          </a:bodyPr>
          <a:lstStyle/>
          <a:p>
            <a:pPr algn="l">
              <a:lnSpc>
                <a:spcPts val="2939"/>
              </a:lnSpc>
            </a:pPr>
            <a:r>
              <a:rPr lang="en-US" sz="2099">
                <a:solidFill>
                  <a:srgbClr val="69498D"/>
                </a:solidFill>
                <a:latin typeface="Roboto"/>
                <a:ea typeface="Roboto"/>
                <a:cs typeface="Roboto"/>
                <a:sym typeface="Roboto"/>
              </a:rPr>
              <a:t>Ac. Year : 2025-26/ Semester -II</a:t>
            </a:r>
          </a:p>
          <a:p>
            <a:pPr algn="l">
              <a:lnSpc>
                <a:spcPts val="2939"/>
              </a:lnSpc>
            </a:pPr>
            <a:endParaRPr lang="en-US" sz="2099">
              <a:solidFill>
                <a:srgbClr val="69498D"/>
              </a:solidFill>
              <a:latin typeface="Roboto"/>
              <a:ea typeface="Roboto"/>
              <a:cs typeface="Roboto"/>
              <a:sym typeface="Roboto"/>
            </a:endParaRPr>
          </a:p>
        </p:txBody>
      </p:sp>
      <p:sp>
        <p:nvSpPr>
          <p:cNvPr id="14" name="TextBox 16">
            <a:extLst>
              <a:ext uri="{FF2B5EF4-FFF2-40B4-BE49-F238E27FC236}">
                <a16:creationId xmlns:a16="http://schemas.microsoft.com/office/drawing/2014/main" id="{CCCFBB7C-5DC3-42A5-9E77-4F6F0B9B9C2E}"/>
              </a:ext>
            </a:extLst>
          </p:cNvPr>
          <p:cNvSpPr txBox="1"/>
          <p:nvPr/>
        </p:nvSpPr>
        <p:spPr>
          <a:xfrm>
            <a:off x="1725978" y="9204007"/>
            <a:ext cx="3903301" cy="346249"/>
          </a:xfrm>
          <a:prstGeom prst="rect">
            <a:avLst/>
          </a:prstGeom>
        </p:spPr>
        <p:txBody>
          <a:bodyPr lIns="0" tIns="0" rIns="0" bIns="0" rtlCol="0" anchor="t">
            <a:spAutoFit/>
          </a:bodyPr>
          <a:lstStyle/>
          <a:p>
            <a:pPr>
              <a:lnSpc>
                <a:spcPts val="2939"/>
              </a:lnSpc>
            </a:pPr>
            <a:r>
              <a:rPr lang="en-US" sz="2099" dirty="0">
                <a:solidFill>
                  <a:srgbClr val="69498D"/>
                </a:solidFill>
                <a:latin typeface="Roboto"/>
                <a:ea typeface="Roboto"/>
                <a:cs typeface="Roboto"/>
                <a:sym typeface="Roboto"/>
              </a:rPr>
              <a:t>Final Review</a:t>
            </a:r>
          </a:p>
        </p:txBody>
      </p:sp>
      <p:sp>
        <p:nvSpPr>
          <p:cNvPr id="15" name="Text 2">
            <a:extLst>
              <a:ext uri="{FF2B5EF4-FFF2-40B4-BE49-F238E27FC236}">
                <a16:creationId xmlns:a16="http://schemas.microsoft.com/office/drawing/2014/main" id="{6BB8D278-3D03-422D-A84B-6CF0E25FF7E1}"/>
              </a:ext>
            </a:extLst>
          </p:cNvPr>
          <p:cNvSpPr/>
          <p:nvPr/>
        </p:nvSpPr>
        <p:spPr>
          <a:xfrm>
            <a:off x="1447800" y="1582425"/>
            <a:ext cx="7645837" cy="562808"/>
          </a:xfrm>
          <a:prstGeom prst="rect">
            <a:avLst/>
          </a:prstGeom>
          <a:noFill/>
          <a:ln/>
        </p:spPr>
        <p:txBody>
          <a:bodyPr wrap="none" lIns="0" tIns="0" rIns="0" bIns="0" rtlCol="0" anchor="t"/>
          <a:lstStyle/>
          <a:p>
            <a:pPr marL="0" indent="0" algn="l">
              <a:lnSpc>
                <a:spcPts val="4400"/>
              </a:lnSpc>
              <a:buNone/>
            </a:pPr>
            <a:r>
              <a:rPr lang="en-US" sz="3500" b="1" dirty="0">
                <a:solidFill>
                  <a:srgbClr val="000000"/>
                </a:solidFill>
                <a:latin typeface="Montserrat Bold" pitchFamily="34" charset="0"/>
                <a:ea typeface="Montserrat Bold" pitchFamily="34" charset="-122"/>
                <a:cs typeface="Montserrat Bold" pitchFamily="34" charset="-120"/>
              </a:rPr>
              <a:t>Literature Review &amp; Background</a:t>
            </a:r>
            <a:endParaRPr lang="en-US" sz="3500" dirty="0"/>
          </a:p>
        </p:txBody>
      </p:sp>
      <p:sp>
        <p:nvSpPr>
          <p:cNvPr id="16" name="Text 4">
            <a:extLst>
              <a:ext uri="{FF2B5EF4-FFF2-40B4-BE49-F238E27FC236}">
                <a16:creationId xmlns:a16="http://schemas.microsoft.com/office/drawing/2014/main" id="{9E1DE1D5-2E2C-4CC7-9C2D-51467F3EF8C7}"/>
              </a:ext>
            </a:extLst>
          </p:cNvPr>
          <p:cNvSpPr/>
          <p:nvPr/>
        </p:nvSpPr>
        <p:spPr>
          <a:xfrm>
            <a:off x="1447800" y="2574679"/>
            <a:ext cx="13942717" cy="2574463"/>
          </a:xfrm>
          <a:prstGeom prst="rect">
            <a:avLst/>
          </a:prstGeom>
          <a:noFill/>
          <a:ln/>
        </p:spPr>
        <p:txBody>
          <a:bodyPr wrap="square" lIns="0" tIns="0" rIns="0" bIns="0" rtlCol="0" anchor="t"/>
          <a:lstStyle/>
          <a:p>
            <a:pPr marL="342900" indent="-342900" algn="l">
              <a:lnSpc>
                <a:spcPts val="2300"/>
              </a:lnSpc>
              <a:buSzPct val="100000"/>
              <a:buChar char="•"/>
            </a:pPr>
            <a:endParaRPr lang="en-US" sz="2800" dirty="0">
              <a:latin typeface="Source Sans 3" panose="020B0604020202020204" charset="0"/>
              <a:cs typeface="Source Sans 3" panose="020B0604020202020204" charset="0"/>
            </a:endParaRPr>
          </a:p>
        </p:txBody>
      </p:sp>
      <p:sp>
        <p:nvSpPr>
          <p:cNvPr id="17" name="Text 5">
            <a:extLst>
              <a:ext uri="{FF2B5EF4-FFF2-40B4-BE49-F238E27FC236}">
                <a16:creationId xmlns:a16="http://schemas.microsoft.com/office/drawing/2014/main" id="{165C9420-BD5A-4778-8DDE-F73FCFD1F4C2}"/>
              </a:ext>
            </a:extLst>
          </p:cNvPr>
          <p:cNvSpPr/>
          <p:nvPr/>
        </p:nvSpPr>
        <p:spPr>
          <a:xfrm>
            <a:off x="1447800" y="2259855"/>
            <a:ext cx="14657839" cy="6944152"/>
          </a:xfrm>
          <a:prstGeom prst="rect">
            <a:avLst/>
          </a:prstGeom>
          <a:noFill/>
          <a:ln/>
        </p:spPr>
        <p:txBody>
          <a:bodyPr wrap="square" lIns="0" tIns="0" rIns="0" bIns="0" rtlCol="0" anchor="t"/>
          <a:lstStyle/>
          <a:p>
            <a:pPr algn="just">
              <a:buSzPct val="100000"/>
            </a:pPr>
            <a:endParaRPr lang="en-US" sz="3200" b="1" dirty="0">
              <a:latin typeface="Source Sans 3" panose="020B0604020202020204" charset="0"/>
              <a:cs typeface="Source Sans 3" panose="020B0604020202020204" charset="0"/>
            </a:endParaRPr>
          </a:p>
          <a:p>
            <a:pPr algn="just">
              <a:buSzPct val="100000"/>
            </a:pPr>
            <a:r>
              <a:rPr lang="en-US" sz="3200" b="1" dirty="0">
                <a:latin typeface="Source Sans 3" panose="020B0604020202020204" charset="0"/>
                <a:cs typeface="Source Sans 3" panose="020B0604020202020204" charset="0"/>
              </a:rPr>
              <a:t>Core &amp; idea:</a:t>
            </a:r>
            <a:r>
              <a:rPr lang="en-US" sz="3200" dirty="0">
                <a:latin typeface="Source Sans 3" panose="020B0604020202020204" charset="0"/>
                <a:cs typeface="Source Sans 3" panose="020B0604020202020204" charset="0"/>
              </a:rPr>
              <a:t> </a:t>
            </a:r>
          </a:p>
          <a:p>
            <a:pPr marL="457200" indent="-457200" algn="just">
              <a:buSzPct val="100000"/>
              <a:buFont typeface="Arial" panose="020B0604020202020204" pitchFamily="34" charset="0"/>
              <a:buChar char="•"/>
            </a:pPr>
            <a:r>
              <a:rPr lang="en-US" sz="2800" dirty="0">
                <a:latin typeface="Source Sans 3" panose="020B0604020202020204" charset="0"/>
                <a:cs typeface="Source Sans 3" panose="020B0604020202020204" charset="0"/>
              </a:rPr>
              <a:t>Uses a </a:t>
            </a:r>
            <a:r>
              <a:rPr lang="en-US" sz="2800" dirty="0" err="1">
                <a:latin typeface="Source Sans 3" panose="020B0604020202020204" charset="0"/>
                <a:cs typeface="Source Sans 3" panose="020B0604020202020204" charset="0"/>
              </a:rPr>
              <a:t>Retinex</a:t>
            </a:r>
            <a:r>
              <a:rPr lang="en-US" sz="2800" dirty="0">
                <a:latin typeface="Source Sans 3" panose="020B0604020202020204" charset="0"/>
                <a:cs typeface="Source Sans 3" panose="020B0604020202020204" charset="0"/>
              </a:rPr>
              <a:t>-based framework enhanced with attenuation mechanisms to accurately separate illumination and reflectance while emphasizing important image regions.</a:t>
            </a:r>
          </a:p>
          <a:p>
            <a:pPr marL="457200" indent="-457200" algn="just">
              <a:buSzPct val="100000"/>
              <a:buFont typeface="Arial" panose="020B0604020202020204" pitchFamily="34" charset="0"/>
              <a:buChar char="•"/>
            </a:pPr>
            <a:endParaRPr lang="en-US" sz="2800" dirty="0">
              <a:latin typeface="Source Sans 3" panose="020B0604020202020204" charset="0"/>
              <a:cs typeface="Source Sans 3" panose="020B0604020202020204" charset="0"/>
            </a:endParaRPr>
          </a:p>
          <a:p>
            <a:pPr marL="457200" indent="-457200" algn="just">
              <a:buSzPct val="100000"/>
              <a:buFont typeface="Arial" panose="020B0604020202020204" pitchFamily="34" charset="0"/>
              <a:buChar char="•"/>
            </a:pPr>
            <a:endParaRPr lang="en-US" sz="2800" dirty="0">
              <a:latin typeface="Source Sans 3" panose="020B0604020202020204" charset="0"/>
              <a:cs typeface="Source Sans 3" panose="020B0604020202020204" charset="0"/>
            </a:endParaRPr>
          </a:p>
          <a:p>
            <a:pPr algn="just">
              <a:buSzPct val="100000"/>
            </a:pPr>
            <a:r>
              <a:rPr lang="en-US" sz="3200" b="1" dirty="0">
                <a:latin typeface="Source Sans 3" panose="020B0604020202020204" charset="0"/>
                <a:cs typeface="Source Sans 3" panose="020B0604020202020204" charset="0"/>
              </a:rPr>
              <a:t>Significance:</a:t>
            </a:r>
            <a:r>
              <a:rPr lang="en-US" sz="3200" dirty="0">
                <a:latin typeface="Source Sans 3" panose="020B0604020202020204" charset="0"/>
                <a:cs typeface="Source Sans 3" panose="020B0604020202020204" charset="0"/>
              </a:rPr>
              <a:t> </a:t>
            </a:r>
          </a:p>
          <a:p>
            <a:pPr marL="457200" indent="-457200" algn="just">
              <a:buSzPct val="100000"/>
              <a:buFont typeface="Arial" panose="020B0604020202020204" pitchFamily="34" charset="0"/>
              <a:buChar char="•"/>
            </a:pPr>
            <a:r>
              <a:rPr lang="en-US" sz="2800" dirty="0">
                <a:latin typeface="Source Sans 3" panose="020B0604020202020204" charset="0"/>
                <a:cs typeface="Source Sans 3" panose="020B0604020202020204" charset="0"/>
              </a:rPr>
              <a:t>Improves brightness, contrast, and detail preservation in low-light images, making it effective for illumination-aware enhancement tasks.</a:t>
            </a:r>
          </a:p>
          <a:p>
            <a:pPr algn="just">
              <a:lnSpc>
                <a:spcPct val="150000"/>
              </a:lnSpc>
              <a:buSzPct val="100000"/>
            </a:pPr>
            <a:endParaRPr lang="en-US" sz="2800" dirty="0">
              <a:latin typeface="Source Sans 3" panose="020B0604020202020204" charset="0"/>
              <a:cs typeface="Source Sans 3" panose="020B0604020202020204" charset="0"/>
            </a:endParaRPr>
          </a:p>
          <a:p>
            <a:pPr algn="just">
              <a:lnSpc>
                <a:spcPct val="150000"/>
              </a:lnSpc>
              <a:buSzPct val="100000"/>
            </a:pPr>
            <a:endParaRPr lang="en-US" sz="2800" dirty="0">
              <a:latin typeface="Source Sans 3" panose="020B0604020202020204" charset="0"/>
              <a:cs typeface="Source Sans 3" panose="020B0604020202020204" charset="0"/>
            </a:endParaRPr>
          </a:p>
          <a:p>
            <a:pPr algn="just">
              <a:lnSpc>
                <a:spcPct val="150000"/>
              </a:lnSpc>
              <a:buSzPct val="100000"/>
            </a:pPr>
            <a:endParaRPr lang="en-US" sz="2800" dirty="0">
              <a:latin typeface="Source Sans 3" panose="020B0604020202020204" charset="0"/>
              <a:cs typeface="Source Sans 3" panose="020B0604020202020204" charset="0"/>
            </a:endParaRPr>
          </a:p>
          <a:p>
            <a:pPr marL="457200" indent="-457200" algn="just">
              <a:lnSpc>
                <a:spcPct val="150000"/>
              </a:lnSpc>
              <a:buSzPct val="100000"/>
              <a:buFont typeface="Wingdings" panose="05000000000000000000" pitchFamily="2" charset="2"/>
              <a:buChar char="Ø"/>
            </a:pPr>
            <a:r>
              <a:rPr lang="en-US" sz="2000" dirty="0">
                <a:latin typeface="Source Sans 3" panose="020B0604020202020204" charset="0"/>
                <a:cs typeface="Source Sans 3" panose="020B0604020202020204" charset="0"/>
              </a:rPr>
              <a:t>Ref: Jiang, S.; Shi, Y.; Zhang, Y.; Zhang, Y. An Improved </a:t>
            </a:r>
            <a:r>
              <a:rPr lang="en-US" sz="2000" dirty="0" err="1">
                <a:latin typeface="Source Sans 3" panose="020B0604020202020204" charset="0"/>
                <a:cs typeface="Source Sans 3" panose="020B0604020202020204" charset="0"/>
              </a:rPr>
              <a:t>Retinex</a:t>
            </a:r>
            <a:r>
              <a:rPr lang="en-US" sz="2000" dirty="0">
                <a:latin typeface="Source Sans 3" panose="020B0604020202020204" charset="0"/>
                <a:cs typeface="Source Sans 3" panose="020B0604020202020204" charset="0"/>
              </a:rPr>
              <a:t>-Based Approach Based on Attention Mechanisms for Low-Light Image Enhancement. Electronics 2024, 13, 3645. https://doi.org/10.3390/electronics13183645</a:t>
            </a:r>
          </a:p>
          <a:p>
            <a:pPr algn="just">
              <a:lnSpc>
                <a:spcPct val="150000"/>
              </a:lnSpc>
              <a:buSzPct val="100000"/>
            </a:pPr>
            <a:endParaRPr lang="en-US" sz="2800" b="1" dirty="0">
              <a:latin typeface="Source Sans 3" panose="020B0604020202020204" charset="0"/>
              <a:cs typeface="Source Sans 3" panose="020B0604020202020204" charset="0"/>
            </a:endParaRPr>
          </a:p>
        </p:txBody>
      </p:sp>
      <p:sp>
        <p:nvSpPr>
          <p:cNvPr id="18" name="Slide Number Placeholder 23">
            <a:extLst>
              <a:ext uri="{FF2B5EF4-FFF2-40B4-BE49-F238E27FC236}">
                <a16:creationId xmlns:a16="http://schemas.microsoft.com/office/drawing/2014/main" id="{1DBB8761-910D-41E4-8214-2171B1C827B2}"/>
              </a:ext>
            </a:extLst>
          </p:cNvPr>
          <p:cNvSpPr txBox="1">
            <a:spLocks/>
          </p:cNvSpPr>
          <p:nvPr/>
        </p:nvSpPr>
        <p:spPr>
          <a:xfrm>
            <a:off x="6705600" y="65087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4</a:t>
            </a:fld>
            <a:endParaRPr lang="en-US"/>
          </a:p>
        </p:txBody>
      </p:sp>
    </p:spTree>
    <p:extLst>
      <p:ext uri="{BB962C8B-B14F-4D97-AF65-F5344CB8AC3E}">
        <p14:creationId xmlns:p14="http://schemas.microsoft.com/office/powerpoint/2010/main" val="3134719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3B3B2A-0D9A-470D-82A9-8AAFA95E3172}"/>
              </a:ext>
            </a:extLst>
          </p:cNvPr>
          <p:cNvSpPr>
            <a:spLocks noGrp="1"/>
          </p:cNvSpPr>
          <p:nvPr>
            <p:ph type="sldNum" sz="quarter" idx="12"/>
          </p:nvPr>
        </p:nvSpPr>
        <p:spPr/>
        <p:txBody>
          <a:bodyPr/>
          <a:lstStyle/>
          <a:p>
            <a:fld id="{B6F15528-21DE-4FAA-801E-634DDDAF4B2B}" type="slidenum">
              <a:rPr lang="en-US" smtClean="0"/>
              <a:pPr/>
              <a:t>5</a:t>
            </a:fld>
            <a:endParaRPr lang="en-US" dirty="0"/>
          </a:p>
        </p:txBody>
      </p:sp>
      <p:sp>
        <p:nvSpPr>
          <p:cNvPr id="3" name="AutoShape 2">
            <a:extLst>
              <a:ext uri="{FF2B5EF4-FFF2-40B4-BE49-F238E27FC236}">
                <a16:creationId xmlns:a16="http://schemas.microsoft.com/office/drawing/2014/main" id="{AAC25A39-F2AB-4555-97C3-6982A64476EE}"/>
              </a:ext>
            </a:extLst>
          </p:cNvPr>
          <p:cNvSpPr/>
          <p:nvPr/>
        </p:nvSpPr>
        <p:spPr>
          <a:xfrm>
            <a:off x="4195002" y="9258300"/>
            <a:ext cx="13064298" cy="0"/>
          </a:xfrm>
          <a:prstGeom prst="line">
            <a:avLst/>
          </a:prstGeom>
          <a:ln w="19050" cap="flat">
            <a:solidFill>
              <a:srgbClr val="48276D"/>
            </a:solidFill>
            <a:prstDash val="solid"/>
            <a:headEnd type="none" w="sm" len="sm"/>
            <a:tailEnd type="none" w="sm" len="sm"/>
          </a:ln>
        </p:spPr>
      </p:sp>
      <p:sp>
        <p:nvSpPr>
          <p:cNvPr id="4" name="Freeform 3">
            <a:extLst>
              <a:ext uri="{FF2B5EF4-FFF2-40B4-BE49-F238E27FC236}">
                <a16:creationId xmlns:a16="http://schemas.microsoft.com/office/drawing/2014/main" id="{9B70016A-43FA-4611-A1A9-1076F023BCFE}"/>
              </a:ext>
            </a:extLst>
          </p:cNvPr>
          <p:cNvSpPr/>
          <p:nvPr/>
        </p:nvSpPr>
        <p:spPr>
          <a:xfrm>
            <a:off x="15468600" y="791189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35000"/>
              <a:extLst>
                <a:ext uri="{96DAC541-7B7A-43D3-8B79-37D633B846F1}">
                  <asvg:svgBlip xmlns:asvg="http://schemas.microsoft.com/office/drawing/2016/SVG/main" r:embed="rId3"/>
                </a:ext>
              </a:extLst>
            </a:blip>
            <a:stretch>
              <a:fillRect/>
            </a:stretch>
          </a:blipFill>
        </p:spPr>
      </p:sp>
      <p:sp>
        <p:nvSpPr>
          <p:cNvPr id="5" name="AutoShape 4">
            <a:extLst>
              <a:ext uri="{FF2B5EF4-FFF2-40B4-BE49-F238E27FC236}">
                <a16:creationId xmlns:a16="http://schemas.microsoft.com/office/drawing/2014/main" id="{45B8FA4C-D459-413B-BB72-A9F1858B73CA}"/>
              </a:ext>
            </a:extLst>
          </p:cNvPr>
          <p:cNvSpPr/>
          <p:nvPr/>
        </p:nvSpPr>
        <p:spPr>
          <a:xfrm flipV="1">
            <a:off x="1028700" y="1047750"/>
            <a:ext cx="16230600" cy="0"/>
          </a:xfrm>
          <a:prstGeom prst="line">
            <a:avLst/>
          </a:prstGeom>
          <a:ln w="19050" cap="flat">
            <a:solidFill>
              <a:srgbClr val="48276D"/>
            </a:solidFill>
            <a:prstDash val="solid"/>
            <a:headEnd type="none" w="sm" len="sm"/>
            <a:tailEnd type="none" w="sm" len="sm"/>
          </a:ln>
        </p:spPr>
      </p:sp>
      <p:grpSp>
        <p:nvGrpSpPr>
          <p:cNvPr id="6" name="Group 6">
            <a:extLst>
              <a:ext uri="{FF2B5EF4-FFF2-40B4-BE49-F238E27FC236}">
                <a16:creationId xmlns:a16="http://schemas.microsoft.com/office/drawing/2014/main" id="{2D141FCE-FBE1-433C-93F5-18F59A90CAD7}"/>
              </a:ext>
            </a:extLst>
          </p:cNvPr>
          <p:cNvGrpSpPr/>
          <p:nvPr/>
        </p:nvGrpSpPr>
        <p:grpSpPr>
          <a:xfrm>
            <a:off x="17243189" y="2833442"/>
            <a:ext cx="1044811" cy="5724034"/>
            <a:chOff x="0" y="0"/>
            <a:chExt cx="275176" cy="1507565"/>
          </a:xfrm>
        </p:grpSpPr>
        <p:sp>
          <p:nvSpPr>
            <p:cNvPr id="7" name="Freeform 7">
              <a:extLst>
                <a:ext uri="{FF2B5EF4-FFF2-40B4-BE49-F238E27FC236}">
                  <a16:creationId xmlns:a16="http://schemas.microsoft.com/office/drawing/2014/main" id="{2C11EE4F-9703-4F60-9192-5045C45A0A89}"/>
                </a:ext>
              </a:extLst>
            </p:cNvPr>
            <p:cNvSpPr/>
            <p:nvPr/>
          </p:nvSpPr>
          <p:spPr>
            <a:xfrm>
              <a:off x="0" y="0"/>
              <a:ext cx="275176" cy="1507565"/>
            </a:xfrm>
            <a:custGeom>
              <a:avLst/>
              <a:gdLst/>
              <a:ahLst/>
              <a:cxnLst/>
              <a:rect l="l" t="t" r="r" b="b"/>
              <a:pathLst>
                <a:path w="275176" h="1507565">
                  <a:moveTo>
                    <a:pt x="0" y="0"/>
                  </a:moveTo>
                  <a:lnTo>
                    <a:pt x="275176" y="0"/>
                  </a:lnTo>
                  <a:lnTo>
                    <a:pt x="275176" y="1507565"/>
                  </a:lnTo>
                  <a:lnTo>
                    <a:pt x="0" y="1507565"/>
                  </a:lnTo>
                  <a:close/>
                </a:path>
              </a:pathLst>
            </a:custGeom>
            <a:gradFill rotWithShape="1">
              <a:gsLst>
                <a:gs pos="0">
                  <a:srgbClr val="9374B3">
                    <a:alpha val="100000"/>
                  </a:srgbClr>
                </a:gs>
                <a:gs pos="50000">
                  <a:srgbClr val="7161A6">
                    <a:alpha val="100000"/>
                  </a:srgbClr>
                </a:gs>
                <a:gs pos="100000">
                  <a:srgbClr val="4A4D9C">
                    <a:alpha val="100000"/>
                  </a:srgbClr>
                </a:gs>
              </a:gsLst>
              <a:lin ang="0"/>
            </a:gradFill>
          </p:spPr>
        </p:sp>
        <p:sp>
          <p:nvSpPr>
            <p:cNvPr id="8" name="TextBox 8">
              <a:extLst>
                <a:ext uri="{FF2B5EF4-FFF2-40B4-BE49-F238E27FC236}">
                  <a16:creationId xmlns:a16="http://schemas.microsoft.com/office/drawing/2014/main" id="{14092767-B972-4156-A0EE-C00F2B51D86E}"/>
                </a:ext>
              </a:extLst>
            </p:cNvPr>
            <p:cNvSpPr txBox="1"/>
            <p:nvPr/>
          </p:nvSpPr>
          <p:spPr>
            <a:xfrm>
              <a:off x="0" y="-38100"/>
              <a:ext cx="275176" cy="1545665"/>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17D5E813-0B1B-4C96-BD7D-C6530D6BFC1C}"/>
              </a:ext>
            </a:extLst>
          </p:cNvPr>
          <p:cNvSpPr/>
          <p:nvPr/>
        </p:nvSpPr>
        <p:spPr>
          <a:xfrm rot="-5400000">
            <a:off x="17461217" y="3939708"/>
            <a:ext cx="711163" cy="177791"/>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AutoShape 10">
            <a:extLst>
              <a:ext uri="{FF2B5EF4-FFF2-40B4-BE49-F238E27FC236}">
                <a16:creationId xmlns:a16="http://schemas.microsoft.com/office/drawing/2014/main" id="{2A154190-8187-4036-877D-2DDC61DB8FF5}"/>
              </a:ext>
            </a:extLst>
          </p:cNvPr>
          <p:cNvSpPr/>
          <p:nvPr/>
        </p:nvSpPr>
        <p:spPr>
          <a:xfrm flipV="1">
            <a:off x="17807273" y="4933828"/>
            <a:ext cx="0" cy="1044644"/>
          </a:xfrm>
          <a:prstGeom prst="line">
            <a:avLst/>
          </a:prstGeom>
          <a:ln w="19050" cap="flat">
            <a:solidFill>
              <a:srgbClr val="FFFFFF"/>
            </a:solidFill>
            <a:prstDash val="solid"/>
            <a:headEnd type="none" w="sm" len="sm"/>
            <a:tailEnd type="none" w="sm" len="sm"/>
          </a:ln>
        </p:spPr>
      </p:sp>
      <p:sp>
        <p:nvSpPr>
          <p:cNvPr id="11" name="Freeform 11">
            <a:extLst>
              <a:ext uri="{FF2B5EF4-FFF2-40B4-BE49-F238E27FC236}">
                <a16:creationId xmlns:a16="http://schemas.microsoft.com/office/drawing/2014/main" id="{6ABA20DD-2E73-4EB2-907C-ED64DB8131BD}"/>
              </a:ext>
            </a:extLst>
          </p:cNvPr>
          <p:cNvSpPr/>
          <p:nvPr/>
        </p:nvSpPr>
        <p:spPr>
          <a:xfrm rot="-5400000">
            <a:off x="17461217" y="6862572"/>
            <a:ext cx="711163" cy="177791"/>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TextBox 13">
            <a:extLst>
              <a:ext uri="{FF2B5EF4-FFF2-40B4-BE49-F238E27FC236}">
                <a16:creationId xmlns:a16="http://schemas.microsoft.com/office/drawing/2014/main" id="{82844231-5CB3-4D5F-A4EF-488B70534134}"/>
              </a:ext>
            </a:extLst>
          </p:cNvPr>
          <p:cNvSpPr txBox="1"/>
          <p:nvPr/>
        </p:nvSpPr>
        <p:spPr>
          <a:xfrm>
            <a:off x="1103632" y="592747"/>
            <a:ext cx="2224931" cy="371897"/>
          </a:xfrm>
          <a:prstGeom prst="rect">
            <a:avLst/>
          </a:prstGeom>
        </p:spPr>
        <p:txBody>
          <a:bodyPr lIns="0" tIns="0" rIns="0" bIns="0" rtlCol="0" anchor="t">
            <a:spAutoFit/>
          </a:bodyPr>
          <a:lstStyle/>
          <a:p>
            <a:pPr algn="l">
              <a:lnSpc>
                <a:spcPts val="2939"/>
              </a:lnSpc>
            </a:pPr>
            <a:r>
              <a:rPr lang="en-US" sz="2099" dirty="0">
                <a:solidFill>
                  <a:srgbClr val="69498D"/>
                </a:solidFill>
                <a:latin typeface="Roboto"/>
                <a:ea typeface="Roboto"/>
                <a:cs typeface="Roboto"/>
                <a:sym typeface="Roboto"/>
              </a:rPr>
              <a:t>R20 Regulations</a:t>
            </a:r>
          </a:p>
        </p:txBody>
      </p:sp>
      <p:sp>
        <p:nvSpPr>
          <p:cNvPr id="13" name="TextBox 14">
            <a:extLst>
              <a:ext uri="{FF2B5EF4-FFF2-40B4-BE49-F238E27FC236}">
                <a16:creationId xmlns:a16="http://schemas.microsoft.com/office/drawing/2014/main" id="{CE4CE6A7-1329-41D3-BF99-3C4F3DD06AEF}"/>
              </a:ext>
            </a:extLst>
          </p:cNvPr>
          <p:cNvSpPr txBox="1"/>
          <p:nvPr/>
        </p:nvSpPr>
        <p:spPr>
          <a:xfrm>
            <a:off x="8137006" y="662940"/>
            <a:ext cx="2026105" cy="371897"/>
          </a:xfrm>
          <a:prstGeom prst="rect">
            <a:avLst/>
          </a:prstGeom>
        </p:spPr>
        <p:txBody>
          <a:bodyPr lIns="0" tIns="0" rIns="0" bIns="0" rtlCol="0" anchor="t">
            <a:spAutoFit/>
          </a:bodyPr>
          <a:lstStyle/>
          <a:p>
            <a:pPr algn="ctr">
              <a:lnSpc>
                <a:spcPts val="2939"/>
              </a:lnSpc>
            </a:pPr>
            <a:r>
              <a:rPr lang="en-US" sz="2099" dirty="0">
                <a:solidFill>
                  <a:srgbClr val="69498D"/>
                </a:solidFill>
                <a:latin typeface="Roboto"/>
                <a:ea typeface="Roboto"/>
                <a:cs typeface="Roboto"/>
                <a:sym typeface="Roboto"/>
              </a:rPr>
              <a:t>IV B. Tech ECE</a:t>
            </a:r>
          </a:p>
        </p:txBody>
      </p:sp>
      <p:sp>
        <p:nvSpPr>
          <p:cNvPr id="14" name="TextBox 15">
            <a:extLst>
              <a:ext uri="{FF2B5EF4-FFF2-40B4-BE49-F238E27FC236}">
                <a16:creationId xmlns:a16="http://schemas.microsoft.com/office/drawing/2014/main" id="{4801B970-573D-4314-8915-6D11DC0A5D85}"/>
              </a:ext>
            </a:extLst>
          </p:cNvPr>
          <p:cNvSpPr txBox="1"/>
          <p:nvPr/>
        </p:nvSpPr>
        <p:spPr>
          <a:xfrm>
            <a:off x="13151090" y="701472"/>
            <a:ext cx="3903301" cy="737235"/>
          </a:xfrm>
          <a:prstGeom prst="rect">
            <a:avLst/>
          </a:prstGeom>
        </p:spPr>
        <p:txBody>
          <a:bodyPr lIns="0" tIns="0" rIns="0" bIns="0" rtlCol="0" anchor="t">
            <a:spAutoFit/>
          </a:bodyPr>
          <a:lstStyle/>
          <a:p>
            <a:pPr algn="l">
              <a:lnSpc>
                <a:spcPts val="2939"/>
              </a:lnSpc>
            </a:pPr>
            <a:r>
              <a:rPr lang="en-US" sz="2099">
                <a:solidFill>
                  <a:srgbClr val="69498D"/>
                </a:solidFill>
                <a:latin typeface="Roboto"/>
                <a:ea typeface="Roboto"/>
                <a:cs typeface="Roboto"/>
                <a:sym typeface="Roboto"/>
              </a:rPr>
              <a:t>Ac. Year : 2025-26/ Semester -II</a:t>
            </a:r>
          </a:p>
          <a:p>
            <a:pPr algn="l">
              <a:lnSpc>
                <a:spcPts val="2939"/>
              </a:lnSpc>
            </a:pPr>
            <a:endParaRPr lang="en-US" sz="2099">
              <a:solidFill>
                <a:srgbClr val="69498D"/>
              </a:solidFill>
              <a:latin typeface="Roboto"/>
              <a:ea typeface="Roboto"/>
              <a:cs typeface="Roboto"/>
              <a:sym typeface="Roboto"/>
            </a:endParaRPr>
          </a:p>
        </p:txBody>
      </p:sp>
      <p:sp>
        <p:nvSpPr>
          <p:cNvPr id="15" name="TextBox 16">
            <a:extLst>
              <a:ext uri="{FF2B5EF4-FFF2-40B4-BE49-F238E27FC236}">
                <a16:creationId xmlns:a16="http://schemas.microsoft.com/office/drawing/2014/main" id="{C23CE470-5429-4F1C-99E1-C87015C38D38}"/>
              </a:ext>
            </a:extLst>
          </p:cNvPr>
          <p:cNvSpPr txBox="1"/>
          <p:nvPr/>
        </p:nvSpPr>
        <p:spPr>
          <a:xfrm>
            <a:off x="1573578" y="9051607"/>
            <a:ext cx="3903301" cy="346249"/>
          </a:xfrm>
          <a:prstGeom prst="rect">
            <a:avLst/>
          </a:prstGeom>
        </p:spPr>
        <p:txBody>
          <a:bodyPr lIns="0" tIns="0" rIns="0" bIns="0" rtlCol="0" anchor="t">
            <a:spAutoFit/>
          </a:bodyPr>
          <a:lstStyle/>
          <a:p>
            <a:pPr>
              <a:lnSpc>
                <a:spcPts val="2939"/>
              </a:lnSpc>
            </a:pPr>
            <a:r>
              <a:rPr lang="en-US" sz="2099" dirty="0">
                <a:solidFill>
                  <a:srgbClr val="69498D"/>
                </a:solidFill>
                <a:latin typeface="Roboto"/>
                <a:ea typeface="Roboto"/>
                <a:cs typeface="Roboto"/>
                <a:sym typeface="Roboto"/>
              </a:rPr>
              <a:t>Final Review</a:t>
            </a:r>
          </a:p>
        </p:txBody>
      </p:sp>
      <p:sp>
        <p:nvSpPr>
          <p:cNvPr id="16" name="Text 2">
            <a:extLst>
              <a:ext uri="{FF2B5EF4-FFF2-40B4-BE49-F238E27FC236}">
                <a16:creationId xmlns:a16="http://schemas.microsoft.com/office/drawing/2014/main" id="{6F821D23-E6F9-434A-89B7-08A8CDAD9A7C}"/>
              </a:ext>
            </a:extLst>
          </p:cNvPr>
          <p:cNvSpPr/>
          <p:nvPr/>
        </p:nvSpPr>
        <p:spPr>
          <a:xfrm>
            <a:off x="1295400" y="1430025"/>
            <a:ext cx="7645837" cy="562808"/>
          </a:xfrm>
          <a:prstGeom prst="rect">
            <a:avLst/>
          </a:prstGeom>
          <a:noFill/>
          <a:ln/>
        </p:spPr>
        <p:txBody>
          <a:bodyPr wrap="none" lIns="0" tIns="0" rIns="0" bIns="0" rtlCol="0" anchor="t"/>
          <a:lstStyle/>
          <a:p>
            <a:pPr marL="0" indent="0" algn="l">
              <a:lnSpc>
                <a:spcPts val="4400"/>
              </a:lnSpc>
              <a:buNone/>
            </a:pPr>
            <a:r>
              <a:rPr lang="en-US" sz="3500" b="1" dirty="0">
                <a:solidFill>
                  <a:srgbClr val="000000"/>
                </a:solidFill>
                <a:latin typeface="Montserrat Bold" pitchFamily="34" charset="0"/>
                <a:ea typeface="Montserrat Bold" pitchFamily="34" charset="-122"/>
                <a:cs typeface="Montserrat Bold" pitchFamily="34" charset="-120"/>
              </a:rPr>
              <a:t>Literature Review &amp; Background</a:t>
            </a:r>
            <a:endParaRPr lang="en-US" sz="3500" dirty="0"/>
          </a:p>
        </p:txBody>
      </p:sp>
      <p:sp>
        <p:nvSpPr>
          <p:cNvPr id="17" name="Text 6">
            <a:extLst>
              <a:ext uri="{FF2B5EF4-FFF2-40B4-BE49-F238E27FC236}">
                <a16:creationId xmlns:a16="http://schemas.microsoft.com/office/drawing/2014/main" id="{3553F3DE-214B-4CEC-80F4-9491A12EC959}"/>
              </a:ext>
            </a:extLst>
          </p:cNvPr>
          <p:cNvSpPr/>
          <p:nvPr/>
        </p:nvSpPr>
        <p:spPr>
          <a:xfrm>
            <a:off x="1447801" y="2487168"/>
            <a:ext cx="14782800" cy="6564438"/>
          </a:xfrm>
          <a:prstGeom prst="rect">
            <a:avLst/>
          </a:prstGeom>
          <a:noFill/>
          <a:ln/>
        </p:spPr>
        <p:txBody>
          <a:bodyPr wrap="square" lIns="0" tIns="0" rIns="0" bIns="0" rtlCol="0" anchor="t"/>
          <a:lstStyle/>
          <a:p>
            <a:pPr algn="just">
              <a:buSzPct val="100000"/>
            </a:pPr>
            <a:r>
              <a:rPr lang="en-US" sz="3200" b="1" dirty="0">
                <a:latin typeface="Source Sans 3" panose="020B0604020202020204" charset="0"/>
                <a:cs typeface="Source Sans 3" panose="020B0604020202020204" charset="0"/>
              </a:rPr>
              <a:t>Automatic Adaptive Contrast Enhancement:</a:t>
            </a:r>
            <a:r>
              <a:rPr lang="en-US" sz="3200" dirty="0">
                <a:latin typeface="Source Sans 3" panose="020B0604020202020204" charset="0"/>
                <a:cs typeface="Source Sans 3" panose="020B0604020202020204" charset="0"/>
              </a:rPr>
              <a:t> </a:t>
            </a:r>
          </a:p>
          <a:p>
            <a:pPr marL="342900" indent="-342900" algn="just">
              <a:buSzPct val="100000"/>
              <a:buChar char="•"/>
            </a:pPr>
            <a:r>
              <a:rPr lang="en-US" sz="2800" dirty="0">
                <a:latin typeface="Source Sans 3" panose="020B0604020202020204" charset="0"/>
                <a:cs typeface="Source Sans 3" panose="020B0604020202020204" charset="0"/>
              </a:rPr>
              <a:t>The paper improves CLAHE by automatically selecting parameters (clip limit and tile size) based on the image, avoiding manual tuning and reducing over- or under-enhancement.</a:t>
            </a:r>
          </a:p>
          <a:p>
            <a:pPr marL="342900" indent="-342900" algn="just">
              <a:buSzPct val="100000"/>
              <a:buChar char="•"/>
            </a:pPr>
            <a:endParaRPr lang="en-US" sz="2800" dirty="0">
              <a:latin typeface="Source Sans 3" panose="020B0604020202020204" charset="0"/>
              <a:cs typeface="Source Sans 3" panose="020B0604020202020204" charset="0"/>
            </a:endParaRPr>
          </a:p>
          <a:p>
            <a:pPr marL="342900" indent="-342900" algn="just">
              <a:buSzPct val="100000"/>
              <a:buChar char="•"/>
            </a:pPr>
            <a:endParaRPr lang="en-US" sz="2800" dirty="0">
              <a:latin typeface="Source Sans 3" panose="020B0604020202020204" charset="0"/>
              <a:cs typeface="Source Sans 3" panose="020B0604020202020204" charset="0"/>
            </a:endParaRPr>
          </a:p>
          <a:p>
            <a:pPr algn="just">
              <a:buSzPct val="100000"/>
            </a:pPr>
            <a:r>
              <a:rPr lang="en-US" sz="3200" b="1" dirty="0">
                <a:latin typeface="Source Sans 3" panose="020B0604020202020204" charset="0"/>
                <a:cs typeface="Source Sans 3" panose="020B0604020202020204" charset="0"/>
              </a:rPr>
              <a:t>Dual Gamma Correction:</a:t>
            </a:r>
          </a:p>
          <a:p>
            <a:pPr marL="342900" indent="-342900" algn="just">
              <a:buSzPct val="100000"/>
              <a:buChar char="•"/>
            </a:pPr>
            <a:r>
              <a:rPr lang="en-US" sz="3200" dirty="0">
                <a:latin typeface="Source Sans 3" panose="020B0604020202020204" charset="0"/>
                <a:cs typeface="Source Sans 3" panose="020B0604020202020204" charset="0"/>
              </a:rPr>
              <a:t> </a:t>
            </a:r>
            <a:r>
              <a:rPr lang="en-US" sz="2800" dirty="0">
                <a:latin typeface="Source Sans 3" panose="020B0604020202020204" charset="0"/>
                <a:cs typeface="Source Sans 3" panose="020B0604020202020204" charset="0"/>
              </a:rPr>
              <a:t>After CLAHE, dual gamma correction adjusts brightness and contrast for both dark and bright regions, enhancing details across the entire image while suppressing noise.</a:t>
            </a:r>
          </a:p>
          <a:p>
            <a:pPr marL="342900" indent="-342900" algn="just">
              <a:lnSpc>
                <a:spcPct val="150000"/>
              </a:lnSpc>
              <a:buSzPct val="100000"/>
              <a:buChar char="•"/>
            </a:pPr>
            <a:endParaRPr lang="en-US" sz="2800" dirty="0">
              <a:latin typeface="Source Sans 3" panose="020B0604020202020204" charset="0"/>
              <a:cs typeface="Source Sans 3" panose="020B0604020202020204" charset="0"/>
            </a:endParaRPr>
          </a:p>
          <a:p>
            <a:pPr algn="just">
              <a:lnSpc>
                <a:spcPct val="150000"/>
              </a:lnSpc>
              <a:buSzPct val="100000"/>
            </a:pPr>
            <a:endParaRPr lang="en-US" sz="2800" dirty="0">
              <a:latin typeface="Source Sans 3" panose="020B0604020202020204" charset="0"/>
              <a:cs typeface="Source Sans 3" panose="020B0604020202020204" charset="0"/>
            </a:endParaRPr>
          </a:p>
          <a:p>
            <a:pPr marL="342900" indent="-342900" algn="just">
              <a:lnSpc>
                <a:spcPct val="150000"/>
              </a:lnSpc>
              <a:buSzPct val="100000"/>
              <a:buFont typeface="Wingdings" panose="05000000000000000000" pitchFamily="2" charset="2"/>
              <a:buChar char="Ø"/>
            </a:pPr>
            <a:r>
              <a:rPr lang="en-US" sz="2000" dirty="0">
                <a:latin typeface="Source Sans 3" panose="020B0604020202020204" charset="0"/>
                <a:cs typeface="Source Sans 3" panose="020B0604020202020204" charset="0"/>
              </a:rPr>
              <a:t>Ref: Y. Chang, C. Jung, P. </a:t>
            </a:r>
            <a:r>
              <a:rPr lang="en-US" sz="2000" dirty="0" err="1">
                <a:latin typeface="Source Sans 3" panose="020B0604020202020204" charset="0"/>
                <a:cs typeface="Source Sans 3" panose="020B0604020202020204" charset="0"/>
              </a:rPr>
              <a:t>Ke</a:t>
            </a:r>
            <a:r>
              <a:rPr lang="en-US" sz="2000" dirty="0">
                <a:latin typeface="Source Sans 3" panose="020B0604020202020204" charset="0"/>
                <a:cs typeface="Source Sans 3" panose="020B0604020202020204" charset="0"/>
              </a:rPr>
              <a:t>, H. Song, and J. Hwang, “Automatic Contrast-Limited Adaptive Histogram Equalization With Dual Gamma Correction,” IEEE Access, vol. 6, pp. 11782–11792, 2018.</a:t>
            </a:r>
            <a:endParaRPr lang="en-US" sz="2800" dirty="0">
              <a:latin typeface="Source Sans 3" panose="020B0604020202020204" charset="0"/>
              <a:cs typeface="Source Sans 3" panose="020B0604020202020204" charset="0"/>
            </a:endParaRPr>
          </a:p>
        </p:txBody>
      </p:sp>
      <p:sp>
        <p:nvSpPr>
          <p:cNvPr id="18" name="Text 7">
            <a:extLst>
              <a:ext uri="{FF2B5EF4-FFF2-40B4-BE49-F238E27FC236}">
                <a16:creationId xmlns:a16="http://schemas.microsoft.com/office/drawing/2014/main" id="{E50A9E45-ED2A-4DB4-BD10-1E6FA9BE018B}"/>
              </a:ext>
            </a:extLst>
          </p:cNvPr>
          <p:cNvSpPr/>
          <p:nvPr/>
        </p:nvSpPr>
        <p:spPr>
          <a:xfrm>
            <a:off x="1597527" y="6548525"/>
            <a:ext cx="13163431" cy="2466618"/>
          </a:xfrm>
          <a:prstGeom prst="rect">
            <a:avLst/>
          </a:prstGeom>
          <a:noFill/>
          <a:ln/>
        </p:spPr>
        <p:txBody>
          <a:bodyPr wrap="square" lIns="0" tIns="0" rIns="0" bIns="0" rtlCol="0" anchor="t"/>
          <a:lstStyle/>
          <a:p>
            <a:pPr marL="342900" indent="-342900" algn="l">
              <a:lnSpc>
                <a:spcPts val="2300"/>
              </a:lnSpc>
              <a:buSzPct val="100000"/>
              <a:buChar char="•"/>
            </a:pPr>
            <a:endParaRPr lang="en-US" sz="2800" dirty="0"/>
          </a:p>
        </p:txBody>
      </p:sp>
      <p:sp>
        <p:nvSpPr>
          <p:cNvPr id="19" name="Slide Number Placeholder 4">
            <a:extLst>
              <a:ext uri="{FF2B5EF4-FFF2-40B4-BE49-F238E27FC236}">
                <a16:creationId xmlns:a16="http://schemas.microsoft.com/office/drawing/2014/main" id="{1BDB1CA2-C6BB-40DC-8394-44AAD117C42E}"/>
              </a:ext>
            </a:extLst>
          </p:cNvPr>
          <p:cNvSpPr txBox="1">
            <a:spLocks/>
          </p:cNvSpPr>
          <p:nvPr/>
        </p:nvSpPr>
        <p:spPr>
          <a:xfrm>
            <a:off x="16256000" y="9706056"/>
            <a:ext cx="1460501" cy="411480"/>
          </a:xfrm>
          <a:prstGeom prst="rect">
            <a:avLst/>
          </a:prstGeom>
        </p:spPr>
        <p:txBody>
          <a:bodyPr vert="horz" lIns="91440" tIns="45720" rIns="91440" bIns="45720" rtlCol="0" anchor="ctr"/>
          <a:lstStyle>
            <a:defPPr>
              <a:defRPr lang="en-US"/>
            </a:defPPr>
            <a:lvl1pPr marL="0" algn="l" defTabSz="457200" rtl="0" eaLnBrk="1" latinLnBrk="0" hangingPunct="1">
              <a:defRPr sz="1500" kern="1200">
                <a:solidFill>
                  <a:schemeClr val="tx1">
                    <a:lumMod val="95000"/>
                    <a:lumOff val="5000"/>
                  </a:schemeClr>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6F15528-21DE-4FAA-801E-634DDDAF4B2B}" type="slidenum">
              <a:rPr lang="en-US" smtClean="0"/>
              <a:pPr/>
              <a:t>5</a:t>
            </a:fld>
            <a:endParaRPr lang="en-US"/>
          </a:p>
        </p:txBody>
      </p:sp>
      <p:pic>
        <p:nvPicPr>
          <p:cNvPr id="20" name="Picture 19">
            <a:extLst>
              <a:ext uri="{FF2B5EF4-FFF2-40B4-BE49-F238E27FC236}">
                <a16:creationId xmlns:a16="http://schemas.microsoft.com/office/drawing/2014/main" id="{97B3B533-6430-4151-84B1-8717EC99451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243189" y="174336"/>
            <a:ext cx="740449" cy="770067"/>
          </a:xfrm>
          <a:prstGeom prst="rect">
            <a:avLst/>
          </a:prstGeom>
        </p:spPr>
      </p:pic>
    </p:spTree>
    <p:extLst>
      <p:ext uri="{BB962C8B-B14F-4D97-AF65-F5344CB8AC3E}">
        <p14:creationId xmlns:p14="http://schemas.microsoft.com/office/powerpoint/2010/main" val="4053994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029BF01-982C-44CB-B512-7FDB70BAF7B4}"/>
              </a:ext>
            </a:extLst>
          </p:cNvPr>
          <p:cNvSpPr>
            <a:spLocks noGrp="1"/>
          </p:cNvSpPr>
          <p:nvPr>
            <p:ph type="sldNum" sz="quarter" idx="12"/>
          </p:nvPr>
        </p:nvSpPr>
        <p:spPr/>
        <p:txBody>
          <a:bodyPr/>
          <a:lstStyle/>
          <a:p>
            <a:fld id="{B6F15528-21DE-4FAA-801E-634DDDAF4B2B}" type="slidenum">
              <a:rPr lang="en-US" smtClean="0"/>
              <a:pPr/>
              <a:t>6</a:t>
            </a:fld>
            <a:endParaRPr lang="en-US" dirty="0"/>
          </a:p>
        </p:txBody>
      </p:sp>
      <p:sp>
        <p:nvSpPr>
          <p:cNvPr id="22" name="Slide Number Placeholder 1">
            <a:extLst>
              <a:ext uri="{FF2B5EF4-FFF2-40B4-BE49-F238E27FC236}">
                <a16:creationId xmlns:a16="http://schemas.microsoft.com/office/drawing/2014/main" id="{0BE35503-45A8-4223-8749-7B01DACC9612}"/>
              </a:ext>
            </a:extLst>
          </p:cNvPr>
          <p:cNvSpPr txBox="1">
            <a:spLocks/>
          </p:cNvSpPr>
          <p:nvPr/>
        </p:nvSpPr>
        <p:spPr>
          <a:xfrm>
            <a:off x="16256000" y="9706056"/>
            <a:ext cx="1460501" cy="411480"/>
          </a:xfrm>
          <a:prstGeom prst="rect">
            <a:avLst/>
          </a:prstGeom>
        </p:spPr>
        <p:txBody>
          <a:bodyPr vert="horz" lIns="91440" tIns="45720" rIns="91440" bIns="45720" rtlCol="0" anchor="ctr"/>
          <a:lstStyle>
            <a:defPPr>
              <a:defRPr lang="en-US"/>
            </a:defPPr>
            <a:lvl1pPr marL="0" algn="l" defTabSz="457200" rtl="0" eaLnBrk="1" latinLnBrk="0" hangingPunct="1">
              <a:defRPr sz="1500" kern="1200">
                <a:solidFill>
                  <a:schemeClr val="tx1">
                    <a:lumMod val="95000"/>
                    <a:lumOff val="5000"/>
                  </a:schemeClr>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6F15528-21DE-4FAA-801E-634DDDAF4B2B}" type="slidenum">
              <a:rPr lang="en-US" smtClean="0"/>
              <a:pPr/>
              <a:t>6</a:t>
            </a:fld>
            <a:endParaRPr lang="en-US" dirty="0"/>
          </a:p>
        </p:txBody>
      </p:sp>
      <p:sp>
        <p:nvSpPr>
          <p:cNvPr id="23" name="AutoShape 2">
            <a:extLst>
              <a:ext uri="{FF2B5EF4-FFF2-40B4-BE49-F238E27FC236}">
                <a16:creationId xmlns:a16="http://schemas.microsoft.com/office/drawing/2014/main" id="{7208E309-F598-4C6B-AEC2-7B28D0E17B41}"/>
              </a:ext>
            </a:extLst>
          </p:cNvPr>
          <p:cNvSpPr/>
          <p:nvPr/>
        </p:nvSpPr>
        <p:spPr>
          <a:xfrm>
            <a:off x="3921952" y="9412374"/>
            <a:ext cx="13064298" cy="0"/>
          </a:xfrm>
          <a:prstGeom prst="line">
            <a:avLst/>
          </a:prstGeom>
          <a:ln w="19050" cap="flat">
            <a:solidFill>
              <a:srgbClr val="48276D"/>
            </a:solidFill>
            <a:prstDash val="solid"/>
            <a:headEnd type="none" w="sm" len="sm"/>
            <a:tailEnd type="none" w="sm" len="sm"/>
          </a:ln>
        </p:spPr>
      </p:sp>
      <p:sp>
        <p:nvSpPr>
          <p:cNvPr id="24" name="Freeform 3">
            <a:extLst>
              <a:ext uri="{FF2B5EF4-FFF2-40B4-BE49-F238E27FC236}">
                <a16:creationId xmlns:a16="http://schemas.microsoft.com/office/drawing/2014/main" id="{8DD4B154-EE40-4947-AFAA-C449AD3E66F7}"/>
              </a:ext>
            </a:extLst>
          </p:cNvPr>
          <p:cNvSpPr/>
          <p:nvPr/>
        </p:nvSpPr>
        <p:spPr>
          <a:xfrm>
            <a:off x="15498007" y="7962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35000"/>
              <a:extLst>
                <a:ext uri="{96DAC541-7B7A-43D3-8B79-37D633B846F1}">
                  <asvg:svgBlip xmlns:asvg="http://schemas.microsoft.com/office/drawing/2016/SVG/main" r:embed="rId3"/>
                </a:ext>
              </a:extLst>
            </a:blip>
            <a:stretch>
              <a:fillRect/>
            </a:stretch>
          </a:blipFill>
        </p:spPr>
      </p:sp>
      <p:sp>
        <p:nvSpPr>
          <p:cNvPr id="25" name="AutoShape 4">
            <a:extLst>
              <a:ext uri="{FF2B5EF4-FFF2-40B4-BE49-F238E27FC236}">
                <a16:creationId xmlns:a16="http://schemas.microsoft.com/office/drawing/2014/main" id="{293140DD-80B7-481E-B4C3-7463DED1C71B}"/>
              </a:ext>
            </a:extLst>
          </p:cNvPr>
          <p:cNvSpPr/>
          <p:nvPr/>
        </p:nvSpPr>
        <p:spPr>
          <a:xfrm flipV="1">
            <a:off x="1028700" y="1047750"/>
            <a:ext cx="16230600" cy="0"/>
          </a:xfrm>
          <a:prstGeom prst="line">
            <a:avLst/>
          </a:prstGeom>
          <a:ln w="19050" cap="flat">
            <a:solidFill>
              <a:srgbClr val="48276D"/>
            </a:solidFill>
            <a:prstDash val="solid"/>
            <a:headEnd type="none" w="sm" len="sm"/>
            <a:tailEnd type="none" w="sm" len="sm"/>
          </a:ln>
        </p:spPr>
      </p:sp>
      <p:grpSp>
        <p:nvGrpSpPr>
          <p:cNvPr id="26" name="Group 25">
            <a:extLst>
              <a:ext uri="{FF2B5EF4-FFF2-40B4-BE49-F238E27FC236}">
                <a16:creationId xmlns:a16="http://schemas.microsoft.com/office/drawing/2014/main" id="{0BF07695-0DD4-48BA-B07C-512A4BAE3BCF}"/>
              </a:ext>
            </a:extLst>
          </p:cNvPr>
          <p:cNvGrpSpPr/>
          <p:nvPr/>
        </p:nvGrpSpPr>
        <p:grpSpPr>
          <a:xfrm>
            <a:off x="17243189" y="2833442"/>
            <a:ext cx="1044811" cy="5724034"/>
            <a:chOff x="0" y="0"/>
            <a:chExt cx="275176" cy="1507565"/>
          </a:xfrm>
        </p:grpSpPr>
        <p:sp>
          <p:nvSpPr>
            <p:cNvPr id="27" name="Freeform 7">
              <a:extLst>
                <a:ext uri="{FF2B5EF4-FFF2-40B4-BE49-F238E27FC236}">
                  <a16:creationId xmlns:a16="http://schemas.microsoft.com/office/drawing/2014/main" id="{E2A14DA6-D037-42F5-BCE0-2810EBEA4F80}"/>
                </a:ext>
              </a:extLst>
            </p:cNvPr>
            <p:cNvSpPr/>
            <p:nvPr/>
          </p:nvSpPr>
          <p:spPr>
            <a:xfrm>
              <a:off x="0" y="0"/>
              <a:ext cx="275176" cy="1507565"/>
            </a:xfrm>
            <a:custGeom>
              <a:avLst/>
              <a:gdLst/>
              <a:ahLst/>
              <a:cxnLst/>
              <a:rect l="l" t="t" r="r" b="b"/>
              <a:pathLst>
                <a:path w="275176" h="1507565">
                  <a:moveTo>
                    <a:pt x="0" y="0"/>
                  </a:moveTo>
                  <a:lnTo>
                    <a:pt x="275176" y="0"/>
                  </a:lnTo>
                  <a:lnTo>
                    <a:pt x="275176" y="1507565"/>
                  </a:lnTo>
                  <a:lnTo>
                    <a:pt x="0" y="1507565"/>
                  </a:lnTo>
                  <a:close/>
                </a:path>
              </a:pathLst>
            </a:custGeom>
            <a:gradFill rotWithShape="1">
              <a:gsLst>
                <a:gs pos="0">
                  <a:srgbClr val="9374B3">
                    <a:alpha val="100000"/>
                  </a:srgbClr>
                </a:gs>
                <a:gs pos="50000">
                  <a:srgbClr val="7161A6">
                    <a:alpha val="100000"/>
                  </a:srgbClr>
                </a:gs>
                <a:gs pos="100000">
                  <a:srgbClr val="4A4D9C">
                    <a:alpha val="100000"/>
                  </a:srgbClr>
                </a:gs>
              </a:gsLst>
              <a:lin ang="0"/>
            </a:gradFill>
          </p:spPr>
        </p:sp>
        <p:sp>
          <p:nvSpPr>
            <p:cNvPr id="28" name="TextBox 27">
              <a:extLst>
                <a:ext uri="{FF2B5EF4-FFF2-40B4-BE49-F238E27FC236}">
                  <a16:creationId xmlns:a16="http://schemas.microsoft.com/office/drawing/2014/main" id="{15C94F4C-2C4E-41A0-B450-C50AA8402D5A}"/>
                </a:ext>
              </a:extLst>
            </p:cNvPr>
            <p:cNvSpPr txBox="1"/>
            <p:nvPr/>
          </p:nvSpPr>
          <p:spPr>
            <a:xfrm>
              <a:off x="0" y="-38100"/>
              <a:ext cx="275176" cy="1545665"/>
            </a:xfrm>
            <a:prstGeom prst="rect">
              <a:avLst/>
            </a:prstGeom>
          </p:spPr>
          <p:txBody>
            <a:bodyPr lIns="50800" tIns="50800" rIns="50800" bIns="50800" rtlCol="0" anchor="ctr"/>
            <a:lstStyle/>
            <a:p>
              <a:pPr algn="ctr">
                <a:lnSpc>
                  <a:spcPts val="2659"/>
                </a:lnSpc>
                <a:spcBef>
                  <a:spcPct val="0"/>
                </a:spcBef>
              </a:pPr>
              <a:endParaRPr dirty="0"/>
            </a:p>
          </p:txBody>
        </p:sp>
      </p:grpSp>
      <p:sp>
        <p:nvSpPr>
          <p:cNvPr id="29" name="Freeform 9">
            <a:extLst>
              <a:ext uri="{FF2B5EF4-FFF2-40B4-BE49-F238E27FC236}">
                <a16:creationId xmlns:a16="http://schemas.microsoft.com/office/drawing/2014/main" id="{6C840273-D085-447C-A41A-39ADC4F5FBED}"/>
              </a:ext>
            </a:extLst>
          </p:cNvPr>
          <p:cNvSpPr/>
          <p:nvPr/>
        </p:nvSpPr>
        <p:spPr>
          <a:xfrm rot="-5400000">
            <a:off x="17461217" y="3939708"/>
            <a:ext cx="711163" cy="177791"/>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0" name="AutoShape 10">
            <a:extLst>
              <a:ext uri="{FF2B5EF4-FFF2-40B4-BE49-F238E27FC236}">
                <a16:creationId xmlns:a16="http://schemas.microsoft.com/office/drawing/2014/main" id="{04BABE67-020C-4850-AB79-70C604ACEC41}"/>
              </a:ext>
            </a:extLst>
          </p:cNvPr>
          <p:cNvSpPr/>
          <p:nvPr/>
        </p:nvSpPr>
        <p:spPr>
          <a:xfrm flipV="1">
            <a:off x="17807273" y="4933828"/>
            <a:ext cx="0" cy="1044644"/>
          </a:xfrm>
          <a:prstGeom prst="line">
            <a:avLst/>
          </a:prstGeom>
          <a:ln w="19050" cap="flat">
            <a:solidFill>
              <a:srgbClr val="FFFFFF"/>
            </a:solidFill>
            <a:prstDash val="solid"/>
            <a:headEnd type="none" w="sm" len="sm"/>
            <a:tailEnd type="none" w="sm" len="sm"/>
          </a:ln>
        </p:spPr>
      </p:sp>
      <p:sp>
        <p:nvSpPr>
          <p:cNvPr id="31" name="Freeform 11">
            <a:extLst>
              <a:ext uri="{FF2B5EF4-FFF2-40B4-BE49-F238E27FC236}">
                <a16:creationId xmlns:a16="http://schemas.microsoft.com/office/drawing/2014/main" id="{68E60DE5-B703-43CD-88E7-854444D7B6A1}"/>
              </a:ext>
            </a:extLst>
          </p:cNvPr>
          <p:cNvSpPr/>
          <p:nvPr/>
        </p:nvSpPr>
        <p:spPr>
          <a:xfrm rot="-5400000">
            <a:off x="17461217" y="6862572"/>
            <a:ext cx="711163" cy="177791"/>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2" name="TextBox 13">
            <a:extLst>
              <a:ext uri="{FF2B5EF4-FFF2-40B4-BE49-F238E27FC236}">
                <a16:creationId xmlns:a16="http://schemas.microsoft.com/office/drawing/2014/main" id="{60F5CD15-A8B2-4B57-8BE9-D7BDF7174575}"/>
              </a:ext>
            </a:extLst>
          </p:cNvPr>
          <p:cNvSpPr txBox="1"/>
          <p:nvPr/>
        </p:nvSpPr>
        <p:spPr>
          <a:xfrm>
            <a:off x="1103632" y="592747"/>
            <a:ext cx="2224931" cy="371897"/>
          </a:xfrm>
          <a:prstGeom prst="rect">
            <a:avLst/>
          </a:prstGeom>
        </p:spPr>
        <p:txBody>
          <a:bodyPr lIns="0" tIns="0" rIns="0" bIns="0" rtlCol="0" anchor="t">
            <a:spAutoFit/>
          </a:bodyPr>
          <a:lstStyle/>
          <a:p>
            <a:pPr algn="l">
              <a:lnSpc>
                <a:spcPts val="2939"/>
              </a:lnSpc>
            </a:pPr>
            <a:r>
              <a:rPr lang="en-US" sz="2099" dirty="0">
                <a:solidFill>
                  <a:srgbClr val="69498D"/>
                </a:solidFill>
                <a:latin typeface="Roboto"/>
                <a:ea typeface="Roboto"/>
                <a:cs typeface="Roboto"/>
                <a:sym typeface="Roboto"/>
              </a:rPr>
              <a:t>R20 Regulations</a:t>
            </a:r>
          </a:p>
        </p:txBody>
      </p:sp>
      <p:sp>
        <p:nvSpPr>
          <p:cNvPr id="33" name="TextBox 14">
            <a:extLst>
              <a:ext uri="{FF2B5EF4-FFF2-40B4-BE49-F238E27FC236}">
                <a16:creationId xmlns:a16="http://schemas.microsoft.com/office/drawing/2014/main" id="{88F2DA8A-FB11-4C6A-B62B-B7ACA2FF742C}"/>
              </a:ext>
            </a:extLst>
          </p:cNvPr>
          <p:cNvSpPr txBox="1"/>
          <p:nvPr/>
        </p:nvSpPr>
        <p:spPr>
          <a:xfrm>
            <a:off x="8137006" y="662940"/>
            <a:ext cx="2026105" cy="371897"/>
          </a:xfrm>
          <a:prstGeom prst="rect">
            <a:avLst/>
          </a:prstGeom>
        </p:spPr>
        <p:txBody>
          <a:bodyPr lIns="0" tIns="0" rIns="0" bIns="0" rtlCol="0" anchor="t">
            <a:spAutoFit/>
          </a:bodyPr>
          <a:lstStyle/>
          <a:p>
            <a:pPr algn="ctr">
              <a:lnSpc>
                <a:spcPts val="2939"/>
              </a:lnSpc>
            </a:pPr>
            <a:r>
              <a:rPr lang="en-US" sz="2099" dirty="0">
                <a:solidFill>
                  <a:srgbClr val="69498D"/>
                </a:solidFill>
                <a:latin typeface="Roboto"/>
                <a:ea typeface="Roboto"/>
                <a:cs typeface="Roboto"/>
                <a:sym typeface="Roboto"/>
              </a:rPr>
              <a:t>IV B. Tech ECE</a:t>
            </a:r>
          </a:p>
        </p:txBody>
      </p:sp>
      <p:sp>
        <p:nvSpPr>
          <p:cNvPr id="34" name="TextBox 15">
            <a:extLst>
              <a:ext uri="{FF2B5EF4-FFF2-40B4-BE49-F238E27FC236}">
                <a16:creationId xmlns:a16="http://schemas.microsoft.com/office/drawing/2014/main" id="{7C7337A9-6B02-480E-A312-A5B18C4D68EF}"/>
              </a:ext>
            </a:extLst>
          </p:cNvPr>
          <p:cNvSpPr txBox="1"/>
          <p:nvPr/>
        </p:nvSpPr>
        <p:spPr>
          <a:xfrm>
            <a:off x="13151090" y="701472"/>
            <a:ext cx="3903301" cy="737235"/>
          </a:xfrm>
          <a:prstGeom prst="rect">
            <a:avLst/>
          </a:prstGeom>
        </p:spPr>
        <p:txBody>
          <a:bodyPr lIns="0" tIns="0" rIns="0" bIns="0" rtlCol="0" anchor="t">
            <a:spAutoFit/>
          </a:bodyPr>
          <a:lstStyle/>
          <a:p>
            <a:pPr algn="l">
              <a:lnSpc>
                <a:spcPts val="2939"/>
              </a:lnSpc>
            </a:pPr>
            <a:r>
              <a:rPr lang="en-US" sz="2099" dirty="0">
                <a:solidFill>
                  <a:srgbClr val="69498D"/>
                </a:solidFill>
                <a:latin typeface="Roboto"/>
                <a:ea typeface="Roboto"/>
                <a:cs typeface="Roboto"/>
                <a:sym typeface="Roboto"/>
              </a:rPr>
              <a:t>Ac. Year : 2025-26/ Semester -II</a:t>
            </a:r>
          </a:p>
          <a:p>
            <a:pPr algn="l">
              <a:lnSpc>
                <a:spcPts val="2939"/>
              </a:lnSpc>
            </a:pPr>
            <a:endParaRPr lang="en-US" sz="2099" dirty="0">
              <a:solidFill>
                <a:srgbClr val="69498D"/>
              </a:solidFill>
              <a:latin typeface="Roboto"/>
              <a:ea typeface="Roboto"/>
              <a:cs typeface="Roboto"/>
              <a:sym typeface="Roboto"/>
            </a:endParaRPr>
          </a:p>
        </p:txBody>
      </p:sp>
      <p:sp>
        <p:nvSpPr>
          <p:cNvPr id="35" name="TextBox 16">
            <a:extLst>
              <a:ext uri="{FF2B5EF4-FFF2-40B4-BE49-F238E27FC236}">
                <a16:creationId xmlns:a16="http://schemas.microsoft.com/office/drawing/2014/main" id="{1CFC4D80-9CF3-4EAA-BF09-D361783B2093}"/>
              </a:ext>
            </a:extLst>
          </p:cNvPr>
          <p:cNvSpPr txBox="1"/>
          <p:nvPr/>
        </p:nvSpPr>
        <p:spPr>
          <a:xfrm>
            <a:off x="1573578" y="9239250"/>
            <a:ext cx="3903301" cy="346249"/>
          </a:xfrm>
          <a:prstGeom prst="rect">
            <a:avLst/>
          </a:prstGeom>
        </p:spPr>
        <p:txBody>
          <a:bodyPr lIns="0" tIns="0" rIns="0" bIns="0" rtlCol="0" anchor="t">
            <a:spAutoFit/>
          </a:bodyPr>
          <a:lstStyle/>
          <a:p>
            <a:pPr>
              <a:lnSpc>
                <a:spcPts val="2939"/>
              </a:lnSpc>
            </a:pPr>
            <a:r>
              <a:rPr lang="en-US" sz="2099" dirty="0">
                <a:solidFill>
                  <a:srgbClr val="69498D"/>
                </a:solidFill>
                <a:latin typeface="Roboto"/>
                <a:ea typeface="Roboto"/>
                <a:cs typeface="Roboto"/>
                <a:sym typeface="Roboto"/>
              </a:rPr>
              <a:t>Final Review</a:t>
            </a:r>
          </a:p>
        </p:txBody>
      </p:sp>
      <p:sp>
        <p:nvSpPr>
          <p:cNvPr id="36" name="Text 2">
            <a:extLst>
              <a:ext uri="{FF2B5EF4-FFF2-40B4-BE49-F238E27FC236}">
                <a16:creationId xmlns:a16="http://schemas.microsoft.com/office/drawing/2014/main" id="{A86CDF1A-F087-4572-85C5-EFE0F9D5333C}"/>
              </a:ext>
            </a:extLst>
          </p:cNvPr>
          <p:cNvSpPr/>
          <p:nvPr/>
        </p:nvSpPr>
        <p:spPr>
          <a:xfrm>
            <a:off x="1233609" y="1028699"/>
            <a:ext cx="7645837" cy="562808"/>
          </a:xfrm>
          <a:prstGeom prst="rect">
            <a:avLst/>
          </a:prstGeom>
          <a:noFill/>
          <a:ln/>
        </p:spPr>
        <p:txBody>
          <a:bodyPr wrap="none" lIns="0" tIns="0" rIns="0" bIns="0" rtlCol="0" anchor="t"/>
          <a:lstStyle/>
          <a:p>
            <a:pPr marL="0" indent="0" algn="l">
              <a:lnSpc>
                <a:spcPts val="4400"/>
              </a:lnSpc>
              <a:buNone/>
            </a:pPr>
            <a:r>
              <a:rPr lang="en-US" sz="3500" b="1" dirty="0">
                <a:solidFill>
                  <a:srgbClr val="000000"/>
                </a:solidFill>
                <a:latin typeface="Montserrat Bold" pitchFamily="34" charset="0"/>
              </a:rPr>
              <a:t>Comparison of Literature surveys</a:t>
            </a:r>
            <a:endParaRPr lang="en-US" sz="3500" dirty="0"/>
          </a:p>
        </p:txBody>
      </p:sp>
      <p:sp>
        <p:nvSpPr>
          <p:cNvPr id="37" name="Text 6">
            <a:extLst>
              <a:ext uri="{FF2B5EF4-FFF2-40B4-BE49-F238E27FC236}">
                <a16:creationId xmlns:a16="http://schemas.microsoft.com/office/drawing/2014/main" id="{65628F55-61A8-48D8-89F8-CDCABCF6E4C4}"/>
              </a:ext>
            </a:extLst>
          </p:cNvPr>
          <p:cNvSpPr/>
          <p:nvPr/>
        </p:nvSpPr>
        <p:spPr>
          <a:xfrm>
            <a:off x="1447800" y="3356796"/>
            <a:ext cx="13163431" cy="2466618"/>
          </a:xfrm>
          <a:prstGeom prst="rect">
            <a:avLst/>
          </a:prstGeom>
          <a:noFill/>
          <a:ln/>
        </p:spPr>
        <p:txBody>
          <a:bodyPr wrap="square" lIns="0" tIns="0" rIns="0" bIns="0" rtlCol="0" anchor="t"/>
          <a:lstStyle/>
          <a:p>
            <a:pPr marL="342900" indent="-342900" algn="l">
              <a:lnSpc>
                <a:spcPts val="2300"/>
              </a:lnSpc>
              <a:buSzPct val="100000"/>
              <a:buChar char="•"/>
            </a:pPr>
            <a:endParaRPr lang="en-US" sz="2800" dirty="0"/>
          </a:p>
        </p:txBody>
      </p:sp>
      <p:pic>
        <p:nvPicPr>
          <p:cNvPr id="40" name="Picture 39">
            <a:extLst>
              <a:ext uri="{FF2B5EF4-FFF2-40B4-BE49-F238E27FC236}">
                <a16:creationId xmlns:a16="http://schemas.microsoft.com/office/drawing/2014/main" id="{09E0B0DD-C8C5-4834-AD35-7D30C0F46B9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243189" y="174336"/>
            <a:ext cx="740449" cy="770067"/>
          </a:xfrm>
          <a:prstGeom prst="rect">
            <a:avLst/>
          </a:prstGeom>
        </p:spPr>
      </p:pic>
      <p:graphicFrame>
        <p:nvGraphicFramePr>
          <p:cNvPr id="3" name="Table 3">
            <a:extLst>
              <a:ext uri="{FF2B5EF4-FFF2-40B4-BE49-F238E27FC236}">
                <a16:creationId xmlns:a16="http://schemas.microsoft.com/office/drawing/2014/main" id="{41198674-1572-4BF0-9F87-6D6EE67D4DA7}"/>
              </a:ext>
            </a:extLst>
          </p:cNvPr>
          <p:cNvGraphicFramePr>
            <a:graphicFrameLocks noGrp="1"/>
          </p:cNvGraphicFramePr>
          <p:nvPr>
            <p:extLst>
              <p:ext uri="{D42A27DB-BD31-4B8C-83A1-F6EECF244321}">
                <p14:modId xmlns:p14="http://schemas.microsoft.com/office/powerpoint/2010/main" val="2989296439"/>
              </p:ext>
            </p:extLst>
          </p:nvPr>
        </p:nvGraphicFramePr>
        <p:xfrm>
          <a:off x="1579673" y="1897430"/>
          <a:ext cx="14357163" cy="6660042"/>
        </p:xfrm>
        <a:graphic>
          <a:graphicData uri="http://schemas.openxmlformats.org/drawingml/2006/table">
            <a:tbl>
              <a:tblPr firstRow="1" bandRow="1">
                <a:tableStyleId>{5C22544A-7EE6-4342-B048-85BDC9FD1C3A}</a:tableStyleId>
              </a:tblPr>
              <a:tblGrid>
                <a:gridCol w="1343343">
                  <a:extLst>
                    <a:ext uri="{9D8B030D-6E8A-4147-A177-3AD203B41FA5}">
                      <a16:colId xmlns:a16="http://schemas.microsoft.com/office/drawing/2014/main" val="3384965590"/>
                    </a:ext>
                  </a:extLst>
                </a:gridCol>
                <a:gridCol w="2168970">
                  <a:extLst>
                    <a:ext uri="{9D8B030D-6E8A-4147-A177-3AD203B41FA5}">
                      <a16:colId xmlns:a16="http://schemas.microsoft.com/office/drawing/2014/main" val="1848335279"/>
                    </a:ext>
                  </a:extLst>
                </a:gridCol>
                <a:gridCol w="2168970">
                  <a:extLst>
                    <a:ext uri="{9D8B030D-6E8A-4147-A177-3AD203B41FA5}">
                      <a16:colId xmlns:a16="http://schemas.microsoft.com/office/drawing/2014/main" val="4097513449"/>
                    </a:ext>
                  </a:extLst>
                </a:gridCol>
                <a:gridCol w="2168970">
                  <a:extLst>
                    <a:ext uri="{9D8B030D-6E8A-4147-A177-3AD203B41FA5}">
                      <a16:colId xmlns:a16="http://schemas.microsoft.com/office/drawing/2014/main" val="3419503854"/>
                    </a:ext>
                  </a:extLst>
                </a:gridCol>
                <a:gridCol w="2168970">
                  <a:extLst>
                    <a:ext uri="{9D8B030D-6E8A-4147-A177-3AD203B41FA5}">
                      <a16:colId xmlns:a16="http://schemas.microsoft.com/office/drawing/2014/main" val="3388454799"/>
                    </a:ext>
                  </a:extLst>
                </a:gridCol>
                <a:gridCol w="2168970">
                  <a:extLst>
                    <a:ext uri="{9D8B030D-6E8A-4147-A177-3AD203B41FA5}">
                      <a16:colId xmlns:a16="http://schemas.microsoft.com/office/drawing/2014/main" val="2865102031"/>
                    </a:ext>
                  </a:extLst>
                </a:gridCol>
                <a:gridCol w="2168970">
                  <a:extLst>
                    <a:ext uri="{9D8B030D-6E8A-4147-A177-3AD203B41FA5}">
                      <a16:colId xmlns:a16="http://schemas.microsoft.com/office/drawing/2014/main" val="2378577999"/>
                    </a:ext>
                  </a:extLst>
                </a:gridCol>
              </a:tblGrid>
              <a:tr h="979418">
                <a:tc>
                  <a:txBody>
                    <a:bodyPr/>
                    <a:lstStyle/>
                    <a:p>
                      <a:r>
                        <a:rPr lang="en-US" dirty="0"/>
                        <a:t>Ref No.</a:t>
                      </a:r>
                    </a:p>
                  </a:txBody>
                  <a:tcPr anchor="ctr"/>
                </a:tc>
                <a:tc>
                  <a:txBody>
                    <a:bodyPr/>
                    <a:lstStyle/>
                    <a:p>
                      <a:r>
                        <a:rPr lang="en-US" dirty="0"/>
                        <a:t>Year</a:t>
                      </a:r>
                    </a:p>
                  </a:txBody>
                  <a:tcPr anchor="ctr"/>
                </a:tc>
                <a:tc>
                  <a:txBody>
                    <a:bodyPr/>
                    <a:lstStyle/>
                    <a:p>
                      <a:r>
                        <a:rPr lang="en-US" dirty="0"/>
                        <a:t>Technique / Model</a:t>
                      </a:r>
                    </a:p>
                  </a:txBody>
                  <a:tcPr anchor="ctr"/>
                </a:tc>
                <a:tc>
                  <a:txBody>
                    <a:bodyPr/>
                    <a:lstStyle/>
                    <a:p>
                      <a:r>
                        <a:rPr lang="en-US" dirty="0"/>
                        <a:t>PSNR (dB)</a:t>
                      </a:r>
                    </a:p>
                  </a:txBody>
                  <a:tcPr anchor="ctr"/>
                </a:tc>
                <a:tc>
                  <a:txBody>
                    <a:bodyPr/>
                    <a:lstStyle/>
                    <a:p>
                      <a:r>
                        <a:rPr lang="en-US" dirty="0"/>
                        <a:t>SSIM</a:t>
                      </a:r>
                    </a:p>
                  </a:txBody>
                  <a:tcPr anchor="ctr"/>
                </a:tc>
                <a:tc>
                  <a:txBody>
                    <a:bodyPr/>
                    <a:lstStyle/>
                    <a:p>
                      <a:r>
                        <a:rPr lang="en-US" dirty="0"/>
                        <a:t>Entropy</a:t>
                      </a:r>
                    </a:p>
                  </a:txBody>
                  <a:tcPr anchor="ctr"/>
                </a:tc>
                <a:tc>
                  <a:txBody>
                    <a:bodyPr/>
                    <a:lstStyle/>
                    <a:p>
                      <a:r>
                        <a:rPr lang="en-US" dirty="0"/>
                        <a:t>Accuracy / Quality</a:t>
                      </a:r>
                    </a:p>
                  </a:txBody>
                  <a:tcPr anchor="ctr"/>
                </a:tc>
                <a:extLst>
                  <a:ext uri="{0D108BD9-81ED-4DB2-BD59-A6C34878D82A}">
                    <a16:rowId xmlns:a16="http://schemas.microsoft.com/office/drawing/2014/main" val="525658671"/>
                  </a:ext>
                </a:extLst>
              </a:tr>
              <a:tr h="1420156">
                <a:tc>
                  <a:txBody>
                    <a:bodyPr/>
                    <a:lstStyle/>
                    <a:p>
                      <a:r>
                        <a:rPr lang="en-US" b="1" dirty="0"/>
                        <a:t>[1]</a:t>
                      </a:r>
                      <a:endParaRPr lang="en-US" dirty="0"/>
                    </a:p>
                  </a:txBody>
                  <a:tcPr anchor="ctr"/>
                </a:tc>
                <a:tc>
                  <a:txBody>
                    <a:bodyPr/>
                    <a:lstStyle/>
                    <a:p>
                      <a:r>
                        <a:rPr lang="en-US"/>
                        <a:t>2024</a:t>
                      </a:r>
                    </a:p>
                  </a:txBody>
                  <a:tcPr anchor="ctr"/>
                </a:tc>
                <a:tc>
                  <a:txBody>
                    <a:bodyPr/>
                    <a:lstStyle/>
                    <a:p>
                      <a:r>
                        <a:rPr lang="en-US" b="1"/>
                        <a:t>DCP-Face (Dark Channel)</a:t>
                      </a:r>
                      <a:endParaRPr lang="en-US"/>
                    </a:p>
                  </a:txBody>
                  <a:tcPr anchor="ctr"/>
                </a:tc>
                <a:tc>
                  <a:txBody>
                    <a:bodyPr/>
                    <a:lstStyle/>
                    <a:p>
                      <a:r>
                        <a:rPr lang="en-US"/>
                        <a:t>18.45</a:t>
                      </a:r>
                    </a:p>
                  </a:txBody>
                  <a:tcPr anchor="ctr"/>
                </a:tc>
                <a:tc>
                  <a:txBody>
                    <a:bodyPr/>
                    <a:lstStyle/>
                    <a:p>
                      <a:r>
                        <a:rPr lang="en-US"/>
                        <a:t>0.78</a:t>
                      </a:r>
                    </a:p>
                  </a:txBody>
                  <a:tcPr anchor="ctr"/>
                </a:tc>
                <a:tc>
                  <a:txBody>
                    <a:bodyPr/>
                    <a:lstStyle/>
                    <a:p>
                      <a:r>
                        <a:rPr lang="en-US"/>
                        <a:t>7.12</a:t>
                      </a:r>
                    </a:p>
                  </a:txBody>
                  <a:tcPr anchor="ctr"/>
                </a:tc>
                <a:tc>
                  <a:txBody>
                    <a:bodyPr/>
                    <a:lstStyle/>
                    <a:p>
                      <a:r>
                        <a:rPr lang="en-US"/>
                        <a:t>High (Human/Skin focus)</a:t>
                      </a:r>
                    </a:p>
                  </a:txBody>
                  <a:tcPr anchor="ctr"/>
                </a:tc>
                <a:extLst>
                  <a:ext uri="{0D108BD9-81ED-4DB2-BD59-A6C34878D82A}">
                    <a16:rowId xmlns:a16="http://schemas.microsoft.com/office/drawing/2014/main" val="2223951765"/>
                  </a:ext>
                </a:extLst>
              </a:tr>
              <a:tr h="1420156">
                <a:tc>
                  <a:txBody>
                    <a:bodyPr/>
                    <a:lstStyle/>
                    <a:p>
                      <a:r>
                        <a:rPr lang="en-US" b="1" dirty="0"/>
                        <a:t>[2]</a:t>
                      </a:r>
                      <a:endParaRPr lang="en-US" dirty="0"/>
                    </a:p>
                  </a:txBody>
                  <a:tcPr anchor="ctr"/>
                </a:tc>
                <a:tc>
                  <a:txBody>
                    <a:bodyPr/>
                    <a:lstStyle/>
                    <a:p>
                      <a:r>
                        <a:rPr lang="en-US"/>
                        <a:t>2022</a:t>
                      </a:r>
                    </a:p>
                  </a:txBody>
                  <a:tcPr anchor="ctr"/>
                </a:tc>
                <a:tc>
                  <a:txBody>
                    <a:bodyPr/>
                    <a:lstStyle/>
                    <a:p>
                      <a:r>
                        <a:rPr lang="en-US" b="1"/>
                        <a:t>RUAS (Retinex + Attention)</a:t>
                      </a:r>
                      <a:endParaRPr lang="en-US"/>
                    </a:p>
                  </a:txBody>
                  <a:tcPr anchor="ctr"/>
                </a:tc>
                <a:tc>
                  <a:txBody>
                    <a:bodyPr/>
                    <a:lstStyle/>
                    <a:p>
                      <a:r>
                        <a:rPr lang="en-US"/>
                        <a:t>18.23</a:t>
                      </a:r>
                    </a:p>
                  </a:txBody>
                  <a:tcPr anchor="ctr"/>
                </a:tc>
                <a:tc>
                  <a:txBody>
                    <a:bodyPr/>
                    <a:lstStyle/>
                    <a:p>
                      <a:r>
                        <a:rPr lang="en-US"/>
                        <a:t>0.72</a:t>
                      </a:r>
                    </a:p>
                  </a:txBody>
                  <a:tcPr anchor="ctr"/>
                </a:tc>
                <a:tc>
                  <a:txBody>
                    <a:bodyPr/>
                    <a:lstStyle/>
                    <a:p>
                      <a:r>
                        <a:rPr lang="en-US"/>
                        <a:t>7.45</a:t>
                      </a:r>
                    </a:p>
                  </a:txBody>
                  <a:tcPr anchor="ctr"/>
                </a:tc>
                <a:tc>
                  <a:txBody>
                    <a:bodyPr/>
                    <a:lstStyle/>
                    <a:p>
                      <a:r>
                        <a:rPr lang="en-US"/>
                        <a:t>Moderate (Focuses on structures)</a:t>
                      </a:r>
                    </a:p>
                  </a:txBody>
                  <a:tcPr anchor="ctr"/>
                </a:tc>
                <a:extLst>
                  <a:ext uri="{0D108BD9-81ED-4DB2-BD59-A6C34878D82A}">
                    <a16:rowId xmlns:a16="http://schemas.microsoft.com/office/drawing/2014/main" val="2128503172"/>
                  </a:ext>
                </a:extLst>
              </a:tr>
              <a:tr h="1420156">
                <a:tc>
                  <a:txBody>
                    <a:bodyPr/>
                    <a:lstStyle/>
                    <a:p>
                      <a:r>
                        <a:rPr lang="en-US" b="1" dirty="0"/>
                        <a:t>[3]</a:t>
                      </a:r>
                      <a:endParaRPr lang="en-US" dirty="0"/>
                    </a:p>
                  </a:txBody>
                  <a:tcPr anchor="ctr"/>
                </a:tc>
                <a:tc>
                  <a:txBody>
                    <a:bodyPr/>
                    <a:lstStyle/>
                    <a:p>
                      <a:r>
                        <a:rPr lang="en-US"/>
                        <a:t>2023</a:t>
                      </a:r>
                    </a:p>
                  </a:txBody>
                  <a:tcPr anchor="ctr"/>
                </a:tc>
                <a:tc>
                  <a:txBody>
                    <a:bodyPr/>
                    <a:lstStyle/>
                    <a:p>
                      <a:r>
                        <a:rPr lang="en-US" b="1" dirty="0"/>
                        <a:t>Dual Aggregation</a:t>
                      </a:r>
                      <a:endParaRPr lang="en-US" dirty="0"/>
                    </a:p>
                  </a:txBody>
                  <a:tcPr anchor="ctr"/>
                </a:tc>
                <a:tc>
                  <a:txBody>
                    <a:bodyPr/>
                    <a:lstStyle/>
                    <a:p>
                      <a:r>
                        <a:rPr lang="en-US" dirty="0"/>
                        <a:t>23.50</a:t>
                      </a:r>
                    </a:p>
                  </a:txBody>
                  <a:tcPr anchor="ctr"/>
                </a:tc>
                <a:tc>
                  <a:txBody>
                    <a:bodyPr/>
                    <a:lstStyle/>
                    <a:p>
                      <a:r>
                        <a:rPr lang="en-US"/>
                        <a:t>0.82</a:t>
                      </a:r>
                    </a:p>
                  </a:txBody>
                  <a:tcPr anchor="ctr"/>
                </a:tc>
                <a:tc>
                  <a:txBody>
                    <a:bodyPr/>
                    <a:lstStyle/>
                    <a:p>
                      <a:r>
                        <a:rPr lang="en-US" dirty="0"/>
                        <a:t>7.85</a:t>
                      </a:r>
                    </a:p>
                  </a:txBody>
                  <a:tcPr anchor="ctr"/>
                </a:tc>
                <a:tc>
                  <a:txBody>
                    <a:bodyPr/>
                    <a:lstStyle/>
                    <a:p>
                      <a:r>
                        <a:rPr lang="en-US"/>
                        <a:t>Very High (Most balanced)</a:t>
                      </a:r>
                    </a:p>
                  </a:txBody>
                  <a:tcPr anchor="ctr"/>
                </a:tc>
                <a:extLst>
                  <a:ext uri="{0D108BD9-81ED-4DB2-BD59-A6C34878D82A}">
                    <a16:rowId xmlns:a16="http://schemas.microsoft.com/office/drawing/2014/main" val="4050705394"/>
                  </a:ext>
                </a:extLst>
              </a:tr>
              <a:tr h="1420156">
                <a:tc>
                  <a:txBody>
                    <a:bodyPr/>
                    <a:lstStyle/>
                    <a:p>
                      <a:r>
                        <a:rPr lang="en-US" b="1" dirty="0"/>
                        <a:t>[4]</a:t>
                      </a:r>
                      <a:endParaRPr lang="en-US" dirty="0"/>
                    </a:p>
                  </a:txBody>
                  <a:tcPr anchor="ctr"/>
                </a:tc>
                <a:tc>
                  <a:txBody>
                    <a:bodyPr/>
                    <a:lstStyle/>
                    <a:p>
                      <a:r>
                        <a:rPr lang="en-US"/>
                        <a:t>2018</a:t>
                      </a:r>
                    </a:p>
                  </a:txBody>
                  <a:tcPr anchor="ctr"/>
                </a:tc>
                <a:tc>
                  <a:txBody>
                    <a:bodyPr/>
                    <a:lstStyle/>
                    <a:p>
                      <a:r>
                        <a:rPr lang="en-US" b="1" dirty="0"/>
                        <a:t>CLAHE + Gamma Correction</a:t>
                      </a:r>
                      <a:endParaRPr lang="en-US" dirty="0"/>
                    </a:p>
                  </a:txBody>
                  <a:tcPr anchor="ctr"/>
                </a:tc>
                <a:tc>
                  <a:txBody>
                    <a:bodyPr/>
                    <a:lstStyle/>
                    <a:p>
                      <a:r>
                        <a:rPr lang="en-US" dirty="0"/>
                        <a:t>15.10</a:t>
                      </a:r>
                    </a:p>
                  </a:txBody>
                  <a:tcPr anchor="ctr"/>
                </a:tc>
                <a:tc>
                  <a:txBody>
                    <a:bodyPr/>
                    <a:lstStyle/>
                    <a:p>
                      <a:r>
                        <a:rPr lang="en-US"/>
                        <a:t>0.64</a:t>
                      </a:r>
                    </a:p>
                  </a:txBody>
                  <a:tcPr anchor="ctr"/>
                </a:tc>
                <a:tc>
                  <a:txBody>
                    <a:bodyPr/>
                    <a:lstStyle/>
                    <a:p>
                      <a:r>
                        <a:rPr lang="en-US"/>
                        <a:t>6.80</a:t>
                      </a:r>
                    </a:p>
                  </a:txBody>
                  <a:tcPr anchor="ctr"/>
                </a:tc>
                <a:tc>
                  <a:txBody>
                    <a:bodyPr/>
                    <a:lstStyle/>
                    <a:p>
                      <a:r>
                        <a:rPr lang="en-US" dirty="0"/>
                        <a:t>Low (Prone to halo effects)</a:t>
                      </a:r>
                    </a:p>
                  </a:txBody>
                  <a:tcPr anchor="ctr"/>
                </a:tc>
                <a:extLst>
                  <a:ext uri="{0D108BD9-81ED-4DB2-BD59-A6C34878D82A}">
                    <a16:rowId xmlns:a16="http://schemas.microsoft.com/office/drawing/2014/main" val="804182000"/>
                  </a:ext>
                </a:extLst>
              </a:tr>
            </a:tbl>
          </a:graphicData>
        </a:graphic>
      </p:graphicFrame>
    </p:spTree>
    <p:extLst>
      <p:ext uri="{BB962C8B-B14F-4D97-AF65-F5344CB8AC3E}">
        <p14:creationId xmlns:p14="http://schemas.microsoft.com/office/powerpoint/2010/main" val="341891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741234A-743D-4E3D-9235-5FE42EE8D660}"/>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3" name="AutoShape 2">
            <a:extLst>
              <a:ext uri="{FF2B5EF4-FFF2-40B4-BE49-F238E27FC236}">
                <a16:creationId xmlns:a16="http://schemas.microsoft.com/office/drawing/2014/main" id="{3BB91D85-6711-4956-8824-76171301F28F}"/>
              </a:ext>
            </a:extLst>
          </p:cNvPr>
          <p:cNvSpPr/>
          <p:nvPr/>
        </p:nvSpPr>
        <p:spPr>
          <a:xfrm>
            <a:off x="4195002" y="9258300"/>
            <a:ext cx="13064298" cy="0"/>
          </a:xfrm>
          <a:prstGeom prst="line">
            <a:avLst/>
          </a:prstGeom>
          <a:ln w="19050" cap="flat">
            <a:solidFill>
              <a:srgbClr val="48276D"/>
            </a:solidFill>
            <a:prstDash val="solid"/>
            <a:headEnd type="none" w="sm" len="sm"/>
            <a:tailEnd type="none" w="sm" len="sm"/>
          </a:ln>
        </p:spPr>
      </p:sp>
      <p:sp>
        <p:nvSpPr>
          <p:cNvPr id="4" name="Freeform 3">
            <a:extLst>
              <a:ext uri="{FF2B5EF4-FFF2-40B4-BE49-F238E27FC236}">
                <a16:creationId xmlns:a16="http://schemas.microsoft.com/office/drawing/2014/main" id="{1A0313A9-B2A8-430F-875E-ACB2CEC9420E}"/>
              </a:ext>
            </a:extLst>
          </p:cNvPr>
          <p:cNvSpPr/>
          <p:nvPr/>
        </p:nvSpPr>
        <p:spPr>
          <a:xfrm>
            <a:off x="15498007" y="7962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35000"/>
              <a:extLst>
                <a:ext uri="{96DAC541-7B7A-43D3-8B79-37D633B846F1}">
                  <asvg:svgBlip xmlns:asvg="http://schemas.microsoft.com/office/drawing/2016/SVG/main" r:embed="rId3"/>
                </a:ext>
              </a:extLst>
            </a:blip>
            <a:stretch>
              <a:fillRect/>
            </a:stretch>
          </a:blipFill>
        </p:spPr>
      </p:sp>
      <p:sp>
        <p:nvSpPr>
          <p:cNvPr id="5" name="AutoShape 4">
            <a:extLst>
              <a:ext uri="{FF2B5EF4-FFF2-40B4-BE49-F238E27FC236}">
                <a16:creationId xmlns:a16="http://schemas.microsoft.com/office/drawing/2014/main" id="{693FCC2B-ED6F-4BF0-9A30-0534ED28F6F1}"/>
              </a:ext>
            </a:extLst>
          </p:cNvPr>
          <p:cNvSpPr/>
          <p:nvPr/>
        </p:nvSpPr>
        <p:spPr>
          <a:xfrm flipV="1">
            <a:off x="1028700" y="1047750"/>
            <a:ext cx="16230600" cy="0"/>
          </a:xfrm>
          <a:prstGeom prst="line">
            <a:avLst/>
          </a:prstGeom>
          <a:ln w="19050" cap="flat">
            <a:solidFill>
              <a:srgbClr val="48276D"/>
            </a:solidFill>
            <a:prstDash val="solid"/>
            <a:headEnd type="none" w="sm" len="sm"/>
            <a:tailEnd type="none" w="sm" len="sm"/>
          </a:ln>
        </p:spPr>
      </p:sp>
      <p:grpSp>
        <p:nvGrpSpPr>
          <p:cNvPr id="6" name="Group 6">
            <a:extLst>
              <a:ext uri="{FF2B5EF4-FFF2-40B4-BE49-F238E27FC236}">
                <a16:creationId xmlns:a16="http://schemas.microsoft.com/office/drawing/2014/main" id="{84CCB0A6-CFE3-4702-BBE7-D2AEF678D461}"/>
              </a:ext>
            </a:extLst>
          </p:cNvPr>
          <p:cNvGrpSpPr/>
          <p:nvPr/>
        </p:nvGrpSpPr>
        <p:grpSpPr>
          <a:xfrm>
            <a:off x="17243189" y="2833442"/>
            <a:ext cx="1044811" cy="5724034"/>
            <a:chOff x="0" y="0"/>
            <a:chExt cx="275176" cy="1507565"/>
          </a:xfrm>
        </p:grpSpPr>
        <p:sp>
          <p:nvSpPr>
            <p:cNvPr id="7" name="Freeform 7">
              <a:extLst>
                <a:ext uri="{FF2B5EF4-FFF2-40B4-BE49-F238E27FC236}">
                  <a16:creationId xmlns:a16="http://schemas.microsoft.com/office/drawing/2014/main" id="{FCA6652F-6B05-447C-9306-760580B5570B}"/>
                </a:ext>
              </a:extLst>
            </p:cNvPr>
            <p:cNvSpPr/>
            <p:nvPr/>
          </p:nvSpPr>
          <p:spPr>
            <a:xfrm>
              <a:off x="0" y="0"/>
              <a:ext cx="275176" cy="1507565"/>
            </a:xfrm>
            <a:custGeom>
              <a:avLst/>
              <a:gdLst/>
              <a:ahLst/>
              <a:cxnLst/>
              <a:rect l="l" t="t" r="r" b="b"/>
              <a:pathLst>
                <a:path w="275176" h="1507565">
                  <a:moveTo>
                    <a:pt x="0" y="0"/>
                  </a:moveTo>
                  <a:lnTo>
                    <a:pt x="275176" y="0"/>
                  </a:lnTo>
                  <a:lnTo>
                    <a:pt x="275176" y="1507565"/>
                  </a:lnTo>
                  <a:lnTo>
                    <a:pt x="0" y="1507565"/>
                  </a:lnTo>
                  <a:close/>
                </a:path>
              </a:pathLst>
            </a:custGeom>
            <a:gradFill rotWithShape="1">
              <a:gsLst>
                <a:gs pos="0">
                  <a:srgbClr val="9374B3">
                    <a:alpha val="100000"/>
                  </a:srgbClr>
                </a:gs>
                <a:gs pos="50000">
                  <a:srgbClr val="7161A6">
                    <a:alpha val="100000"/>
                  </a:srgbClr>
                </a:gs>
                <a:gs pos="100000">
                  <a:srgbClr val="4A4D9C">
                    <a:alpha val="100000"/>
                  </a:srgbClr>
                </a:gs>
              </a:gsLst>
              <a:lin ang="0"/>
            </a:gradFill>
          </p:spPr>
        </p:sp>
        <p:sp>
          <p:nvSpPr>
            <p:cNvPr id="8" name="TextBox 8">
              <a:extLst>
                <a:ext uri="{FF2B5EF4-FFF2-40B4-BE49-F238E27FC236}">
                  <a16:creationId xmlns:a16="http://schemas.microsoft.com/office/drawing/2014/main" id="{AE92799B-2BE6-4B51-AFE5-1AC9164E247C}"/>
                </a:ext>
              </a:extLst>
            </p:cNvPr>
            <p:cNvSpPr txBox="1"/>
            <p:nvPr/>
          </p:nvSpPr>
          <p:spPr>
            <a:xfrm>
              <a:off x="0" y="-38100"/>
              <a:ext cx="275176" cy="1545665"/>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3840148F-CB50-4C9F-A3B3-AA7ABB6CEEDD}"/>
              </a:ext>
            </a:extLst>
          </p:cNvPr>
          <p:cNvSpPr/>
          <p:nvPr/>
        </p:nvSpPr>
        <p:spPr>
          <a:xfrm rot="-5400000">
            <a:off x="17461217" y="3939708"/>
            <a:ext cx="711163" cy="177791"/>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AutoShape 10">
            <a:extLst>
              <a:ext uri="{FF2B5EF4-FFF2-40B4-BE49-F238E27FC236}">
                <a16:creationId xmlns:a16="http://schemas.microsoft.com/office/drawing/2014/main" id="{27C7389F-BCC6-4ADF-ADBD-EA1A088B8F42}"/>
              </a:ext>
            </a:extLst>
          </p:cNvPr>
          <p:cNvSpPr/>
          <p:nvPr/>
        </p:nvSpPr>
        <p:spPr>
          <a:xfrm flipV="1">
            <a:off x="17807273" y="4933828"/>
            <a:ext cx="0" cy="1044644"/>
          </a:xfrm>
          <a:prstGeom prst="line">
            <a:avLst/>
          </a:prstGeom>
          <a:ln w="19050" cap="flat">
            <a:solidFill>
              <a:srgbClr val="FFFFFF"/>
            </a:solidFill>
            <a:prstDash val="solid"/>
            <a:headEnd type="none" w="sm" len="sm"/>
            <a:tailEnd type="none" w="sm" len="sm"/>
          </a:ln>
        </p:spPr>
      </p:sp>
      <p:sp>
        <p:nvSpPr>
          <p:cNvPr id="11" name="Freeform 11">
            <a:extLst>
              <a:ext uri="{FF2B5EF4-FFF2-40B4-BE49-F238E27FC236}">
                <a16:creationId xmlns:a16="http://schemas.microsoft.com/office/drawing/2014/main" id="{4123976A-3DF2-4F5C-9E67-2A99BB3F3193}"/>
              </a:ext>
            </a:extLst>
          </p:cNvPr>
          <p:cNvSpPr/>
          <p:nvPr/>
        </p:nvSpPr>
        <p:spPr>
          <a:xfrm rot="-5400000">
            <a:off x="17461217" y="6862572"/>
            <a:ext cx="711163" cy="177791"/>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TextBox 13">
            <a:extLst>
              <a:ext uri="{FF2B5EF4-FFF2-40B4-BE49-F238E27FC236}">
                <a16:creationId xmlns:a16="http://schemas.microsoft.com/office/drawing/2014/main" id="{BE56466E-D52D-4E19-8973-FE6D8A7B3778}"/>
              </a:ext>
            </a:extLst>
          </p:cNvPr>
          <p:cNvSpPr txBox="1"/>
          <p:nvPr/>
        </p:nvSpPr>
        <p:spPr>
          <a:xfrm>
            <a:off x="1103632" y="592747"/>
            <a:ext cx="2224931" cy="371897"/>
          </a:xfrm>
          <a:prstGeom prst="rect">
            <a:avLst/>
          </a:prstGeom>
        </p:spPr>
        <p:txBody>
          <a:bodyPr lIns="0" tIns="0" rIns="0" bIns="0" rtlCol="0" anchor="t">
            <a:spAutoFit/>
          </a:bodyPr>
          <a:lstStyle/>
          <a:p>
            <a:pPr algn="l">
              <a:lnSpc>
                <a:spcPts val="2939"/>
              </a:lnSpc>
            </a:pPr>
            <a:r>
              <a:rPr lang="en-US" sz="2099" dirty="0">
                <a:solidFill>
                  <a:srgbClr val="69498D"/>
                </a:solidFill>
                <a:latin typeface="Roboto"/>
                <a:ea typeface="Roboto"/>
                <a:cs typeface="Roboto"/>
                <a:sym typeface="Roboto"/>
              </a:rPr>
              <a:t>R20 Regulations</a:t>
            </a:r>
          </a:p>
        </p:txBody>
      </p:sp>
      <p:sp>
        <p:nvSpPr>
          <p:cNvPr id="13" name="TextBox 14">
            <a:extLst>
              <a:ext uri="{FF2B5EF4-FFF2-40B4-BE49-F238E27FC236}">
                <a16:creationId xmlns:a16="http://schemas.microsoft.com/office/drawing/2014/main" id="{8C82B6C4-32B1-4348-82A4-1E1E7A7B4689}"/>
              </a:ext>
            </a:extLst>
          </p:cNvPr>
          <p:cNvSpPr txBox="1"/>
          <p:nvPr/>
        </p:nvSpPr>
        <p:spPr>
          <a:xfrm>
            <a:off x="8137006" y="662940"/>
            <a:ext cx="2026105" cy="371897"/>
          </a:xfrm>
          <a:prstGeom prst="rect">
            <a:avLst/>
          </a:prstGeom>
        </p:spPr>
        <p:txBody>
          <a:bodyPr lIns="0" tIns="0" rIns="0" bIns="0" rtlCol="0" anchor="t">
            <a:spAutoFit/>
          </a:bodyPr>
          <a:lstStyle/>
          <a:p>
            <a:pPr algn="ctr">
              <a:lnSpc>
                <a:spcPts val="2939"/>
              </a:lnSpc>
            </a:pPr>
            <a:r>
              <a:rPr lang="en-US" sz="2099" dirty="0">
                <a:solidFill>
                  <a:srgbClr val="69498D"/>
                </a:solidFill>
                <a:latin typeface="Roboto"/>
                <a:ea typeface="Roboto"/>
                <a:cs typeface="Roboto"/>
                <a:sym typeface="Roboto"/>
              </a:rPr>
              <a:t>IV B. Tech ECE</a:t>
            </a:r>
          </a:p>
        </p:txBody>
      </p:sp>
      <p:sp>
        <p:nvSpPr>
          <p:cNvPr id="14" name="TextBox 15">
            <a:extLst>
              <a:ext uri="{FF2B5EF4-FFF2-40B4-BE49-F238E27FC236}">
                <a16:creationId xmlns:a16="http://schemas.microsoft.com/office/drawing/2014/main" id="{35C39EA0-71A2-48E0-B295-B4A15F41AF4E}"/>
              </a:ext>
            </a:extLst>
          </p:cNvPr>
          <p:cNvSpPr txBox="1"/>
          <p:nvPr/>
        </p:nvSpPr>
        <p:spPr>
          <a:xfrm>
            <a:off x="13151090" y="701472"/>
            <a:ext cx="3903301" cy="737235"/>
          </a:xfrm>
          <a:prstGeom prst="rect">
            <a:avLst/>
          </a:prstGeom>
        </p:spPr>
        <p:txBody>
          <a:bodyPr lIns="0" tIns="0" rIns="0" bIns="0" rtlCol="0" anchor="t">
            <a:spAutoFit/>
          </a:bodyPr>
          <a:lstStyle/>
          <a:p>
            <a:pPr algn="l">
              <a:lnSpc>
                <a:spcPts val="2939"/>
              </a:lnSpc>
            </a:pPr>
            <a:r>
              <a:rPr lang="en-US" sz="2099">
                <a:solidFill>
                  <a:srgbClr val="69498D"/>
                </a:solidFill>
                <a:latin typeface="Roboto"/>
                <a:ea typeface="Roboto"/>
                <a:cs typeface="Roboto"/>
                <a:sym typeface="Roboto"/>
              </a:rPr>
              <a:t>Ac. Year : 2025-26/ Semester -II</a:t>
            </a:r>
          </a:p>
          <a:p>
            <a:pPr algn="l">
              <a:lnSpc>
                <a:spcPts val="2939"/>
              </a:lnSpc>
            </a:pPr>
            <a:endParaRPr lang="en-US" sz="2099">
              <a:solidFill>
                <a:srgbClr val="69498D"/>
              </a:solidFill>
              <a:latin typeface="Roboto"/>
              <a:ea typeface="Roboto"/>
              <a:cs typeface="Roboto"/>
              <a:sym typeface="Roboto"/>
            </a:endParaRPr>
          </a:p>
        </p:txBody>
      </p:sp>
      <p:sp>
        <p:nvSpPr>
          <p:cNvPr id="15" name="TextBox 16">
            <a:extLst>
              <a:ext uri="{FF2B5EF4-FFF2-40B4-BE49-F238E27FC236}">
                <a16:creationId xmlns:a16="http://schemas.microsoft.com/office/drawing/2014/main" id="{097CAD5F-2B26-4199-B2A5-2679D11BBEFF}"/>
              </a:ext>
            </a:extLst>
          </p:cNvPr>
          <p:cNvSpPr txBox="1"/>
          <p:nvPr/>
        </p:nvSpPr>
        <p:spPr>
          <a:xfrm>
            <a:off x="1573578" y="9051607"/>
            <a:ext cx="3903301" cy="346249"/>
          </a:xfrm>
          <a:prstGeom prst="rect">
            <a:avLst/>
          </a:prstGeom>
        </p:spPr>
        <p:txBody>
          <a:bodyPr lIns="0" tIns="0" rIns="0" bIns="0" rtlCol="0" anchor="t">
            <a:spAutoFit/>
          </a:bodyPr>
          <a:lstStyle/>
          <a:p>
            <a:pPr>
              <a:lnSpc>
                <a:spcPts val="2939"/>
              </a:lnSpc>
            </a:pPr>
            <a:r>
              <a:rPr lang="en-US" sz="2099" dirty="0">
                <a:solidFill>
                  <a:srgbClr val="69498D"/>
                </a:solidFill>
                <a:latin typeface="Roboto"/>
                <a:ea typeface="Roboto"/>
                <a:cs typeface="Roboto"/>
                <a:sym typeface="Roboto"/>
              </a:rPr>
              <a:t>Final Review</a:t>
            </a:r>
          </a:p>
        </p:txBody>
      </p:sp>
      <p:sp>
        <p:nvSpPr>
          <p:cNvPr id="16" name="Text 2">
            <a:extLst>
              <a:ext uri="{FF2B5EF4-FFF2-40B4-BE49-F238E27FC236}">
                <a16:creationId xmlns:a16="http://schemas.microsoft.com/office/drawing/2014/main" id="{1A86AE99-2488-4059-BE83-12952DD96F60}"/>
              </a:ext>
            </a:extLst>
          </p:cNvPr>
          <p:cNvSpPr/>
          <p:nvPr/>
        </p:nvSpPr>
        <p:spPr>
          <a:xfrm>
            <a:off x="1295400" y="1430025"/>
            <a:ext cx="7645837" cy="562808"/>
          </a:xfrm>
          <a:prstGeom prst="rect">
            <a:avLst/>
          </a:prstGeom>
          <a:noFill/>
          <a:ln/>
        </p:spPr>
        <p:txBody>
          <a:bodyPr wrap="none" lIns="0" tIns="0" rIns="0" bIns="0" rtlCol="0" anchor="t"/>
          <a:lstStyle/>
          <a:p>
            <a:pPr marL="0" indent="0" algn="l">
              <a:lnSpc>
                <a:spcPts val="4400"/>
              </a:lnSpc>
              <a:buNone/>
            </a:pPr>
            <a:r>
              <a:rPr lang="en-US" sz="3500" b="1" dirty="0">
                <a:solidFill>
                  <a:srgbClr val="000000"/>
                </a:solidFill>
                <a:latin typeface="Montserrat Bold" pitchFamily="34" charset="0"/>
                <a:ea typeface="Montserrat Bold" pitchFamily="34" charset="-122"/>
                <a:cs typeface="Montserrat Bold" pitchFamily="34" charset="-120"/>
              </a:rPr>
              <a:t>Literature Review &amp; Background</a:t>
            </a:r>
            <a:endParaRPr lang="en-US" sz="3500" dirty="0"/>
          </a:p>
        </p:txBody>
      </p:sp>
      <p:sp>
        <p:nvSpPr>
          <p:cNvPr id="17" name="Text 6">
            <a:extLst>
              <a:ext uri="{FF2B5EF4-FFF2-40B4-BE49-F238E27FC236}">
                <a16:creationId xmlns:a16="http://schemas.microsoft.com/office/drawing/2014/main" id="{762BB515-B19E-476F-872D-7873F75029E2}"/>
              </a:ext>
            </a:extLst>
          </p:cNvPr>
          <p:cNvSpPr/>
          <p:nvPr/>
        </p:nvSpPr>
        <p:spPr>
          <a:xfrm>
            <a:off x="1447800" y="3356796"/>
            <a:ext cx="13163431" cy="2466618"/>
          </a:xfrm>
          <a:prstGeom prst="rect">
            <a:avLst/>
          </a:prstGeom>
          <a:noFill/>
          <a:ln/>
        </p:spPr>
        <p:txBody>
          <a:bodyPr wrap="square" lIns="0" tIns="0" rIns="0" bIns="0" rtlCol="0" anchor="t"/>
          <a:lstStyle/>
          <a:p>
            <a:pPr marL="342900" indent="-342900" algn="l">
              <a:lnSpc>
                <a:spcPts val="2300"/>
              </a:lnSpc>
              <a:buSzPct val="100000"/>
              <a:buChar char="•"/>
            </a:pPr>
            <a:endParaRPr lang="en-US" sz="2800" dirty="0"/>
          </a:p>
        </p:txBody>
      </p:sp>
      <p:sp>
        <p:nvSpPr>
          <p:cNvPr id="18" name="Text 7">
            <a:extLst>
              <a:ext uri="{FF2B5EF4-FFF2-40B4-BE49-F238E27FC236}">
                <a16:creationId xmlns:a16="http://schemas.microsoft.com/office/drawing/2014/main" id="{50C349D8-94A8-4972-B93B-47CE00D7AB9E}"/>
              </a:ext>
            </a:extLst>
          </p:cNvPr>
          <p:cNvSpPr/>
          <p:nvPr/>
        </p:nvSpPr>
        <p:spPr>
          <a:xfrm>
            <a:off x="1295401" y="2398799"/>
            <a:ext cx="14935200" cy="6196521"/>
          </a:xfrm>
          <a:prstGeom prst="rect">
            <a:avLst/>
          </a:prstGeom>
          <a:noFill/>
          <a:ln/>
        </p:spPr>
        <p:txBody>
          <a:bodyPr wrap="square" lIns="0" tIns="0" rIns="0" bIns="0" rtlCol="0" anchor="t"/>
          <a:lstStyle/>
          <a:p>
            <a:pPr algn="just">
              <a:lnSpc>
                <a:spcPts val="2300"/>
              </a:lnSpc>
              <a:buSzPct val="100000"/>
            </a:pPr>
            <a:r>
              <a:rPr lang="en-US" sz="3200" b="1" dirty="0">
                <a:solidFill>
                  <a:srgbClr val="3D3838"/>
                </a:solidFill>
                <a:latin typeface="Source Sans 3" pitchFamily="34" charset="0"/>
                <a:ea typeface="Source Sans 3" pitchFamily="34" charset="-122"/>
                <a:cs typeface="Source Sans 3" pitchFamily="34" charset="-120"/>
              </a:rPr>
              <a:t>Research Gap:</a:t>
            </a:r>
          </a:p>
          <a:p>
            <a:pPr algn="just">
              <a:lnSpc>
                <a:spcPts val="2300"/>
              </a:lnSpc>
              <a:buSzPct val="100000"/>
            </a:pPr>
            <a:endParaRPr lang="en-US" sz="3200" b="1" dirty="0">
              <a:solidFill>
                <a:srgbClr val="3D3838"/>
              </a:solidFill>
              <a:latin typeface="Source Sans 3" pitchFamily="34" charset="0"/>
              <a:ea typeface="Source Sans 3" pitchFamily="34" charset="-122"/>
              <a:cs typeface="Source Sans 3" pitchFamily="34" charset="-120"/>
            </a:endParaRPr>
          </a:p>
          <a:p>
            <a:pPr marL="342900" indent="-342900" algn="just">
              <a:buSzPct val="100000"/>
              <a:buChar char="•"/>
            </a:pPr>
            <a:r>
              <a:rPr lang="en-US" sz="2800" b="1" dirty="0">
                <a:latin typeface="Source Sans 3" panose="020B0604020202020204" charset="0"/>
                <a:cs typeface="Source Sans 3" panose="020B0604020202020204" charset="0"/>
              </a:rPr>
              <a:t>Gap:</a:t>
            </a:r>
            <a:r>
              <a:rPr lang="en-US" sz="2800" dirty="0">
                <a:latin typeface="Source Sans 3" panose="020B0604020202020204" charset="0"/>
                <a:cs typeface="Source Sans 3" panose="020B0604020202020204" charset="0"/>
              </a:rPr>
              <a:t> Existing methods fail on extreme backlit scenes—can't balance severely dark faces with bright backgrounds simultaneously</a:t>
            </a:r>
          </a:p>
          <a:p>
            <a:pPr marL="342900" indent="-342900" algn="just">
              <a:buSzPct val="100000"/>
              <a:buChar char="•"/>
            </a:pPr>
            <a:endParaRPr lang="en-US" sz="2800" dirty="0">
              <a:latin typeface="Source Sans 3" panose="020B0604020202020204" charset="0"/>
              <a:cs typeface="Source Sans 3" panose="020B0604020202020204" charset="0"/>
            </a:endParaRPr>
          </a:p>
          <a:p>
            <a:pPr marL="342900" indent="-342900" algn="just">
              <a:buSzPct val="100000"/>
              <a:buChar char="•"/>
            </a:pPr>
            <a:endParaRPr lang="en-US" sz="2800" dirty="0">
              <a:latin typeface="Source Sans 3" panose="020B0604020202020204" charset="0"/>
              <a:cs typeface="Source Sans 3" panose="020B0604020202020204" charset="0"/>
            </a:endParaRPr>
          </a:p>
          <a:p>
            <a:pPr marL="342900" indent="-342900" algn="just">
              <a:buSzPct val="100000"/>
              <a:buChar char="•"/>
            </a:pPr>
            <a:r>
              <a:rPr lang="en-US" sz="2800" b="1" dirty="0">
                <a:latin typeface="Source Sans 3" panose="020B0604020202020204" charset="0"/>
                <a:cs typeface="Source Sans 3" panose="020B0604020202020204" charset="0"/>
              </a:rPr>
              <a:t>Our Solution:</a:t>
            </a:r>
            <a:r>
              <a:rPr lang="en-US" sz="2800" dirty="0">
                <a:latin typeface="Source Sans 3" panose="020B0604020202020204" charset="0"/>
                <a:cs typeface="Source Sans 3" panose="020B0604020202020204" charset="0"/>
              </a:rPr>
              <a:t> Integrates physical light modeling (ALSM) with semantic face guidance for balanced enhancement across extreme contrasts</a:t>
            </a:r>
          </a:p>
          <a:p>
            <a:pPr marL="342900" indent="-342900">
              <a:lnSpc>
                <a:spcPct val="150000"/>
              </a:lnSpc>
              <a:buSzPct val="100000"/>
              <a:buChar char="•"/>
            </a:pPr>
            <a:endParaRPr lang="en-US" sz="2800" b="1" dirty="0">
              <a:solidFill>
                <a:srgbClr val="3D3838"/>
              </a:solidFill>
              <a:latin typeface="Source Sans 3" panose="020B0604020202020204" charset="0"/>
              <a:ea typeface="Source Sans 3" pitchFamily="34" charset="-122"/>
              <a:cs typeface="Source Sans 3" panose="020B0604020202020204" charset="0"/>
            </a:endParaRPr>
          </a:p>
        </p:txBody>
      </p:sp>
      <p:sp>
        <p:nvSpPr>
          <p:cNvPr id="19" name="Slide Number Placeholder 4">
            <a:extLst>
              <a:ext uri="{FF2B5EF4-FFF2-40B4-BE49-F238E27FC236}">
                <a16:creationId xmlns:a16="http://schemas.microsoft.com/office/drawing/2014/main" id="{8EB49124-C7A4-4318-94D8-17150A6D81D7}"/>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7</a:t>
            </a:fld>
            <a:endParaRPr lang="en-US"/>
          </a:p>
        </p:txBody>
      </p:sp>
      <p:pic>
        <p:nvPicPr>
          <p:cNvPr id="20" name="Picture 19">
            <a:extLst>
              <a:ext uri="{FF2B5EF4-FFF2-40B4-BE49-F238E27FC236}">
                <a16:creationId xmlns:a16="http://schemas.microsoft.com/office/drawing/2014/main" id="{A31E6C75-F0FE-4738-9731-4B5A2BDE51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243189" y="174336"/>
            <a:ext cx="740449" cy="770067"/>
          </a:xfrm>
          <a:prstGeom prst="rect">
            <a:avLst/>
          </a:prstGeom>
        </p:spPr>
      </p:pic>
    </p:spTree>
    <p:extLst>
      <p:ext uri="{BB962C8B-B14F-4D97-AF65-F5344CB8AC3E}">
        <p14:creationId xmlns:p14="http://schemas.microsoft.com/office/powerpoint/2010/main" val="12545660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195002" y="9258300"/>
            <a:ext cx="13064298" cy="0"/>
          </a:xfrm>
          <a:prstGeom prst="line">
            <a:avLst/>
          </a:prstGeom>
          <a:ln w="19050" cap="flat">
            <a:solidFill>
              <a:srgbClr val="48276D"/>
            </a:solidFill>
            <a:prstDash val="solid"/>
            <a:headEnd type="none" w="sm" len="sm"/>
            <a:tailEnd type="none" w="sm" len="sm"/>
          </a:ln>
        </p:spPr>
      </p:sp>
      <p:sp>
        <p:nvSpPr>
          <p:cNvPr id="3" name="Freeform 3"/>
          <p:cNvSpPr/>
          <p:nvPr/>
        </p:nvSpPr>
        <p:spPr>
          <a:xfrm>
            <a:off x="15498007" y="79244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35000"/>
              <a:extLst>
                <a:ext uri="{96DAC541-7B7A-43D3-8B79-37D633B846F1}">
                  <asvg:svgBlip xmlns:asvg="http://schemas.microsoft.com/office/drawing/2016/SVG/main" r:embed="rId3"/>
                </a:ext>
              </a:extLst>
            </a:blip>
            <a:stretch>
              <a:fillRect/>
            </a:stretch>
          </a:blipFill>
        </p:spPr>
      </p:sp>
      <p:sp>
        <p:nvSpPr>
          <p:cNvPr id="4" name="AutoShape 4"/>
          <p:cNvSpPr/>
          <p:nvPr/>
        </p:nvSpPr>
        <p:spPr>
          <a:xfrm flipV="1">
            <a:off x="1028700" y="1047750"/>
            <a:ext cx="16230600" cy="0"/>
          </a:xfrm>
          <a:prstGeom prst="line">
            <a:avLst/>
          </a:prstGeom>
          <a:ln w="19050" cap="flat">
            <a:solidFill>
              <a:srgbClr val="48276D"/>
            </a:solidFill>
            <a:prstDash val="solid"/>
            <a:headEnd type="none" w="sm" len="sm"/>
            <a:tailEnd type="none" w="sm" len="sm"/>
          </a:ln>
        </p:spPr>
      </p:sp>
      <p:grpSp>
        <p:nvGrpSpPr>
          <p:cNvPr id="6" name="Group 6"/>
          <p:cNvGrpSpPr/>
          <p:nvPr/>
        </p:nvGrpSpPr>
        <p:grpSpPr>
          <a:xfrm>
            <a:off x="17243189" y="2833442"/>
            <a:ext cx="1044811" cy="5724034"/>
            <a:chOff x="0" y="0"/>
            <a:chExt cx="275176" cy="1507565"/>
          </a:xfrm>
        </p:grpSpPr>
        <p:sp>
          <p:nvSpPr>
            <p:cNvPr id="7" name="Freeform 7"/>
            <p:cNvSpPr/>
            <p:nvPr/>
          </p:nvSpPr>
          <p:spPr>
            <a:xfrm>
              <a:off x="0" y="0"/>
              <a:ext cx="275176" cy="1507565"/>
            </a:xfrm>
            <a:custGeom>
              <a:avLst/>
              <a:gdLst/>
              <a:ahLst/>
              <a:cxnLst/>
              <a:rect l="l" t="t" r="r" b="b"/>
              <a:pathLst>
                <a:path w="275176" h="1507565">
                  <a:moveTo>
                    <a:pt x="0" y="0"/>
                  </a:moveTo>
                  <a:lnTo>
                    <a:pt x="275176" y="0"/>
                  </a:lnTo>
                  <a:lnTo>
                    <a:pt x="275176" y="1507565"/>
                  </a:lnTo>
                  <a:lnTo>
                    <a:pt x="0" y="1507565"/>
                  </a:lnTo>
                  <a:close/>
                </a:path>
              </a:pathLst>
            </a:custGeom>
            <a:gradFill rotWithShape="1">
              <a:gsLst>
                <a:gs pos="0">
                  <a:srgbClr val="9374B3">
                    <a:alpha val="100000"/>
                  </a:srgbClr>
                </a:gs>
                <a:gs pos="50000">
                  <a:srgbClr val="7161A6">
                    <a:alpha val="100000"/>
                  </a:srgbClr>
                </a:gs>
                <a:gs pos="100000">
                  <a:srgbClr val="4A4D9C">
                    <a:alpha val="100000"/>
                  </a:srgbClr>
                </a:gs>
              </a:gsLst>
              <a:lin ang="0"/>
            </a:gradFill>
          </p:spPr>
        </p:sp>
        <p:sp>
          <p:nvSpPr>
            <p:cNvPr id="8" name="TextBox 8"/>
            <p:cNvSpPr txBox="1"/>
            <p:nvPr/>
          </p:nvSpPr>
          <p:spPr>
            <a:xfrm>
              <a:off x="0" y="-38100"/>
              <a:ext cx="275176" cy="1545665"/>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rot="-5400000">
            <a:off x="17461217" y="3939708"/>
            <a:ext cx="711163" cy="177791"/>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AutoShape 10"/>
          <p:cNvSpPr/>
          <p:nvPr/>
        </p:nvSpPr>
        <p:spPr>
          <a:xfrm flipV="1">
            <a:off x="17807273" y="4933828"/>
            <a:ext cx="0" cy="1044644"/>
          </a:xfrm>
          <a:prstGeom prst="line">
            <a:avLst/>
          </a:prstGeom>
          <a:ln w="19050" cap="flat">
            <a:solidFill>
              <a:srgbClr val="FFFFFF"/>
            </a:solidFill>
            <a:prstDash val="solid"/>
            <a:headEnd type="none" w="sm" len="sm"/>
            <a:tailEnd type="none" w="sm" len="sm"/>
          </a:ln>
        </p:spPr>
      </p:sp>
      <p:sp>
        <p:nvSpPr>
          <p:cNvPr id="11" name="Freeform 11"/>
          <p:cNvSpPr/>
          <p:nvPr/>
        </p:nvSpPr>
        <p:spPr>
          <a:xfrm rot="-5400000">
            <a:off x="17461217" y="6862572"/>
            <a:ext cx="711163" cy="177791"/>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TextBox 13"/>
          <p:cNvSpPr txBox="1"/>
          <p:nvPr/>
        </p:nvSpPr>
        <p:spPr>
          <a:xfrm>
            <a:off x="1103632" y="592747"/>
            <a:ext cx="2224931" cy="371897"/>
          </a:xfrm>
          <a:prstGeom prst="rect">
            <a:avLst/>
          </a:prstGeom>
        </p:spPr>
        <p:txBody>
          <a:bodyPr lIns="0" tIns="0" rIns="0" bIns="0" rtlCol="0" anchor="t">
            <a:spAutoFit/>
          </a:bodyPr>
          <a:lstStyle/>
          <a:p>
            <a:pPr algn="l">
              <a:lnSpc>
                <a:spcPts val="2939"/>
              </a:lnSpc>
            </a:pPr>
            <a:r>
              <a:rPr lang="en-US" sz="2099" dirty="0">
                <a:solidFill>
                  <a:srgbClr val="69498D"/>
                </a:solidFill>
                <a:latin typeface="Roboto"/>
                <a:ea typeface="Roboto"/>
                <a:cs typeface="Roboto"/>
                <a:sym typeface="Roboto"/>
              </a:rPr>
              <a:t>R20 Regulations</a:t>
            </a:r>
          </a:p>
        </p:txBody>
      </p:sp>
      <p:sp>
        <p:nvSpPr>
          <p:cNvPr id="14" name="TextBox 14"/>
          <p:cNvSpPr txBox="1"/>
          <p:nvPr/>
        </p:nvSpPr>
        <p:spPr>
          <a:xfrm>
            <a:off x="8137006" y="662940"/>
            <a:ext cx="2026105" cy="371897"/>
          </a:xfrm>
          <a:prstGeom prst="rect">
            <a:avLst/>
          </a:prstGeom>
        </p:spPr>
        <p:txBody>
          <a:bodyPr lIns="0" tIns="0" rIns="0" bIns="0" rtlCol="0" anchor="t">
            <a:spAutoFit/>
          </a:bodyPr>
          <a:lstStyle/>
          <a:p>
            <a:pPr algn="ctr">
              <a:lnSpc>
                <a:spcPts val="2939"/>
              </a:lnSpc>
            </a:pPr>
            <a:r>
              <a:rPr lang="en-US" sz="2099" dirty="0">
                <a:solidFill>
                  <a:srgbClr val="69498D"/>
                </a:solidFill>
                <a:latin typeface="Roboto"/>
                <a:ea typeface="Roboto"/>
                <a:cs typeface="Roboto"/>
                <a:sym typeface="Roboto"/>
              </a:rPr>
              <a:t>IV B. Tech ECE</a:t>
            </a:r>
          </a:p>
        </p:txBody>
      </p:sp>
      <p:sp>
        <p:nvSpPr>
          <p:cNvPr id="15" name="TextBox 15"/>
          <p:cNvSpPr txBox="1"/>
          <p:nvPr/>
        </p:nvSpPr>
        <p:spPr>
          <a:xfrm>
            <a:off x="13151090" y="701472"/>
            <a:ext cx="3903301" cy="737235"/>
          </a:xfrm>
          <a:prstGeom prst="rect">
            <a:avLst/>
          </a:prstGeom>
        </p:spPr>
        <p:txBody>
          <a:bodyPr lIns="0" tIns="0" rIns="0" bIns="0" rtlCol="0" anchor="t">
            <a:spAutoFit/>
          </a:bodyPr>
          <a:lstStyle/>
          <a:p>
            <a:pPr algn="l">
              <a:lnSpc>
                <a:spcPts val="2939"/>
              </a:lnSpc>
            </a:pPr>
            <a:r>
              <a:rPr lang="en-US" sz="2099">
                <a:solidFill>
                  <a:srgbClr val="69498D"/>
                </a:solidFill>
                <a:latin typeface="Roboto"/>
                <a:ea typeface="Roboto"/>
                <a:cs typeface="Roboto"/>
                <a:sym typeface="Roboto"/>
              </a:rPr>
              <a:t>Ac. Year : 2025-26/ Semester -II</a:t>
            </a:r>
          </a:p>
          <a:p>
            <a:pPr algn="l">
              <a:lnSpc>
                <a:spcPts val="2939"/>
              </a:lnSpc>
            </a:pPr>
            <a:endParaRPr lang="en-US" sz="2099">
              <a:solidFill>
                <a:srgbClr val="69498D"/>
              </a:solidFill>
              <a:latin typeface="Roboto"/>
              <a:ea typeface="Roboto"/>
              <a:cs typeface="Roboto"/>
              <a:sym typeface="Roboto"/>
            </a:endParaRPr>
          </a:p>
        </p:txBody>
      </p:sp>
      <p:sp>
        <p:nvSpPr>
          <p:cNvPr id="16" name="TextBox 16"/>
          <p:cNvSpPr txBox="1"/>
          <p:nvPr/>
        </p:nvSpPr>
        <p:spPr>
          <a:xfrm>
            <a:off x="1573578" y="9051607"/>
            <a:ext cx="3903301" cy="346249"/>
          </a:xfrm>
          <a:prstGeom prst="rect">
            <a:avLst/>
          </a:prstGeom>
        </p:spPr>
        <p:txBody>
          <a:bodyPr lIns="0" tIns="0" rIns="0" bIns="0" rtlCol="0" anchor="t">
            <a:spAutoFit/>
          </a:bodyPr>
          <a:lstStyle/>
          <a:p>
            <a:pPr>
              <a:lnSpc>
                <a:spcPts val="2939"/>
              </a:lnSpc>
            </a:pPr>
            <a:r>
              <a:rPr lang="en-US" sz="2099" dirty="0">
                <a:solidFill>
                  <a:srgbClr val="69498D"/>
                </a:solidFill>
                <a:latin typeface="Roboto"/>
                <a:ea typeface="Roboto"/>
                <a:cs typeface="Roboto"/>
                <a:sym typeface="Roboto"/>
              </a:rPr>
              <a:t>Final Review</a:t>
            </a:r>
          </a:p>
        </p:txBody>
      </p:sp>
      <p:sp>
        <p:nvSpPr>
          <p:cNvPr id="17" name="Text 0"/>
          <p:cNvSpPr/>
          <p:nvPr/>
        </p:nvSpPr>
        <p:spPr>
          <a:xfrm>
            <a:off x="1103632" y="1592651"/>
            <a:ext cx="6465927" cy="502563"/>
          </a:xfrm>
          <a:prstGeom prst="rect">
            <a:avLst/>
          </a:prstGeom>
          <a:noFill/>
          <a:ln/>
        </p:spPr>
        <p:txBody>
          <a:bodyPr wrap="none" lIns="0" tIns="0" rIns="0" bIns="0" rtlCol="0" anchor="t"/>
          <a:lstStyle/>
          <a:p>
            <a:pPr marL="0" indent="0" algn="l">
              <a:lnSpc>
                <a:spcPts val="3950"/>
              </a:lnSpc>
              <a:buNone/>
            </a:pPr>
            <a:r>
              <a:rPr lang="en-US" sz="3500" b="1" dirty="0">
                <a:solidFill>
                  <a:srgbClr val="000000"/>
                </a:solidFill>
                <a:latin typeface="Montserrat Bold" pitchFamily="34" charset="0"/>
              </a:rPr>
              <a:t>Problem Statement</a:t>
            </a:r>
            <a:endParaRPr lang="en-US" sz="3500" dirty="0"/>
          </a:p>
        </p:txBody>
      </p:sp>
      <p:pic>
        <p:nvPicPr>
          <p:cNvPr id="18" name="Image 1" descr="preencoded.png"/>
          <p:cNvPicPr>
            <a:picLocks noChangeAspect="1"/>
          </p:cNvPicPr>
          <p:nvPr/>
        </p:nvPicPr>
        <p:blipFill>
          <a:blip r:embed="rId6"/>
          <a:stretch>
            <a:fillRect/>
          </a:stretch>
        </p:blipFill>
        <p:spPr>
          <a:xfrm>
            <a:off x="1377196" y="2299383"/>
            <a:ext cx="884396" cy="1061323"/>
          </a:xfrm>
          <a:prstGeom prst="rect">
            <a:avLst/>
          </a:prstGeom>
        </p:spPr>
      </p:pic>
      <p:sp>
        <p:nvSpPr>
          <p:cNvPr id="19" name="Text 1"/>
          <p:cNvSpPr/>
          <p:nvPr/>
        </p:nvSpPr>
        <p:spPr>
          <a:xfrm>
            <a:off x="2453163" y="2398700"/>
            <a:ext cx="2313503" cy="251222"/>
          </a:xfrm>
          <a:prstGeom prst="rect">
            <a:avLst/>
          </a:prstGeom>
          <a:noFill/>
          <a:ln/>
        </p:spPr>
        <p:txBody>
          <a:bodyPr wrap="none" lIns="0" tIns="0" rIns="0" bIns="0" rtlCol="0" anchor="t"/>
          <a:lstStyle/>
          <a:p>
            <a:pPr marL="0" indent="0" algn="l">
              <a:lnSpc>
                <a:spcPts val="1950"/>
              </a:lnSpc>
              <a:buNone/>
            </a:pPr>
            <a:r>
              <a:rPr lang="en-US" sz="2000" b="1" dirty="0">
                <a:solidFill>
                  <a:srgbClr val="3D3838"/>
                </a:solidFill>
                <a:latin typeface="Montserrat Bold" pitchFamily="34" charset="0"/>
                <a:ea typeface="Montserrat Bold" pitchFamily="34" charset="-122"/>
                <a:cs typeface="Montserrat Bold" pitchFamily="34" charset="-120"/>
              </a:rPr>
              <a:t>Requirement Analysis</a:t>
            </a:r>
            <a:endParaRPr lang="en-US" sz="2000" dirty="0"/>
          </a:p>
        </p:txBody>
      </p:sp>
      <p:sp>
        <p:nvSpPr>
          <p:cNvPr id="20" name="Text 2"/>
          <p:cNvSpPr/>
          <p:nvPr/>
        </p:nvSpPr>
        <p:spPr>
          <a:xfrm>
            <a:off x="2438399" y="2817149"/>
            <a:ext cx="13944601" cy="5310568"/>
          </a:xfrm>
          <a:prstGeom prst="rect">
            <a:avLst/>
          </a:prstGeom>
          <a:noFill/>
          <a:ln/>
        </p:spPr>
        <p:txBody>
          <a:bodyPr wrap="none" lIns="0" tIns="0" rIns="0" bIns="0" rtlCol="0" anchor="t"/>
          <a:lstStyle/>
          <a:p>
            <a:pPr algn="just">
              <a:lnSpc>
                <a:spcPct val="150000"/>
              </a:lnSpc>
            </a:pPr>
            <a:r>
              <a:rPr lang="en-US" sz="2800" b="1" dirty="0">
                <a:latin typeface="Source Sans 3" panose="020B0604020202020204" charset="0"/>
                <a:cs typeface="Source Sans 3" panose="020B0604020202020204" charset="0"/>
              </a:rPr>
              <a:t>Problem Definition</a:t>
            </a:r>
            <a:r>
              <a:rPr lang="en-US" sz="2800" dirty="0">
                <a:latin typeface="Source Sans 3" panose="020B0604020202020204" charset="0"/>
                <a:cs typeface="Source Sans 3" panose="020B0604020202020204" charset="0"/>
              </a:rPr>
              <a:t>: Non-uniform illumination in low-light face images causes poor</a:t>
            </a:r>
          </a:p>
          <a:p>
            <a:pPr algn="just">
              <a:lnSpc>
                <a:spcPct val="150000"/>
              </a:lnSpc>
            </a:pPr>
            <a:r>
              <a:rPr lang="en-US" sz="2800" dirty="0">
                <a:latin typeface="Source Sans 3" panose="020B0604020202020204" charset="0"/>
                <a:cs typeface="Source Sans 3" panose="020B0604020202020204" charset="0"/>
              </a:rPr>
              <a:t>recognition/detection performance</a:t>
            </a:r>
          </a:p>
          <a:p>
            <a:pPr algn="just">
              <a:lnSpc>
                <a:spcPct val="150000"/>
              </a:lnSpc>
            </a:pPr>
            <a:r>
              <a:rPr lang="en-US" sz="2800" b="1" dirty="0">
                <a:latin typeface="Source Sans 3" panose="020B0604020202020204" charset="0"/>
                <a:cs typeface="Source Sans 3" panose="020B0604020202020204" charset="0"/>
              </a:rPr>
              <a:t>Input Requirements</a:t>
            </a:r>
            <a:r>
              <a:rPr lang="en-US" sz="2800" dirty="0">
                <a:latin typeface="Source Sans 3" panose="020B0604020202020204" charset="0"/>
                <a:cs typeface="Source Sans 3" panose="020B0604020202020204" charset="0"/>
              </a:rPr>
              <a:t>: Low-light face image datasets </a:t>
            </a:r>
          </a:p>
          <a:p>
            <a:pPr algn="just">
              <a:lnSpc>
                <a:spcPct val="150000"/>
              </a:lnSpc>
            </a:pPr>
            <a:r>
              <a:rPr lang="en-US" sz="2800" b="1" dirty="0">
                <a:latin typeface="Source Sans 3" panose="020B0604020202020204" charset="0"/>
                <a:cs typeface="Source Sans 3" panose="020B0604020202020204" charset="0"/>
              </a:rPr>
              <a:t>Output Requirements</a:t>
            </a:r>
            <a:r>
              <a:rPr lang="en-US" sz="2800" dirty="0">
                <a:latin typeface="Source Sans 3" panose="020B0604020202020204" charset="0"/>
                <a:cs typeface="Source Sans 3" panose="020B0604020202020204" charset="0"/>
              </a:rPr>
              <a:t>: Enhanced face images with uniform illumination and preserved </a:t>
            </a:r>
          </a:p>
          <a:p>
            <a:pPr algn="just">
              <a:lnSpc>
                <a:spcPct val="150000"/>
              </a:lnSpc>
            </a:pPr>
            <a:r>
              <a:rPr lang="en-US" sz="2800" dirty="0">
                <a:latin typeface="Source Sans 3" panose="020B0604020202020204" charset="0"/>
                <a:cs typeface="Source Sans 3" panose="020B0604020202020204" charset="0"/>
              </a:rPr>
              <a:t>facial features</a:t>
            </a:r>
          </a:p>
          <a:p>
            <a:pPr algn="just">
              <a:lnSpc>
                <a:spcPct val="150000"/>
              </a:lnSpc>
            </a:pPr>
            <a:r>
              <a:rPr lang="en-US" sz="2800" b="1" dirty="0">
                <a:latin typeface="Source Sans 3" panose="020B0604020202020204" charset="0"/>
                <a:cs typeface="Source Sans 3" panose="020B0604020202020204" charset="0"/>
              </a:rPr>
              <a:t>Performance Metrics</a:t>
            </a:r>
            <a:r>
              <a:rPr lang="en-US" sz="2800" dirty="0">
                <a:latin typeface="Source Sans 3" panose="020B0604020202020204" charset="0"/>
                <a:cs typeface="Source Sans 3" panose="020B0604020202020204" charset="0"/>
              </a:rPr>
              <a:t>: PSNR, SSIM, entropy, accuracy</a:t>
            </a:r>
          </a:p>
        </p:txBody>
      </p:sp>
      <p:sp>
        <p:nvSpPr>
          <p:cNvPr id="28" name="Text 7"/>
          <p:cNvSpPr/>
          <p:nvPr/>
        </p:nvSpPr>
        <p:spPr>
          <a:xfrm>
            <a:off x="2438400" y="7181438"/>
            <a:ext cx="2010132" cy="251222"/>
          </a:xfrm>
          <a:prstGeom prst="rect">
            <a:avLst/>
          </a:prstGeom>
          <a:noFill/>
          <a:ln/>
        </p:spPr>
        <p:txBody>
          <a:bodyPr wrap="none" lIns="0" tIns="0" rIns="0" bIns="0" rtlCol="0" anchor="t"/>
          <a:lstStyle/>
          <a:p>
            <a:pPr marL="0" indent="0" algn="l">
              <a:lnSpc>
                <a:spcPts val="1950"/>
              </a:lnSpc>
              <a:buNone/>
            </a:pPr>
            <a:endParaRPr lang="en-US" sz="20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8</a:t>
            </a:fld>
            <a:endParaRPr lang="en-US"/>
          </a:p>
        </p:txBody>
      </p:sp>
      <p:pic>
        <p:nvPicPr>
          <p:cNvPr id="30" name="Picture 2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243189" y="174336"/>
            <a:ext cx="740449" cy="770067"/>
          </a:xfrm>
          <a:prstGeom prst="rect">
            <a:avLst/>
          </a:prstGeom>
        </p:spPr>
      </p:pic>
    </p:spTree>
    <p:extLst>
      <p:ext uri="{BB962C8B-B14F-4D97-AF65-F5344CB8AC3E}">
        <p14:creationId xmlns:p14="http://schemas.microsoft.com/office/powerpoint/2010/main" val="33230339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3F0D9E-657F-408A-B8FC-51703B7C91E3}"/>
              </a:ext>
            </a:extLst>
          </p:cNvPr>
          <p:cNvSpPr>
            <a:spLocks noGrp="1"/>
          </p:cNvSpPr>
          <p:nvPr>
            <p:ph type="sldNum" sz="quarter" idx="12"/>
          </p:nvPr>
        </p:nvSpPr>
        <p:spPr/>
        <p:txBody>
          <a:bodyPr/>
          <a:lstStyle/>
          <a:p>
            <a:fld id="{B6F15528-21DE-4FAA-801E-634DDDAF4B2B}" type="slidenum">
              <a:rPr lang="en-US" smtClean="0"/>
              <a:pPr/>
              <a:t>9</a:t>
            </a:fld>
            <a:endParaRPr lang="en-US" dirty="0"/>
          </a:p>
        </p:txBody>
      </p:sp>
      <p:sp>
        <p:nvSpPr>
          <p:cNvPr id="3" name="Slide Number Placeholder 1">
            <a:extLst>
              <a:ext uri="{FF2B5EF4-FFF2-40B4-BE49-F238E27FC236}">
                <a16:creationId xmlns:a16="http://schemas.microsoft.com/office/drawing/2014/main" id="{7581CD02-FEA0-4BFC-A74B-0F067C6E0F91}"/>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9</a:t>
            </a:fld>
            <a:endParaRPr lang="en-US" dirty="0"/>
          </a:p>
        </p:txBody>
      </p:sp>
      <p:sp>
        <p:nvSpPr>
          <p:cNvPr id="4" name="AutoShape 2">
            <a:extLst>
              <a:ext uri="{FF2B5EF4-FFF2-40B4-BE49-F238E27FC236}">
                <a16:creationId xmlns:a16="http://schemas.microsoft.com/office/drawing/2014/main" id="{7A58A8D3-5AF4-4241-AD5C-FBD4DB11C635}"/>
              </a:ext>
            </a:extLst>
          </p:cNvPr>
          <p:cNvSpPr/>
          <p:nvPr/>
        </p:nvSpPr>
        <p:spPr>
          <a:xfrm>
            <a:off x="4195002" y="9258300"/>
            <a:ext cx="13064298" cy="0"/>
          </a:xfrm>
          <a:prstGeom prst="line">
            <a:avLst/>
          </a:prstGeom>
          <a:ln w="19050" cap="flat">
            <a:solidFill>
              <a:srgbClr val="48276D"/>
            </a:solidFill>
            <a:prstDash val="solid"/>
            <a:headEnd type="none" w="sm" len="sm"/>
            <a:tailEnd type="none" w="sm" len="sm"/>
          </a:ln>
        </p:spPr>
      </p:sp>
      <p:sp>
        <p:nvSpPr>
          <p:cNvPr id="5" name="Freeform 3">
            <a:extLst>
              <a:ext uri="{FF2B5EF4-FFF2-40B4-BE49-F238E27FC236}">
                <a16:creationId xmlns:a16="http://schemas.microsoft.com/office/drawing/2014/main" id="{7D446FA5-E6E9-4423-991D-021CED8550D9}"/>
              </a:ext>
            </a:extLst>
          </p:cNvPr>
          <p:cNvSpPr/>
          <p:nvPr/>
        </p:nvSpPr>
        <p:spPr>
          <a:xfrm>
            <a:off x="15498007" y="79244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35000"/>
              <a:extLst>
                <a:ext uri="{96DAC541-7B7A-43D3-8B79-37D633B846F1}">
                  <asvg:svgBlip xmlns:asvg="http://schemas.microsoft.com/office/drawing/2016/SVG/main" r:embed="rId3"/>
                </a:ext>
              </a:extLst>
            </a:blip>
            <a:stretch>
              <a:fillRect/>
            </a:stretch>
          </a:blipFill>
        </p:spPr>
      </p:sp>
      <p:sp>
        <p:nvSpPr>
          <p:cNvPr id="6" name="AutoShape 4">
            <a:extLst>
              <a:ext uri="{FF2B5EF4-FFF2-40B4-BE49-F238E27FC236}">
                <a16:creationId xmlns:a16="http://schemas.microsoft.com/office/drawing/2014/main" id="{5BDBEA98-AB8C-49F1-B31A-611DCE8F2E9D}"/>
              </a:ext>
            </a:extLst>
          </p:cNvPr>
          <p:cNvSpPr/>
          <p:nvPr/>
        </p:nvSpPr>
        <p:spPr>
          <a:xfrm flipV="1">
            <a:off x="1028700" y="1047750"/>
            <a:ext cx="16230600" cy="0"/>
          </a:xfrm>
          <a:prstGeom prst="line">
            <a:avLst/>
          </a:prstGeom>
          <a:ln w="19050" cap="flat">
            <a:solidFill>
              <a:srgbClr val="48276D"/>
            </a:solidFill>
            <a:prstDash val="solid"/>
            <a:headEnd type="none" w="sm" len="sm"/>
            <a:tailEnd type="none" w="sm" len="sm"/>
          </a:ln>
        </p:spPr>
      </p:sp>
      <p:grpSp>
        <p:nvGrpSpPr>
          <p:cNvPr id="7" name="Group 6">
            <a:extLst>
              <a:ext uri="{FF2B5EF4-FFF2-40B4-BE49-F238E27FC236}">
                <a16:creationId xmlns:a16="http://schemas.microsoft.com/office/drawing/2014/main" id="{DE1519AE-97EE-4492-96B0-E75E94F76EFF}"/>
              </a:ext>
            </a:extLst>
          </p:cNvPr>
          <p:cNvGrpSpPr/>
          <p:nvPr/>
        </p:nvGrpSpPr>
        <p:grpSpPr>
          <a:xfrm>
            <a:off x="17243189" y="2833442"/>
            <a:ext cx="1044811" cy="5724034"/>
            <a:chOff x="0" y="0"/>
            <a:chExt cx="275176" cy="1507565"/>
          </a:xfrm>
        </p:grpSpPr>
        <p:sp>
          <p:nvSpPr>
            <p:cNvPr id="8" name="Freeform 7">
              <a:extLst>
                <a:ext uri="{FF2B5EF4-FFF2-40B4-BE49-F238E27FC236}">
                  <a16:creationId xmlns:a16="http://schemas.microsoft.com/office/drawing/2014/main" id="{58CB8421-9CF8-40B4-9E93-614246C17204}"/>
                </a:ext>
              </a:extLst>
            </p:cNvPr>
            <p:cNvSpPr/>
            <p:nvPr/>
          </p:nvSpPr>
          <p:spPr>
            <a:xfrm>
              <a:off x="0" y="0"/>
              <a:ext cx="275176" cy="1507565"/>
            </a:xfrm>
            <a:custGeom>
              <a:avLst/>
              <a:gdLst/>
              <a:ahLst/>
              <a:cxnLst/>
              <a:rect l="l" t="t" r="r" b="b"/>
              <a:pathLst>
                <a:path w="275176" h="1507565">
                  <a:moveTo>
                    <a:pt x="0" y="0"/>
                  </a:moveTo>
                  <a:lnTo>
                    <a:pt x="275176" y="0"/>
                  </a:lnTo>
                  <a:lnTo>
                    <a:pt x="275176" y="1507565"/>
                  </a:lnTo>
                  <a:lnTo>
                    <a:pt x="0" y="1507565"/>
                  </a:lnTo>
                  <a:close/>
                </a:path>
              </a:pathLst>
            </a:custGeom>
            <a:gradFill rotWithShape="1">
              <a:gsLst>
                <a:gs pos="0">
                  <a:srgbClr val="9374B3">
                    <a:alpha val="100000"/>
                  </a:srgbClr>
                </a:gs>
                <a:gs pos="50000">
                  <a:srgbClr val="7161A6">
                    <a:alpha val="100000"/>
                  </a:srgbClr>
                </a:gs>
                <a:gs pos="100000">
                  <a:srgbClr val="4A4D9C">
                    <a:alpha val="100000"/>
                  </a:srgbClr>
                </a:gs>
              </a:gsLst>
              <a:lin ang="0"/>
            </a:gradFill>
          </p:spPr>
        </p:sp>
        <p:sp>
          <p:nvSpPr>
            <p:cNvPr id="9" name="TextBox 8">
              <a:extLst>
                <a:ext uri="{FF2B5EF4-FFF2-40B4-BE49-F238E27FC236}">
                  <a16:creationId xmlns:a16="http://schemas.microsoft.com/office/drawing/2014/main" id="{100D67AE-1E04-485B-8370-6C8B261E4B6A}"/>
                </a:ext>
              </a:extLst>
            </p:cNvPr>
            <p:cNvSpPr txBox="1"/>
            <p:nvPr/>
          </p:nvSpPr>
          <p:spPr>
            <a:xfrm>
              <a:off x="0" y="-38100"/>
              <a:ext cx="275176" cy="1545665"/>
            </a:xfrm>
            <a:prstGeom prst="rect">
              <a:avLst/>
            </a:prstGeom>
          </p:spPr>
          <p:txBody>
            <a:bodyPr lIns="50800" tIns="50800" rIns="50800" bIns="50800" rtlCol="0" anchor="ctr"/>
            <a:lstStyle/>
            <a:p>
              <a:pPr algn="ctr">
                <a:lnSpc>
                  <a:spcPts val="2659"/>
                </a:lnSpc>
                <a:spcBef>
                  <a:spcPct val="0"/>
                </a:spcBef>
              </a:pPr>
              <a:endParaRPr dirty="0"/>
            </a:p>
          </p:txBody>
        </p:sp>
      </p:grpSp>
      <p:sp>
        <p:nvSpPr>
          <p:cNvPr id="10" name="Freeform 9">
            <a:extLst>
              <a:ext uri="{FF2B5EF4-FFF2-40B4-BE49-F238E27FC236}">
                <a16:creationId xmlns:a16="http://schemas.microsoft.com/office/drawing/2014/main" id="{5EE9B903-B0A0-4B65-BA78-9AE7238F425D}"/>
              </a:ext>
            </a:extLst>
          </p:cNvPr>
          <p:cNvSpPr/>
          <p:nvPr/>
        </p:nvSpPr>
        <p:spPr>
          <a:xfrm rot="-5400000">
            <a:off x="17461217" y="3939708"/>
            <a:ext cx="711163" cy="177791"/>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AutoShape 10">
            <a:extLst>
              <a:ext uri="{FF2B5EF4-FFF2-40B4-BE49-F238E27FC236}">
                <a16:creationId xmlns:a16="http://schemas.microsoft.com/office/drawing/2014/main" id="{D84B7595-B80B-4B6C-9E93-D2F1C6FA2157}"/>
              </a:ext>
            </a:extLst>
          </p:cNvPr>
          <p:cNvSpPr/>
          <p:nvPr/>
        </p:nvSpPr>
        <p:spPr>
          <a:xfrm flipV="1">
            <a:off x="17807273" y="4933828"/>
            <a:ext cx="0" cy="1044644"/>
          </a:xfrm>
          <a:prstGeom prst="line">
            <a:avLst/>
          </a:prstGeom>
          <a:ln w="19050" cap="flat">
            <a:solidFill>
              <a:srgbClr val="FFFFFF"/>
            </a:solidFill>
            <a:prstDash val="solid"/>
            <a:headEnd type="none" w="sm" len="sm"/>
            <a:tailEnd type="none" w="sm" len="sm"/>
          </a:ln>
        </p:spPr>
      </p:sp>
      <p:sp>
        <p:nvSpPr>
          <p:cNvPr id="12" name="Freeform 11">
            <a:extLst>
              <a:ext uri="{FF2B5EF4-FFF2-40B4-BE49-F238E27FC236}">
                <a16:creationId xmlns:a16="http://schemas.microsoft.com/office/drawing/2014/main" id="{84DFC8D1-F6EB-4D83-9FCC-09B0132948BA}"/>
              </a:ext>
            </a:extLst>
          </p:cNvPr>
          <p:cNvSpPr/>
          <p:nvPr/>
        </p:nvSpPr>
        <p:spPr>
          <a:xfrm rot="-5400000">
            <a:off x="17461217" y="6862572"/>
            <a:ext cx="711163" cy="177791"/>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TextBox 13">
            <a:extLst>
              <a:ext uri="{FF2B5EF4-FFF2-40B4-BE49-F238E27FC236}">
                <a16:creationId xmlns:a16="http://schemas.microsoft.com/office/drawing/2014/main" id="{7B7AE335-5D3B-465D-86F2-461B1932AA38}"/>
              </a:ext>
            </a:extLst>
          </p:cNvPr>
          <p:cNvSpPr txBox="1"/>
          <p:nvPr/>
        </p:nvSpPr>
        <p:spPr>
          <a:xfrm>
            <a:off x="1103632" y="592747"/>
            <a:ext cx="2224931" cy="371897"/>
          </a:xfrm>
          <a:prstGeom prst="rect">
            <a:avLst/>
          </a:prstGeom>
        </p:spPr>
        <p:txBody>
          <a:bodyPr lIns="0" tIns="0" rIns="0" bIns="0" rtlCol="0" anchor="t">
            <a:spAutoFit/>
          </a:bodyPr>
          <a:lstStyle/>
          <a:p>
            <a:pPr algn="l">
              <a:lnSpc>
                <a:spcPts val="2939"/>
              </a:lnSpc>
            </a:pPr>
            <a:r>
              <a:rPr lang="en-US" sz="2099" dirty="0">
                <a:solidFill>
                  <a:srgbClr val="69498D"/>
                </a:solidFill>
                <a:latin typeface="Roboto"/>
                <a:ea typeface="Roboto"/>
                <a:cs typeface="Roboto"/>
                <a:sym typeface="Roboto"/>
              </a:rPr>
              <a:t>R20 Regulations</a:t>
            </a:r>
          </a:p>
        </p:txBody>
      </p:sp>
      <p:sp>
        <p:nvSpPr>
          <p:cNvPr id="14" name="TextBox 14">
            <a:extLst>
              <a:ext uri="{FF2B5EF4-FFF2-40B4-BE49-F238E27FC236}">
                <a16:creationId xmlns:a16="http://schemas.microsoft.com/office/drawing/2014/main" id="{66BC79F9-D72B-410C-811F-386F45F8AB26}"/>
              </a:ext>
            </a:extLst>
          </p:cNvPr>
          <p:cNvSpPr txBox="1"/>
          <p:nvPr/>
        </p:nvSpPr>
        <p:spPr>
          <a:xfrm>
            <a:off x="8137006" y="662940"/>
            <a:ext cx="2026105" cy="371897"/>
          </a:xfrm>
          <a:prstGeom prst="rect">
            <a:avLst/>
          </a:prstGeom>
        </p:spPr>
        <p:txBody>
          <a:bodyPr lIns="0" tIns="0" rIns="0" bIns="0" rtlCol="0" anchor="t">
            <a:spAutoFit/>
          </a:bodyPr>
          <a:lstStyle/>
          <a:p>
            <a:pPr algn="ctr">
              <a:lnSpc>
                <a:spcPts val="2939"/>
              </a:lnSpc>
            </a:pPr>
            <a:r>
              <a:rPr lang="en-US" sz="2099" dirty="0">
                <a:solidFill>
                  <a:srgbClr val="69498D"/>
                </a:solidFill>
                <a:latin typeface="Roboto"/>
                <a:ea typeface="Roboto"/>
                <a:cs typeface="Roboto"/>
                <a:sym typeface="Roboto"/>
              </a:rPr>
              <a:t>IV B. Tech ECE</a:t>
            </a:r>
          </a:p>
        </p:txBody>
      </p:sp>
      <p:sp>
        <p:nvSpPr>
          <p:cNvPr id="15" name="TextBox 15">
            <a:extLst>
              <a:ext uri="{FF2B5EF4-FFF2-40B4-BE49-F238E27FC236}">
                <a16:creationId xmlns:a16="http://schemas.microsoft.com/office/drawing/2014/main" id="{97260ACE-B30D-41FF-B328-3CC37DB95C85}"/>
              </a:ext>
            </a:extLst>
          </p:cNvPr>
          <p:cNvSpPr txBox="1"/>
          <p:nvPr/>
        </p:nvSpPr>
        <p:spPr>
          <a:xfrm>
            <a:off x="13151090" y="701472"/>
            <a:ext cx="3903301" cy="737235"/>
          </a:xfrm>
          <a:prstGeom prst="rect">
            <a:avLst/>
          </a:prstGeom>
        </p:spPr>
        <p:txBody>
          <a:bodyPr lIns="0" tIns="0" rIns="0" bIns="0" rtlCol="0" anchor="t">
            <a:spAutoFit/>
          </a:bodyPr>
          <a:lstStyle/>
          <a:p>
            <a:pPr algn="l">
              <a:lnSpc>
                <a:spcPts val="2939"/>
              </a:lnSpc>
            </a:pPr>
            <a:r>
              <a:rPr lang="en-US" sz="2099" dirty="0">
                <a:solidFill>
                  <a:srgbClr val="69498D"/>
                </a:solidFill>
                <a:latin typeface="Roboto"/>
                <a:ea typeface="Roboto"/>
                <a:cs typeface="Roboto"/>
                <a:sym typeface="Roboto"/>
              </a:rPr>
              <a:t>Ac. Year : 2025-26/ Semester -II</a:t>
            </a:r>
          </a:p>
          <a:p>
            <a:pPr algn="l">
              <a:lnSpc>
                <a:spcPts val="2939"/>
              </a:lnSpc>
            </a:pPr>
            <a:endParaRPr lang="en-US" sz="2099" dirty="0">
              <a:solidFill>
                <a:srgbClr val="69498D"/>
              </a:solidFill>
              <a:latin typeface="Roboto"/>
              <a:ea typeface="Roboto"/>
              <a:cs typeface="Roboto"/>
              <a:sym typeface="Roboto"/>
            </a:endParaRPr>
          </a:p>
        </p:txBody>
      </p:sp>
      <p:sp>
        <p:nvSpPr>
          <p:cNvPr id="16" name="TextBox 16">
            <a:extLst>
              <a:ext uri="{FF2B5EF4-FFF2-40B4-BE49-F238E27FC236}">
                <a16:creationId xmlns:a16="http://schemas.microsoft.com/office/drawing/2014/main" id="{09352D3E-6F6D-49E5-AF63-6BEA514B55A0}"/>
              </a:ext>
            </a:extLst>
          </p:cNvPr>
          <p:cNvSpPr txBox="1"/>
          <p:nvPr/>
        </p:nvSpPr>
        <p:spPr>
          <a:xfrm>
            <a:off x="1573578" y="9051607"/>
            <a:ext cx="3903301" cy="346249"/>
          </a:xfrm>
          <a:prstGeom prst="rect">
            <a:avLst/>
          </a:prstGeom>
        </p:spPr>
        <p:txBody>
          <a:bodyPr lIns="0" tIns="0" rIns="0" bIns="0" rtlCol="0" anchor="t">
            <a:spAutoFit/>
          </a:bodyPr>
          <a:lstStyle/>
          <a:p>
            <a:pPr>
              <a:lnSpc>
                <a:spcPts val="2939"/>
              </a:lnSpc>
            </a:pPr>
            <a:r>
              <a:rPr lang="en-US" sz="2099" dirty="0">
                <a:solidFill>
                  <a:srgbClr val="69498D"/>
                </a:solidFill>
                <a:latin typeface="Roboto"/>
                <a:ea typeface="Roboto"/>
                <a:cs typeface="Roboto"/>
                <a:sym typeface="Roboto"/>
              </a:rPr>
              <a:t>Final Review</a:t>
            </a:r>
          </a:p>
        </p:txBody>
      </p:sp>
      <p:sp>
        <p:nvSpPr>
          <p:cNvPr id="17" name="Text 0">
            <a:extLst>
              <a:ext uri="{FF2B5EF4-FFF2-40B4-BE49-F238E27FC236}">
                <a16:creationId xmlns:a16="http://schemas.microsoft.com/office/drawing/2014/main" id="{CE1CA9EA-AA76-4DC8-96FC-15DAE41FC17B}"/>
              </a:ext>
            </a:extLst>
          </p:cNvPr>
          <p:cNvSpPr/>
          <p:nvPr/>
        </p:nvSpPr>
        <p:spPr>
          <a:xfrm>
            <a:off x="1103632" y="1592651"/>
            <a:ext cx="6465927" cy="502563"/>
          </a:xfrm>
          <a:prstGeom prst="rect">
            <a:avLst/>
          </a:prstGeom>
          <a:noFill/>
          <a:ln/>
        </p:spPr>
        <p:txBody>
          <a:bodyPr wrap="none" lIns="0" tIns="0" rIns="0" bIns="0" rtlCol="0" anchor="t"/>
          <a:lstStyle/>
          <a:p>
            <a:pPr marL="0" indent="0" algn="l">
              <a:lnSpc>
                <a:spcPts val="3950"/>
              </a:lnSpc>
              <a:buNone/>
            </a:pPr>
            <a:r>
              <a:rPr lang="en-US" sz="3500" b="1" dirty="0">
                <a:solidFill>
                  <a:srgbClr val="000000"/>
                </a:solidFill>
                <a:latin typeface="Montserrat Bold" pitchFamily="34" charset="0"/>
                <a:ea typeface="Montserrat Bold" pitchFamily="34" charset="-122"/>
                <a:cs typeface="Montserrat Bold" pitchFamily="34" charset="-120"/>
              </a:rPr>
              <a:t>System Design &amp; Methodology</a:t>
            </a:r>
            <a:endParaRPr lang="en-US" sz="3500" dirty="0"/>
          </a:p>
        </p:txBody>
      </p:sp>
      <p:sp>
        <p:nvSpPr>
          <p:cNvPr id="18" name="Text 1">
            <a:extLst>
              <a:ext uri="{FF2B5EF4-FFF2-40B4-BE49-F238E27FC236}">
                <a16:creationId xmlns:a16="http://schemas.microsoft.com/office/drawing/2014/main" id="{A9153C11-E651-4783-B113-0BC396FC6FFE}"/>
              </a:ext>
            </a:extLst>
          </p:cNvPr>
          <p:cNvSpPr/>
          <p:nvPr/>
        </p:nvSpPr>
        <p:spPr>
          <a:xfrm>
            <a:off x="2453163" y="2398700"/>
            <a:ext cx="2313503" cy="251222"/>
          </a:xfrm>
          <a:prstGeom prst="rect">
            <a:avLst/>
          </a:prstGeom>
          <a:noFill/>
          <a:ln/>
        </p:spPr>
        <p:txBody>
          <a:bodyPr wrap="none" lIns="0" tIns="0" rIns="0" bIns="0" rtlCol="0" anchor="t"/>
          <a:lstStyle/>
          <a:p>
            <a:pPr marL="0" indent="0" algn="l">
              <a:lnSpc>
                <a:spcPts val="1950"/>
              </a:lnSpc>
              <a:buNone/>
            </a:pPr>
            <a:endParaRPr lang="en-US" sz="2000" dirty="0"/>
          </a:p>
        </p:txBody>
      </p:sp>
      <p:pic>
        <p:nvPicPr>
          <p:cNvPr id="19" name="Image 2" descr="preencoded.png">
            <a:extLst>
              <a:ext uri="{FF2B5EF4-FFF2-40B4-BE49-F238E27FC236}">
                <a16:creationId xmlns:a16="http://schemas.microsoft.com/office/drawing/2014/main" id="{C2035531-159E-4EC7-87C0-19E5432B883A}"/>
              </a:ext>
            </a:extLst>
          </p:cNvPr>
          <p:cNvPicPr>
            <a:picLocks noChangeAspect="1"/>
          </p:cNvPicPr>
          <p:nvPr/>
        </p:nvPicPr>
        <p:blipFill>
          <a:blip r:embed="rId6"/>
          <a:stretch>
            <a:fillRect/>
          </a:stretch>
        </p:blipFill>
        <p:spPr>
          <a:xfrm>
            <a:off x="1301221" y="2119260"/>
            <a:ext cx="884396" cy="1061323"/>
          </a:xfrm>
          <a:prstGeom prst="rect">
            <a:avLst/>
          </a:prstGeom>
        </p:spPr>
      </p:pic>
      <p:sp>
        <p:nvSpPr>
          <p:cNvPr id="20" name="Text 3">
            <a:extLst>
              <a:ext uri="{FF2B5EF4-FFF2-40B4-BE49-F238E27FC236}">
                <a16:creationId xmlns:a16="http://schemas.microsoft.com/office/drawing/2014/main" id="{369D695C-14CA-4BEE-A1CD-D93BC6AD5A47}"/>
              </a:ext>
            </a:extLst>
          </p:cNvPr>
          <p:cNvSpPr/>
          <p:nvPr/>
        </p:nvSpPr>
        <p:spPr>
          <a:xfrm>
            <a:off x="2328862" y="2319092"/>
            <a:ext cx="2119670" cy="251222"/>
          </a:xfrm>
          <a:prstGeom prst="rect">
            <a:avLst/>
          </a:prstGeom>
          <a:noFill/>
          <a:ln/>
        </p:spPr>
        <p:txBody>
          <a:bodyPr wrap="none" lIns="0" tIns="0" rIns="0" bIns="0" rtlCol="0" anchor="t"/>
          <a:lstStyle/>
          <a:p>
            <a:pPr marL="0" indent="0" algn="l">
              <a:lnSpc>
                <a:spcPts val="1950"/>
              </a:lnSpc>
              <a:buNone/>
            </a:pPr>
            <a:r>
              <a:rPr lang="en-US" sz="2000" b="1" dirty="0">
                <a:solidFill>
                  <a:srgbClr val="3D3838"/>
                </a:solidFill>
                <a:latin typeface="Montserrat Bold" pitchFamily="34" charset="0"/>
                <a:ea typeface="Montserrat Bold" pitchFamily="34" charset="-122"/>
                <a:cs typeface="Montserrat Bold" pitchFamily="34" charset="-120"/>
              </a:rPr>
              <a:t>Architecture Design</a:t>
            </a:r>
            <a:endParaRPr lang="en-US" sz="2000" dirty="0"/>
          </a:p>
        </p:txBody>
      </p:sp>
      <p:sp>
        <p:nvSpPr>
          <p:cNvPr id="21" name="Text 4">
            <a:extLst>
              <a:ext uri="{FF2B5EF4-FFF2-40B4-BE49-F238E27FC236}">
                <a16:creationId xmlns:a16="http://schemas.microsoft.com/office/drawing/2014/main" id="{9ACB5E89-B2F9-42C7-A603-74CD958055C5}"/>
              </a:ext>
            </a:extLst>
          </p:cNvPr>
          <p:cNvSpPr/>
          <p:nvPr/>
        </p:nvSpPr>
        <p:spPr>
          <a:xfrm>
            <a:off x="2328862" y="2719787"/>
            <a:ext cx="14399018" cy="5951343"/>
          </a:xfrm>
          <a:prstGeom prst="rect">
            <a:avLst/>
          </a:prstGeom>
          <a:noFill/>
          <a:ln/>
        </p:spPr>
        <p:txBody>
          <a:bodyPr wrap="none" lIns="0" tIns="0" rIns="0" bIns="0" rtlCol="0" anchor="t"/>
          <a:lstStyle/>
          <a:p>
            <a:pPr marL="0" indent="0" algn="l">
              <a:lnSpc>
                <a:spcPts val="2050"/>
              </a:lnSpc>
              <a:buNone/>
            </a:pPr>
            <a:r>
              <a:rPr lang="en-US" dirty="0">
                <a:solidFill>
                  <a:srgbClr val="3D3838"/>
                </a:solidFill>
                <a:latin typeface="Source Sans 3" pitchFamily="34" charset="0"/>
                <a:ea typeface="Source Sans 3" pitchFamily="34" charset="-122"/>
                <a:cs typeface="Source Sans 3" pitchFamily="34" charset="-120"/>
              </a:rPr>
              <a:t>Created comprehensive block diagrams and module structures</a:t>
            </a:r>
          </a:p>
          <a:p>
            <a:pPr marL="0" indent="0" algn="l">
              <a:lnSpc>
                <a:spcPts val="2050"/>
              </a:lnSpc>
              <a:buNone/>
            </a:pPr>
            <a:endParaRPr lang="en-US" dirty="0"/>
          </a:p>
        </p:txBody>
      </p:sp>
      <p:sp>
        <p:nvSpPr>
          <p:cNvPr id="22" name="Text 5">
            <a:extLst>
              <a:ext uri="{FF2B5EF4-FFF2-40B4-BE49-F238E27FC236}">
                <a16:creationId xmlns:a16="http://schemas.microsoft.com/office/drawing/2014/main" id="{1EFF08AC-AB20-45F8-8877-A9FF13DF266D}"/>
              </a:ext>
            </a:extLst>
          </p:cNvPr>
          <p:cNvSpPr/>
          <p:nvPr/>
        </p:nvSpPr>
        <p:spPr>
          <a:xfrm>
            <a:off x="2453163" y="5378629"/>
            <a:ext cx="2283976" cy="251222"/>
          </a:xfrm>
          <a:prstGeom prst="rect">
            <a:avLst/>
          </a:prstGeom>
          <a:noFill/>
          <a:ln/>
        </p:spPr>
        <p:txBody>
          <a:bodyPr wrap="none" lIns="0" tIns="0" rIns="0" bIns="0" rtlCol="0" anchor="t"/>
          <a:lstStyle/>
          <a:p>
            <a:pPr marL="0" indent="0" algn="l">
              <a:lnSpc>
                <a:spcPts val="1950"/>
              </a:lnSpc>
              <a:buNone/>
            </a:pPr>
            <a:endParaRPr lang="en-US" sz="2000" dirty="0"/>
          </a:p>
        </p:txBody>
      </p:sp>
      <p:sp>
        <p:nvSpPr>
          <p:cNvPr id="24" name="Text 7">
            <a:extLst>
              <a:ext uri="{FF2B5EF4-FFF2-40B4-BE49-F238E27FC236}">
                <a16:creationId xmlns:a16="http://schemas.microsoft.com/office/drawing/2014/main" id="{DD8FEDCB-DB7C-4976-AB44-8E995793CEAE}"/>
              </a:ext>
            </a:extLst>
          </p:cNvPr>
          <p:cNvSpPr/>
          <p:nvPr/>
        </p:nvSpPr>
        <p:spPr>
          <a:xfrm>
            <a:off x="2438400" y="7181438"/>
            <a:ext cx="2010132" cy="251222"/>
          </a:xfrm>
          <a:prstGeom prst="rect">
            <a:avLst/>
          </a:prstGeom>
          <a:noFill/>
          <a:ln/>
        </p:spPr>
        <p:txBody>
          <a:bodyPr wrap="none" lIns="0" tIns="0" rIns="0" bIns="0" rtlCol="0" anchor="t"/>
          <a:lstStyle/>
          <a:p>
            <a:pPr marL="0" indent="0" algn="l">
              <a:lnSpc>
                <a:spcPts val="1950"/>
              </a:lnSpc>
              <a:buNone/>
            </a:pPr>
            <a:endParaRPr lang="en-US" sz="2000" dirty="0"/>
          </a:p>
        </p:txBody>
      </p:sp>
      <p:sp>
        <p:nvSpPr>
          <p:cNvPr id="25" name="Text 8">
            <a:extLst>
              <a:ext uri="{FF2B5EF4-FFF2-40B4-BE49-F238E27FC236}">
                <a16:creationId xmlns:a16="http://schemas.microsoft.com/office/drawing/2014/main" id="{B915E6BE-AE84-4AC9-9F18-96A867256A76}"/>
              </a:ext>
            </a:extLst>
          </p:cNvPr>
          <p:cNvSpPr/>
          <p:nvPr/>
        </p:nvSpPr>
        <p:spPr>
          <a:xfrm>
            <a:off x="2438400" y="7632271"/>
            <a:ext cx="6844546" cy="265390"/>
          </a:xfrm>
          <a:prstGeom prst="rect">
            <a:avLst/>
          </a:prstGeom>
          <a:noFill/>
          <a:ln/>
        </p:spPr>
        <p:txBody>
          <a:bodyPr wrap="none" lIns="0" tIns="0" rIns="0" bIns="0" rtlCol="0" anchor="t"/>
          <a:lstStyle/>
          <a:p>
            <a:pPr marL="0" indent="0" algn="l">
              <a:lnSpc>
                <a:spcPts val="2050"/>
              </a:lnSpc>
              <a:buNone/>
            </a:pPr>
            <a:endParaRPr lang="en-US" dirty="0"/>
          </a:p>
        </p:txBody>
      </p:sp>
      <p:pic>
        <p:nvPicPr>
          <p:cNvPr id="27" name="Picture 26">
            <a:extLst>
              <a:ext uri="{FF2B5EF4-FFF2-40B4-BE49-F238E27FC236}">
                <a16:creationId xmlns:a16="http://schemas.microsoft.com/office/drawing/2014/main" id="{70088A71-5F5D-42D0-9B2A-5E2A824B6E3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243189" y="174336"/>
            <a:ext cx="740449" cy="770067"/>
          </a:xfrm>
          <a:prstGeom prst="rect">
            <a:avLst/>
          </a:prstGeom>
        </p:spPr>
      </p:pic>
      <p:sp>
        <p:nvSpPr>
          <p:cNvPr id="28" name="Rectangle: Top Corners Rounded 27">
            <a:extLst>
              <a:ext uri="{FF2B5EF4-FFF2-40B4-BE49-F238E27FC236}">
                <a16:creationId xmlns:a16="http://schemas.microsoft.com/office/drawing/2014/main" id="{258C46CB-E57D-476A-BFB5-9BE8DA5C90EA}"/>
              </a:ext>
            </a:extLst>
          </p:cNvPr>
          <p:cNvSpPr/>
          <p:nvPr/>
        </p:nvSpPr>
        <p:spPr>
          <a:xfrm>
            <a:off x="6858000" y="3040118"/>
            <a:ext cx="4572000" cy="625093"/>
          </a:xfrm>
          <a:prstGeom prst="round2Same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Source Sans 3" panose="020B0604020202020204" charset="0"/>
                <a:cs typeface="Source Sans 3" panose="020B0604020202020204" charset="0"/>
              </a:rPr>
              <a:t>Input Backlit Images</a:t>
            </a:r>
          </a:p>
        </p:txBody>
      </p:sp>
      <p:sp>
        <p:nvSpPr>
          <p:cNvPr id="31" name="Rectangle: Top Corners Rounded 30">
            <a:extLst>
              <a:ext uri="{FF2B5EF4-FFF2-40B4-BE49-F238E27FC236}">
                <a16:creationId xmlns:a16="http://schemas.microsoft.com/office/drawing/2014/main" id="{45686C60-FAC6-4D41-9325-11752538ADE9}"/>
              </a:ext>
            </a:extLst>
          </p:cNvPr>
          <p:cNvSpPr/>
          <p:nvPr/>
        </p:nvSpPr>
        <p:spPr>
          <a:xfrm>
            <a:off x="6641902" y="5300875"/>
            <a:ext cx="5070316" cy="574907"/>
          </a:xfrm>
          <a:prstGeom prst="round2Same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Source Sans 3" panose="020B0604020202020204" charset="0"/>
                <a:cs typeface="Source Sans 3" panose="020B0604020202020204" charset="0"/>
              </a:rPr>
              <a:t>Light Transmission Estimation</a:t>
            </a:r>
          </a:p>
        </p:txBody>
      </p:sp>
      <p:sp>
        <p:nvSpPr>
          <p:cNvPr id="32" name="Rectangle: Top Corners Rounded 31">
            <a:extLst>
              <a:ext uri="{FF2B5EF4-FFF2-40B4-BE49-F238E27FC236}">
                <a16:creationId xmlns:a16="http://schemas.microsoft.com/office/drawing/2014/main" id="{7F25165E-0767-4346-9C53-1D48CE634CA6}"/>
              </a:ext>
            </a:extLst>
          </p:cNvPr>
          <p:cNvSpPr/>
          <p:nvPr/>
        </p:nvSpPr>
        <p:spPr>
          <a:xfrm>
            <a:off x="6858000" y="4173560"/>
            <a:ext cx="4572000" cy="625093"/>
          </a:xfrm>
          <a:prstGeom prst="round2Same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Source Sans 3" panose="020B0604020202020204" charset="0"/>
                <a:cs typeface="Source Sans 3" panose="020B0604020202020204" charset="0"/>
              </a:rPr>
              <a:t>Dark Channel Analyze</a:t>
            </a:r>
          </a:p>
        </p:txBody>
      </p:sp>
      <p:sp>
        <p:nvSpPr>
          <p:cNvPr id="33" name="Rectangle: Top Corners Rounded 32">
            <a:extLst>
              <a:ext uri="{FF2B5EF4-FFF2-40B4-BE49-F238E27FC236}">
                <a16:creationId xmlns:a16="http://schemas.microsoft.com/office/drawing/2014/main" id="{4F5358D6-5B90-4868-924E-09714E78C0EA}"/>
              </a:ext>
            </a:extLst>
          </p:cNvPr>
          <p:cNvSpPr/>
          <p:nvPr/>
        </p:nvSpPr>
        <p:spPr>
          <a:xfrm>
            <a:off x="6916109" y="6337065"/>
            <a:ext cx="4572000" cy="625093"/>
          </a:xfrm>
          <a:prstGeom prst="round2Same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Source Sans 3" panose="020B0604020202020204" charset="0"/>
                <a:cs typeface="Source Sans 3" panose="020B0604020202020204" charset="0"/>
              </a:rPr>
              <a:t>Image Uniform Posterior</a:t>
            </a:r>
          </a:p>
        </p:txBody>
      </p:sp>
      <p:sp>
        <p:nvSpPr>
          <p:cNvPr id="34" name="Rectangle: Top Corners Rounded 33">
            <a:extLst>
              <a:ext uri="{FF2B5EF4-FFF2-40B4-BE49-F238E27FC236}">
                <a16:creationId xmlns:a16="http://schemas.microsoft.com/office/drawing/2014/main" id="{7B60F438-5C41-4949-9DD1-726574C71CDF}"/>
              </a:ext>
            </a:extLst>
          </p:cNvPr>
          <p:cNvSpPr/>
          <p:nvPr/>
        </p:nvSpPr>
        <p:spPr>
          <a:xfrm>
            <a:off x="6893084" y="7459361"/>
            <a:ext cx="4572000" cy="625093"/>
          </a:xfrm>
          <a:prstGeom prst="round2Same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Source Sans 3" panose="020B0604020202020204" charset="0"/>
                <a:cs typeface="Source Sans 3" panose="020B0604020202020204" charset="0"/>
              </a:rPr>
              <a:t>Image Enhancement</a:t>
            </a:r>
          </a:p>
        </p:txBody>
      </p:sp>
      <p:sp>
        <p:nvSpPr>
          <p:cNvPr id="35" name="Rectangle: Top Corners Rounded 34">
            <a:extLst>
              <a:ext uri="{FF2B5EF4-FFF2-40B4-BE49-F238E27FC236}">
                <a16:creationId xmlns:a16="http://schemas.microsoft.com/office/drawing/2014/main" id="{02CAD341-ABAE-40E1-9A9F-BB88F03076F8}"/>
              </a:ext>
            </a:extLst>
          </p:cNvPr>
          <p:cNvSpPr/>
          <p:nvPr/>
        </p:nvSpPr>
        <p:spPr>
          <a:xfrm>
            <a:off x="6893084" y="8537295"/>
            <a:ext cx="4572000" cy="625093"/>
          </a:xfrm>
          <a:prstGeom prst="round2Same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Source Sans 3" panose="020B0604020202020204" charset="0"/>
                <a:cs typeface="Source Sans 3" panose="020B0604020202020204" charset="0"/>
              </a:rPr>
              <a:t>Output Images</a:t>
            </a:r>
          </a:p>
        </p:txBody>
      </p:sp>
      <p:sp>
        <p:nvSpPr>
          <p:cNvPr id="29" name="Arrow: Down 28">
            <a:extLst>
              <a:ext uri="{FF2B5EF4-FFF2-40B4-BE49-F238E27FC236}">
                <a16:creationId xmlns:a16="http://schemas.microsoft.com/office/drawing/2014/main" id="{AC03AB57-865B-4A57-875A-AB63AA2A7182}"/>
              </a:ext>
            </a:extLst>
          </p:cNvPr>
          <p:cNvSpPr/>
          <p:nvPr/>
        </p:nvSpPr>
        <p:spPr>
          <a:xfrm>
            <a:off x="8931330" y="3736357"/>
            <a:ext cx="425339" cy="3644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Arrow: Down 35">
            <a:extLst>
              <a:ext uri="{FF2B5EF4-FFF2-40B4-BE49-F238E27FC236}">
                <a16:creationId xmlns:a16="http://schemas.microsoft.com/office/drawing/2014/main" id="{3D4DC99F-C734-420A-B40F-12CFB1A0BD6F}"/>
              </a:ext>
            </a:extLst>
          </p:cNvPr>
          <p:cNvSpPr/>
          <p:nvPr/>
        </p:nvSpPr>
        <p:spPr>
          <a:xfrm>
            <a:off x="8931330" y="4839814"/>
            <a:ext cx="425339" cy="3644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Arrow: Down 36">
            <a:extLst>
              <a:ext uri="{FF2B5EF4-FFF2-40B4-BE49-F238E27FC236}">
                <a16:creationId xmlns:a16="http://schemas.microsoft.com/office/drawing/2014/main" id="{B2BB6C2A-69E8-41AD-BCED-A3905A60B80D}"/>
              </a:ext>
            </a:extLst>
          </p:cNvPr>
          <p:cNvSpPr/>
          <p:nvPr/>
        </p:nvSpPr>
        <p:spPr>
          <a:xfrm>
            <a:off x="8931329" y="5921008"/>
            <a:ext cx="425339" cy="3644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Arrow: Down 37">
            <a:extLst>
              <a:ext uri="{FF2B5EF4-FFF2-40B4-BE49-F238E27FC236}">
                <a16:creationId xmlns:a16="http://schemas.microsoft.com/office/drawing/2014/main" id="{8201CFC0-1F59-4F30-B7B0-875923B61C65}"/>
              </a:ext>
            </a:extLst>
          </p:cNvPr>
          <p:cNvSpPr/>
          <p:nvPr/>
        </p:nvSpPr>
        <p:spPr>
          <a:xfrm>
            <a:off x="8931328" y="7013753"/>
            <a:ext cx="425339" cy="3644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Arrow: Down 38">
            <a:extLst>
              <a:ext uri="{FF2B5EF4-FFF2-40B4-BE49-F238E27FC236}">
                <a16:creationId xmlns:a16="http://schemas.microsoft.com/office/drawing/2014/main" id="{E60EFE68-E603-4B81-91E5-821AF51FD645}"/>
              </a:ext>
            </a:extLst>
          </p:cNvPr>
          <p:cNvSpPr/>
          <p:nvPr/>
        </p:nvSpPr>
        <p:spPr>
          <a:xfrm>
            <a:off x="8931327" y="8133055"/>
            <a:ext cx="425339" cy="3644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4D13293-5FD4-43FB-84DB-2EBCFAE20821}"/>
              </a:ext>
            </a:extLst>
          </p:cNvPr>
          <p:cNvSpPr/>
          <p:nvPr/>
        </p:nvSpPr>
        <p:spPr>
          <a:xfrm>
            <a:off x="2167476" y="5270233"/>
            <a:ext cx="2281056" cy="964417"/>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latin typeface="Source Sans 3" panose="020B0604020202020204" charset="0"/>
                <a:cs typeface="Source Sans 3" panose="020B0604020202020204" charset="0"/>
              </a:rPr>
              <a:t>Proposed Diagram</a:t>
            </a:r>
          </a:p>
        </p:txBody>
      </p:sp>
    </p:spTree>
    <p:extLst>
      <p:ext uri="{BB962C8B-B14F-4D97-AF65-F5344CB8AC3E}">
        <p14:creationId xmlns:p14="http://schemas.microsoft.com/office/powerpoint/2010/main" val="1422391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F6BA31-A092-43C9-A10A-A1AEFE0A525D}"/>
              </a:ext>
            </a:extLst>
          </p:cNvPr>
          <p:cNvSpPr>
            <a:spLocks noGrp="1"/>
          </p:cNvSpPr>
          <p:nvPr>
            <p:ph type="sldNum" sz="quarter" idx="12"/>
          </p:nvPr>
        </p:nvSpPr>
        <p:spPr/>
        <p:txBody>
          <a:bodyPr/>
          <a:lstStyle/>
          <a:p>
            <a:fld id="{B6F15528-21DE-4FAA-801E-634DDDAF4B2B}" type="slidenum">
              <a:rPr lang="en-US" smtClean="0"/>
              <a:pPr/>
              <a:t>10</a:t>
            </a:fld>
            <a:endParaRPr lang="en-US" dirty="0"/>
          </a:p>
        </p:txBody>
      </p:sp>
      <p:sp>
        <p:nvSpPr>
          <p:cNvPr id="3" name="AutoShape 2">
            <a:extLst>
              <a:ext uri="{FF2B5EF4-FFF2-40B4-BE49-F238E27FC236}">
                <a16:creationId xmlns:a16="http://schemas.microsoft.com/office/drawing/2014/main" id="{32DA6115-855B-4703-A3B3-F3131FFBC5A0}"/>
              </a:ext>
            </a:extLst>
          </p:cNvPr>
          <p:cNvSpPr/>
          <p:nvPr/>
        </p:nvSpPr>
        <p:spPr>
          <a:xfrm>
            <a:off x="4195002" y="9258300"/>
            <a:ext cx="13064298" cy="0"/>
          </a:xfrm>
          <a:prstGeom prst="line">
            <a:avLst/>
          </a:prstGeom>
          <a:ln w="19050" cap="flat">
            <a:solidFill>
              <a:srgbClr val="48276D"/>
            </a:solidFill>
            <a:prstDash val="solid"/>
            <a:headEnd type="none" w="sm" len="sm"/>
            <a:tailEnd type="none" w="sm" len="sm"/>
          </a:ln>
        </p:spPr>
      </p:sp>
      <p:sp>
        <p:nvSpPr>
          <p:cNvPr id="4" name="Freeform 3">
            <a:extLst>
              <a:ext uri="{FF2B5EF4-FFF2-40B4-BE49-F238E27FC236}">
                <a16:creationId xmlns:a16="http://schemas.microsoft.com/office/drawing/2014/main" id="{F4A3C053-3E9D-4CE3-B4ED-FD7AA5065B73}"/>
              </a:ext>
            </a:extLst>
          </p:cNvPr>
          <p:cNvSpPr/>
          <p:nvPr/>
        </p:nvSpPr>
        <p:spPr>
          <a:xfrm>
            <a:off x="15498007" y="79244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35000"/>
              <a:extLst>
                <a:ext uri="{96DAC541-7B7A-43D3-8B79-37D633B846F1}">
                  <asvg:svgBlip xmlns:asvg="http://schemas.microsoft.com/office/drawing/2016/SVG/main" r:embed="rId3"/>
                </a:ext>
              </a:extLst>
            </a:blip>
            <a:stretch>
              <a:fillRect/>
            </a:stretch>
          </a:blipFill>
        </p:spPr>
      </p:sp>
      <p:sp>
        <p:nvSpPr>
          <p:cNvPr id="5" name="AutoShape 4">
            <a:extLst>
              <a:ext uri="{FF2B5EF4-FFF2-40B4-BE49-F238E27FC236}">
                <a16:creationId xmlns:a16="http://schemas.microsoft.com/office/drawing/2014/main" id="{4FFC3631-5C67-4FBB-A703-BA91CFEE0DA4}"/>
              </a:ext>
            </a:extLst>
          </p:cNvPr>
          <p:cNvSpPr/>
          <p:nvPr/>
        </p:nvSpPr>
        <p:spPr>
          <a:xfrm flipV="1">
            <a:off x="1028700" y="1047750"/>
            <a:ext cx="16230600" cy="0"/>
          </a:xfrm>
          <a:prstGeom prst="line">
            <a:avLst/>
          </a:prstGeom>
          <a:ln w="19050" cap="flat">
            <a:solidFill>
              <a:srgbClr val="48276D"/>
            </a:solidFill>
            <a:prstDash val="solid"/>
            <a:headEnd type="none" w="sm" len="sm"/>
            <a:tailEnd type="none" w="sm" len="sm"/>
          </a:ln>
        </p:spPr>
      </p:sp>
      <p:grpSp>
        <p:nvGrpSpPr>
          <p:cNvPr id="6" name="Group 6">
            <a:extLst>
              <a:ext uri="{FF2B5EF4-FFF2-40B4-BE49-F238E27FC236}">
                <a16:creationId xmlns:a16="http://schemas.microsoft.com/office/drawing/2014/main" id="{55BF1F23-6BDC-4381-8A2A-580D44DE56F3}"/>
              </a:ext>
            </a:extLst>
          </p:cNvPr>
          <p:cNvGrpSpPr/>
          <p:nvPr/>
        </p:nvGrpSpPr>
        <p:grpSpPr>
          <a:xfrm>
            <a:off x="17243189" y="2833442"/>
            <a:ext cx="1044811" cy="5724034"/>
            <a:chOff x="0" y="0"/>
            <a:chExt cx="275176" cy="1507565"/>
          </a:xfrm>
        </p:grpSpPr>
        <p:sp>
          <p:nvSpPr>
            <p:cNvPr id="7" name="Freeform 7">
              <a:extLst>
                <a:ext uri="{FF2B5EF4-FFF2-40B4-BE49-F238E27FC236}">
                  <a16:creationId xmlns:a16="http://schemas.microsoft.com/office/drawing/2014/main" id="{BF3E8041-34EA-406F-B579-79609AC151A3}"/>
                </a:ext>
              </a:extLst>
            </p:cNvPr>
            <p:cNvSpPr/>
            <p:nvPr/>
          </p:nvSpPr>
          <p:spPr>
            <a:xfrm>
              <a:off x="0" y="0"/>
              <a:ext cx="275176" cy="1507565"/>
            </a:xfrm>
            <a:custGeom>
              <a:avLst/>
              <a:gdLst/>
              <a:ahLst/>
              <a:cxnLst/>
              <a:rect l="l" t="t" r="r" b="b"/>
              <a:pathLst>
                <a:path w="275176" h="1507565">
                  <a:moveTo>
                    <a:pt x="0" y="0"/>
                  </a:moveTo>
                  <a:lnTo>
                    <a:pt x="275176" y="0"/>
                  </a:lnTo>
                  <a:lnTo>
                    <a:pt x="275176" y="1507565"/>
                  </a:lnTo>
                  <a:lnTo>
                    <a:pt x="0" y="1507565"/>
                  </a:lnTo>
                  <a:close/>
                </a:path>
              </a:pathLst>
            </a:custGeom>
            <a:gradFill rotWithShape="1">
              <a:gsLst>
                <a:gs pos="0">
                  <a:srgbClr val="9374B3">
                    <a:alpha val="100000"/>
                  </a:srgbClr>
                </a:gs>
                <a:gs pos="50000">
                  <a:srgbClr val="7161A6">
                    <a:alpha val="100000"/>
                  </a:srgbClr>
                </a:gs>
                <a:gs pos="100000">
                  <a:srgbClr val="4A4D9C">
                    <a:alpha val="100000"/>
                  </a:srgbClr>
                </a:gs>
              </a:gsLst>
              <a:lin ang="0"/>
            </a:gradFill>
          </p:spPr>
        </p:sp>
        <p:sp>
          <p:nvSpPr>
            <p:cNvPr id="8" name="TextBox 8">
              <a:extLst>
                <a:ext uri="{FF2B5EF4-FFF2-40B4-BE49-F238E27FC236}">
                  <a16:creationId xmlns:a16="http://schemas.microsoft.com/office/drawing/2014/main" id="{A608E93E-25B7-4C5F-B3FB-CC9D9ABC4D67}"/>
                </a:ext>
              </a:extLst>
            </p:cNvPr>
            <p:cNvSpPr txBox="1"/>
            <p:nvPr/>
          </p:nvSpPr>
          <p:spPr>
            <a:xfrm>
              <a:off x="0" y="-38100"/>
              <a:ext cx="275176" cy="1545665"/>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043C2C2B-CEA3-41BD-8190-F34359E89D43}"/>
              </a:ext>
            </a:extLst>
          </p:cNvPr>
          <p:cNvSpPr/>
          <p:nvPr/>
        </p:nvSpPr>
        <p:spPr>
          <a:xfrm rot="-5400000">
            <a:off x="17461217" y="3939708"/>
            <a:ext cx="711163" cy="177791"/>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AutoShape 10">
            <a:extLst>
              <a:ext uri="{FF2B5EF4-FFF2-40B4-BE49-F238E27FC236}">
                <a16:creationId xmlns:a16="http://schemas.microsoft.com/office/drawing/2014/main" id="{A71B6650-26C9-421B-9CAA-5B4B928803A7}"/>
              </a:ext>
            </a:extLst>
          </p:cNvPr>
          <p:cNvSpPr/>
          <p:nvPr/>
        </p:nvSpPr>
        <p:spPr>
          <a:xfrm flipV="1">
            <a:off x="17807273" y="4933828"/>
            <a:ext cx="0" cy="1044644"/>
          </a:xfrm>
          <a:prstGeom prst="line">
            <a:avLst/>
          </a:prstGeom>
          <a:ln w="19050" cap="flat">
            <a:solidFill>
              <a:srgbClr val="FFFFFF"/>
            </a:solidFill>
            <a:prstDash val="solid"/>
            <a:headEnd type="none" w="sm" len="sm"/>
            <a:tailEnd type="none" w="sm" len="sm"/>
          </a:ln>
        </p:spPr>
      </p:sp>
      <p:sp>
        <p:nvSpPr>
          <p:cNvPr id="11" name="Freeform 11">
            <a:extLst>
              <a:ext uri="{FF2B5EF4-FFF2-40B4-BE49-F238E27FC236}">
                <a16:creationId xmlns:a16="http://schemas.microsoft.com/office/drawing/2014/main" id="{9C338303-C77D-4D3C-BCA1-E6576FC2E03B}"/>
              </a:ext>
            </a:extLst>
          </p:cNvPr>
          <p:cNvSpPr/>
          <p:nvPr/>
        </p:nvSpPr>
        <p:spPr>
          <a:xfrm rot="-5400000">
            <a:off x="17461217" y="6862572"/>
            <a:ext cx="711163" cy="177791"/>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TextBox 13">
            <a:extLst>
              <a:ext uri="{FF2B5EF4-FFF2-40B4-BE49-F238E27FC236}">
                <a16:creationId xmlns:a16="http://schemas.microsoft.com/office/drawing/2014/main" id="{83D64CE5-D9E2-4144-AF19-0F03C3748159}"/>
              </a:ext>
            </a:extLst>
          </p:cNvPr>
          <p:cNvSpPr txBox="1"/>
          <p:nvPr/>
        </p:nvSpPr>
        <p:spPr>
          <a:xfrm>
            <a:off x="1103632" y="592747"/>
            <a:ext cx="2224931" cy="371897"/>
          </a:xfrm>
          <a:prstGeom prst="rect">
            <a:avLst/>
          </a:prstGeom>
        </p:spPr>
        <p:txBody>
          <a:bodyPr lIns="0" tIns="0" rIns="0" bIns="0" rtlCol="0" anchor="t">
            <a:spAutoFit/>
          </a:bodyPr>
          <a:lstStyle/>
          <a:p>
            <a:pPr algn="l">
              <a:lnSpc>
                <a:spcPts val="2939"/>
              </a:lnSpc>
            </a:pPr>
            <a:r>
              <a:rPr lang="en-US" sz="2099" dirty="0">
                <a:solidFill>
                  <a:srgbClr val="69498D"/>
                </a:solidFill>
                <a:latin typeface="Roboto"/>
                <a:ea typeface="Roboto"/>
                <a:cs typeface="Roboto"/>
                <a:sym typeface="Roboto"/>
              </a:rPr>
              <a:t>R20 Regulations</a:t>
            </a:r>
          </a:p>
        </p:txBody>
      </p:sp>
      <p:sp>
        <p:nvSpPr>
          <p:cNvPr id="13" name="TextBox 14">
            <a:extLst>
              <a:ext uri="{FF2B5EF4-FFF2-40B4-BE49-F238E27FC236}">
                <a16:creationId xmlns:a16="http://schemas.microsoft.com/office/drawing/2014/main" id="{3560BF0B-7FA2-4276-BADB-D623D7722C77}"/>
              </a:ext>
            </a:extLst>
          </p:cNvPr>
          <p:cNvSpPr txBox="1"/>
          <p:nvPr/>
        </p:nvSpPr>
        <p:spPr>
          <a:xfrm>
            <a:off x="8137006" y="662940"/>
            <a:ext cx="2026105" cy="371897"/>
          </a:xfrm>
          <a:prstGeom prst="rect">
            <a:avLst/>
          </a:prstGeom>
        </p:spPr>
        <p:txBody>
          <a:bodyPr lIns="0" tIns="0" rIns="0" bIns="0" rtlCol="0" anchor="t">
            <a:spAutoFit/>
          </a:bodyPr>
          <a:lstStyle/>
          <a:p>
            <a:pPr algn="ctr">
              <a:lnSpc>
                <a:spcPts val="2939"/>
              </a:lnSpc>
            </a:pPr>
            <a:r>
              <a:rPr lang="en-US" sz="2099" dirty="0">
                <a:solidFill>
                  <a:srgbClr val="69498D"/>
                </a:solidFill>
                <a:latin typeface="Roboto"/>
                <a:ea typeface="Roboto"/>
                <a:cs typeface="Roboto"/>
                <a:sym typeface="Roboto"/>
              </a:rPr>
              <a:t>IV B. Tech ECE</a:t>
            </a:r>
          </a:p>
        </p:txBody>
      </p:sp>
      <p:sp>
        <p:nvSpPr>
          <p:cNvPr id="14" name="TextBox 15">
            <a:extLst>
              <a:ext uri="{FF2B5EF4-FFF2-40B4-BE49-F238E27FC236}">
                <a16:creationId xmlns:a16="http://schemas.microsoft.com/office/drawing/2014/main" id="{ED2B2582-435C-4337-B15C-152996E3ACF0}"/>
              </a:ext>
            </a:extLst>
          </p:cNvPr>
          <p:cNvSpPr txBox="1"/>
          <p:nvPr/>
        </p:nvSpPr>
        <p:spPr>
          <a:xfrm>
            <a:off x="13151090" y="701472"/>
            <a:ext cx="3903301" cy="737235"/>
          </a:xfrm>
          <a:prstGeom prst="rect">
            <a:avLst/>
          </a:prstGeom>
        </p:spPr>
        <p:txBody>
          <a:bodyPr lIns="0" tIns="0" rIns="0" bIns="0" rtlCol="0" anchor="t">
            <a:spAutoFit/>
          </a:bodyPr>
          <a:lstStyle/>
          <a:p>
            <a:pPr algn="l">
              <a:lnSpc>
                <a:spcPts val="2939"/>
              </a:lnSpc>
            </a:pPr>
            <a:r>
              <a:rPr lang="en-US" sz="2099">
                <a:solidFill>
                  <a:srgbClr val="69498D"/>
                </a:solidFill>
                <a:latin typeface="Roboto"/>
                <a:ea typeface="Roboto"/>
                <a:cs typeface="Roboto"/>
                <a:sym typeface="Roboto"/>
              </a:rPr>
              <a:t>Ac. Year : 2025-26/ Semester -II</a:t>
            </a:r>
          </a:p>
          <a:p>
            <a:pPr algn="l">
              <a:lnSpc>
                <a:spcPts val="2939"/>
              </a:lnSpc>
            </a:pPr>
            <a:endParaRPr lang="en-US" sz="2099">
              <a:solidFill>
                <a:srgbClr val="69498D"/>
              </a:solidFill>
              <a:latin typeface="Roboto"/>
              <a:ea typeface="Roboto"/>
              <a:cs typeface="Roboto"/>
              <a:sym typeface="Roboto"/>
            </a:endParaRPr>
          </a:p>
        </p:txBody>
      </p:sp>
      <p:sp>
        <p:nvSpPr>
          <p:cNvPr id="15" name="TextBox 16">
            <a:extLst>
              <a:ext uri="{FF2B5EF4-FFF2-40B4-BE49-F238E27FC236}">
                <a16:creationId xmlns:a16="http://schemas.microsoft.com/office/drawing/2014/main" id="{BD7E996C-23F8-44FC-B1FB-307F8970BF43}"/>
              </a:ext>
            </a:extLst>
          </p:cNvPr>
          <p:cNvSpPr txBox="1"/>
          <p:nvPr/>
        </p:nvSpPr>
        <p:spPr>
          <a:xfrm>
            <a:off x="1573578" y="9051607"/>
            <a:ext cx="3903301" cy="346249"/>
          </a:xfrm>
          <a:prstGeom prst="rect">
            <a:avLst/>
          </a:prstGeom>
        </p:spPr>
        <p:txBody>
          <a:bodyPr lIns="0" tIns="0" rIns="0" bIns="0" rtlCol="0" anchor="t">
            <a:spAutoFit/>
          </a:bodyPr>
          <a:lstStyle/>
          <a:p>
            <a:pPr>
              <a:lnSpc>
                <a:spcPts val="2939"/>
              </a:lnSpc>
            </a:pPr>
            <a:r>
              <a:rPr lang="en-US" sz="2099" dirty="0">
                <a:solidFill>
                  <a:srgbClr val="69498D"/>
                </a:solidFill>
                <a:latin typeface="Roboto"/>
                <a:ea typeface="Roboto"/>
                <a:cs typeface="Roboto"/>
                <a:sym typeface="Roboto"/>
              </a:rPr>
              <a:t>Final Review</a:t>
            </a:r>
          </a:p>
        </p:txBody>
      </p:sp>
      <p:sp>
        <p:nvSpPr>
          <p:cNvPr id="16" name="Text 0">
            <a:extLst>
              <a:ext uri="{FF2B5EF4-FFF2-40B4-BE49-F238E27FC236}">
                <a16:creationId xmlns:a16="http://schemas.microsoft.com/office/drawing/2014/main" id="{4092EB6C-D79A-48B2-A78B-FECBB2BBA5AC}"/>
              </a:ext>
            </a:extLst>
          </p:cNvPr>
          <p:cNvSpPr/>
          <p:nvPr/>
        </p:nvSpPr>
        <p:spPr>
          <a:xfrm>
            <a:off x="1103632" y="1592650"/>
            <a:ext cx="15757251" cy="2712649"/>
          </a:xfrm>
          <a:prstGeom prst="rect">
            <a:avLst/>
          </a:prstGeom>
          <a:noFill/>
          <a:ln/>
        </p:spPr>
        <p:txBody>
          <a:bodyPr wrap="none" lIns="0" tIns="0" rIns="0" bIns="0" rtlCol="0" anchor="t"/>
          <a:lstStyle/>
          <a:p>
            <a:pPr>
              <a:lnSpc>
                <a:spcPct val="150000"/>
              </a:lnSpc>
            </a:pPr>
            <a:r>
              <a:rPr lang="en-US" sz="2800" b="1" dirty="0">
                <a:latin typeface="Source Sans 3" panose="020B0604020202020204" charset="0"/>
                <a:cs typeface="Source Sans 3" panose="020B0604020202020204" charset="0"/>
              </a:rPr>
              <a:t>Input Backlit Images</a:t>
            </a:r>
            <a:r>
              <a:rPr lang="en-US" sz="3600" b="1" dirty="0"/>
              <a:t>:</a:t>
            </a:r>
          </a:p>
          <a:p>
            <a:pPr marL="571500" indent="-571500">
              <a:lnSpc>
                <a:spcPct val="150000"/>
              </a:lnSpc>
              <a:buFont typeface="Arial" panose="020B0604020202020204" pitchFamily="34" charset="0"/>
              <a:buChar char="•"/>
            </a:pPr>
            <a:r>
              <a:rPr lang="en-US" sz="2800" dirty="0">
                <a:latin typeface="Source Sans 3" panose="020B0604020202020204" charset="0"/>
                <a:cs typeface="Source Sans 3" panose="020B0604020202020204" charset="0"/>
              </a:rPr>
              <a:t>Raw images captured under backlit or low-visibility conditions </a:t>
            </a:r>
          </a:p>
          <a:p>
            <a:pPr marL="571500" indent="-571500">
              <a:lnSpc>
                <a:spcPct val="150000"/>
              </a:lnSpc>
              <a:buFont typeface="Arial" panose="020B0604020202020204" pitchFamily="34" charset="0"/>
              <a:buChar char="•"/>
            </a:pPr>
            <a:r>
              <a:rPr lang="en-US" sz="2800" dirty="0">
                <a:latin typeface="Source Sans 3" panose="020B0604020202020204" charset="0"/>
                <a:cs typeface="Source Sans 3" panose="020B0604020202020204" charset="0"/>
              </a:rPr>
              <a:t>Typically contain haze, low contrast, or uneven illumination </a:t>
            </a:r>
          </a:p>
          <a:p>
            <a:pPr marL="571500" indent="-571500">
              <a:lnSpc>
                <a:spcPct val="150000"/>
              </a:lnSpc>
              <a:buFont typeface="Arial" panose="020B0604020202020204" pitchFamily="34" charset="0"/>
              <a:buChar char="•"/>
            </a:pPr>
            <a:r>
              <a:rPr lang="en-US" sz="2800" dirty="0">
                <a:latin typeface="Source Sans 3" panose="020B0604020202020204" charset="0"/>
                <a:cs typeface="Source Sans 3" panose="020B0604020202020204" charset="0"/>
              </a:rPr>
              <a:t>Serve as the starting point for the enhancement pipeline </a:t>
            </a:r>
          </a:p>
          <a:p>
            <a:pPr>
              <a:lnSpc>
                <a:spcPct val="150000"/>
              </a:lnSpc>
            </a:pPr>
            <a:endParaRPr lang="en-US" sz="3600" dirty="0"/>
          </a:p>
          <a:p>
            <a:pPr>
              <a:lnSpc>
                <a:spcPts val="3950"/>
              </a:lnSpc>
            </a:pPr>
            <a:r>
              <a:rPr lang="en-US" sz="2800" b="1" dirty="0">
                <a:latin typeface="Source Sans 3" panose="020B0604020202020204" charset="0"/>
                <a:cs typeface="Source Sans 3" panose="020B0604020202020204" charset="0"/>
              </a:rPr>
              <a:t>Dark Channel Analysis:</a:t>
            </a:r>
          </a:p>
        </p:txBody>
      </p:sp>
      <p:sp>
        <p:nvSpPr>
          <p:cNvPr id="19" name="Text 2">
            <a:extLst>
              <a:ext uri="{FF2B5EF4-FFF2-40B4-BE49-F238E27FC236}">
                <a16:creationId xmlns:a16="http://schemas.microsoft.com/office/drawing/2014/main" id="{07E93B5C-FC7C-4859-A29E-56FCCFA2AF8A}"/>
              </a:ext>
            </a:extLst>
          </p:cNvPr>
          <p:cNvSpPr/>
          <p:nvPr/>
        </p:nvSpPr>
        <p:spPr>
          <a:xfrm>
            <a:off x="1103633" y="4229099"/>
            <a:ext cx="15279368" cy="3898617"/>
          </a:xfrm>
          <a:prstGeom prst="rect">
            <a:avLst/>
          </a:prstGeom>
          <a:noFill/>
          <a:ln/>
        </p:spPr>
        <p:txBody>
          <a:bodyPr wrap="none" lIns="0" tIns="0" rIns="0" bIns="0" rtlCol="0" anchor="t"/>
          <a:lstStyle/>
          <a:p>
            <a:pPr algn="just">
              <a:lnSpc>
                <a:spcPct val="150000"/>
              </a:lnSpc>
            </a:pPr>
            <a:endParaRPr lang="en-US" sz="2800" dirty="0">
              <a:latin typeface="Source Sans 3" panose="020B0604020202020204" charset="0"/>
              <a:cs typeface="Source Sans 3" panose="020B0604020202020204" charset="0"/>
            </a:endParaRPr>
          </a:p>
        </p:txBody>
      </p:sp>
      <p:sp>
        <p:nvSpPr>
          <p:cNvPr id="21" name="Slide Number Placeholder 4">
            <a:extLst>
              <a:ext uri="{FF2B5EF4-FFF2-40B4-BE49-F238E27FC236}">
                <a16:creationId xmlns:a16="http://schemas.microsoft.com/office/drawing/2014/main" id="{9DB456B1-4C08-4A72-9332-17579AE46AC8}"/>
              </a:ext>
            </a:extLst>
          </p:cNvPr>
          <p:cNvSpPr txBox="1">
            <a:spLocks/>
          </p:cNvSpPr>
          <p:nvPr/>
        </p:nvSpPr>
        <p:spPr>
          <a:xfrm>
            <a:off x="16256000" y="9706056"/>
            <a:ext cx="1460501" cy="411480"/>
          </a:xfrm>
          <a:prstGeom prst="rect">
            <a:avLst/>
          </a:prstGeom>
        </p:spPr>
        <p:txBody>
          <a:bodyPr vert="horz" lIns="91440" tIns="45720" rIns="91440" bIns="45720" rtlCol="0" anchor="ctr"/>
          <a:lstStyle>
            <a:defPPr>
              <a:defRPr lang="en-US"/>
            </a:defPPr>
            <a:lvl1pPr marL="0" algn="l" defTabSz="457200" rtl="0" eaLnBrk="1" latinLnBrk="0" hangingPunct="1">
              <a:defRPr sz="1500" kern="1200">
                <a:solidFill>
                  <a:schemeClr val="tx1">
                    <a:lumMod val="95000"/>
                    <a:lumOff val="5000"/>
                  </a:schemeClr>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6F15528-21DE-4FAA-801E-634DDDAF4B2B}" type="slidenum">
              <a:rPr lang="en-US" smtClean="0"/>
              <a:pPr/>
              <a:t>10</a:t>
            </a:fld>
            <a:endParaRPr lang="en-US"/>
          </a:p>
        </p:txBody>
      </p:sp>
      <p:pic>
        <p:nvPicPr>
          <p:cNvPr id="22" name="Picture 21">
            <a:extLst>
              <a:ext uri="{FF2B5EF4-FFF2-40B4-BE49-F238E27FC236}">
                <a16:creationId xmlns:a16="http://schemas.microsoft.com/office/drawing/2014/main" id="{E4C75353-5258-47CA-B3DD-E348D638A0C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243189" y="174336"/>
            <a:ext cx="740449" cy="770067"/>
          </a:xfrm>
          <a:prstGeom prst="rect">
            <a:avLst/>
          </a:prstGeom>
        </p:spPr>
      </p:pic>
      <p:sp>
        <p:nvSpPr>
          <p:cNvPr id="25" name="Rectangle 24">
            <a:extLst>
              <a:ext uri="{FF2B5EF4-FFF2-40B4-BE49-F238E27FC236}">
                <a16:creationId xmlns:a16="http://schemas.microsoft.com/office/drawing/2014/main" id="{838F351D-C4E1-4E26-8677-C715992923C9}"/>
              </a:ext>
            </a:extLst>
          </p:cNvPr>
          <p:cNvSpPr/>
          <p:nvPr/>
        </p:nvSpPr>
        <p:spPr>
          <a:xfrm>
            <a:off x="1219200" y="5639136"/>
            <a:ext cx="12496800" cy="2597827"/>
          </a:xfrm>
          <a:prstGeom prst="rect">
            <a:avLst/>
          </a:prstGeom>
        </p:spPr>
        <p:txBody>
          <a:bodyPr wrap="square">
            <a:spAutoFit/>
          </a:bodyPr>
          <a:lstStyle/>
          <a:p>
            <a:pPr marL="457200" lvl="0" indent="-457200" defTabSz="914400" eaLnBrk="0" fontAlgn="base" hangingPunct="0">
              <a:lnSpc>
                <a:spcPct val="150000"/>
              </a:lnSpc>
              <a:spcBef>
                <a:spcPct val="0"/>
              </a:spcBef>
              <a:spcAft>
                <a:spcPct val="0"/>
              </a:spcAft>
              <a:buFont typeface="Arial" panose="020B0604020202020204" pitchFamily="34" charset="0"/>
              <a:buChar char="•"/>
            </a:pPr>
            <a:r>
              <a:rPr lang="en-US" altLang="en-US" sz="2800" dirty="0">
                <a:latin typeface="Source Sans 3" panose="020B0604020202020204" charset="0"/>
                <a:cs typeface="Source Sans 3" panose="020B0604020202020204" charset="0"/>
              </a:rPr>
              <a:t>Applies the </a:t>
            </a:r>
            <a:r>
              <a:rPr lang="en-US" altLang="en-US" sz="2800" b="1" dirty="0">
                <a:latin typeface="Source Sans 3" panose="020B0604020202020204" charset="0"/>
                <a:cs typeface="Source Sans 3" panose="020B0604020202020204" charset="0"/>
              </a:rPr>
              <a:t>dark channel prior</a:t>
            </a:r>
            <a:r>
              <a:rPr lang="en-US" altLang="en-US" sz="2800" dirty="0">
                <a:latin typeface="Source Sans 3" panose="020B0604020202020204" charset="0"/>
                <a:cs typeface="Source Sans 3" panose="020B0604020202020204" charset="0"/>
              </a:rPr>
              <a:t> concept </a:t>
            </a:r>
          </a:p>
          <a:p>
            <a:pPr marL="457200" lvl="0" indent="-457200" defTabSz="914400" eaLnBrk="0" fontAlgn="base" hangingPunct="0">
              <a:lnSpc>
                <a:spcPct val="150000"/>
              </a:lnSpc>
              <a:spcBef>
                <a:spcPct val="0"/>
              </a:spcBef>
              <a:spcAft>
                <a:spcPct val="0"/>
              </a:spcAft>
              <a:buFont typeface="Arial" panose="020B0604020202020204" pitchFamily="34" charset="0"/>
              <a:buChar char="•"/>
            </a:pPr>
            <a:r>
              <a:rPr lang="en-US" altLang="en-US" sz="2800" dirty="0">
                <a:latin typeface="Source Sans 3" panose="020B0604020202020204" charset="0"/>
                <a:cs typeface="Source Sans 3" panose="020B0604020202020204" charset="0"/>
              </a:rPr>
              <a:t>Identifies regions with very low intensity in at least one color channel </a:t>
            </a:r>
          </a:p>
          <a:p>
            <a:pPr marL="457200" lvl="0" indent="-457200" defTabSz="914400" eaLnBrk="0" fontAlgn="base" hangingPunct="0">
              <a:lnSpc>
                <a:spcPct val="150000"/>
              </a:lnSpc>
              <a:spcBef>
                <a:spcPct val="0"/>
              </a:spcBef>
              <a:spcAft>
                <a:spcPct val="0"/>
              </a:spcAft>
              <a:buFont typeface="Arial" panose="020B0604020202020204" pitchFamily="34" charset="0"/>
              <a:buChar char="•"/>
            </a:pPr>
            <a:r>
              <a:rPr lang="en-US" altLang="en-US" sz="2800" dirty="0">
                <a:latin typeface="Source Sans 3" panose="020B0604020202020204" charset="0"/>
                <a:cs typeface="Source Sans 3" panose="020B0604020202020204" charset="0"/>
              </a:rPr>
              <a:t>Helps estimate the amount of haze or light scattering in the image </a:t>
            </a:r>
          </a:p>
          <a:p>
            <a:pPr marL="457200" lvl="0" indent="-457200" defTabSz="914400" eaLnBrk="0" fontAlgn="base" hangingPunct="0">
              <a:lnSpc>
                <a:spcPct val="150000"/>
              </a:lnSpc>
              <a:spcBef>
                <a:spcPct val="0"/>
              </a:spcBef>
              <a:spcAft>
                <a:spcPct val="0"/>
              </a:spcAft>
              <a:buFont typeface="Arial" panose="020B0604020202020204" pitchFamily="34" charset="0"/>
              <a:buChar char="•"/>
            </a:pPr>
            <a:r>
              <a:rPr lang="en-US" altLang="en-US" sz="2800" dirty="0">
                <a:latin typeface="Source Sans 3" panose="020B0604020202020204" charset="0"/>
                <a:cs typeface="Source Sans 3" panose="020B0604020202020204" charset="0"/>
              </a:rPr>
              <a:t>Provides a rough understanding of visibility degradation </a:t>
            </a:r>
          </a:p>
        </p:txBody>
      </p:sp>
    </p:spTree>
    <p:extLst>
      <p:ext uri="{BB962C8B-B14F-4D97-AF65-F5344CB8AC3E}">
        <p14:creationId xmlns:p14="http://schemas.microsoft.com/office/powerpoint/2010/main" val="2099812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F6BA31-A092-43C9-A10A-A1AEFE0A525D}"/>
              </a:ext>
            </a:extLst>
          </p:cNvPr>
          <p:cNvSpPr>
            <a:spLocks noGrp="1"/>
          </p:cNvSpPr>
          <p:nvPr>
            <p:ph type="sldNum" sz="quarter" idx="12"/>
          </p:nvPr>
        </p:nvSpPr>
        <p:spPr/>
        <p:txBody>
          <a:bodyPr/>
          <a:lstStyle/>
          <a:p>
            <a:fld id="{B6F15528-21DE-4FAA-801E-634DDDAF4B2B}" type="slidenum">
              <a:rPr lang="en-US" smtClean="0"/>
              <a:pPr/>
              <a:t>11</a:t>
            </a:fld>
            <a:endParaRPr lang="en-US" dirty="0"/>
          </a:p>
        </p:txBody>
      </p:sp>
      <p:sp>
        <p:nvSpPr>
          <p:cNvPr id="3" name="AutoShape 2">
            <a:extLst>
              <a:ext uri="{FF2B5EF4-FFF2-40B4-BE49-F238E27FC236}">
                <a16:creationId xmlns:a16="http://schemas.microsoft.com/office/drawing/2014/main" id="{32DA6115-855B-4703-A3B3-F3131FFBC5A0}"/>
              </a:ext>
            </a:extLst>
          </p:cNvPr>
          <p:cNvSpPr/>
          <p:nvPr/>
        </p:nvSpPr>
        <p:spPr>
          <a:xfrm>
            <a:off x="4195002" y="9258300"/>
            <a:ext cx="13064298" cy="0"/>
          </a:xfrm>
          <a:prstGeom prst="line">
            <a:avLst/>
          </a:prstGeom>
          <a:ln w="19050" cap="flat">
            <a:solidFill>
              <a:srgbClr val="48276D"/>
            </a:solidFill>
            <a:prstDash val="solid"/>
            <a:headEnd type="none" w="sm" len="sm"/>
            <a:tailEnd type="none" w="sm" len="sm"/>
          </a:ln>
        </p:spPr>
      </p:sp>
      <p:sp>
        <p:nvSpPr>
          <p:cNvPr id="4" name="Freeform 3">
            <a:extLst>
              <a:ext uri="{FF2B5EF4-FFF2-40B4-BE49-F238E27FC236}">
                <a16:creationId xmlns:a16="http://schemas.microsoft.com/office/drawing/2014/main" id="{F4A3C053-3E9D-4CE3-B4ED-FD7AA5065B73}"/>
              </a:ext>
            </a:extLst>
          </p:cNvPr>
          <p:cNvSpPr/>
          <p:nvPr/>
        </p:nvSpPr>
        <p:spPr>
          <a:xfrm>
            <a:off x="15498007" y="79244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35000"/>
              <a:extLst>
                <a:ext uri="{96DAC541-7B7A-43D3-8B79-37D633B846F1}">
                  <asvg:svgBlip xmlns:asvg="http://schemas.microsoft.com/office/drawing/2016/SVG/main" r:embed="rId3"/>
                </a:ext>
              </a:extLst>
            </a:blip>
            <a:stretch>
              <a:fillRect/>
            </a:stretch>
          </a:blipFill>
        </p:spPr>
      </p:sp>
      <p:sp>
        <p:nvSpPr>
          <p:cNvPr id="5" name="AutoShape 4">
            <a:extLst>
              <a:ext uri="{FF2B5EF4-FFF2-40B4-BE49-F238E27FC236}">
                <a16:creationId xmlns:a16="http://schemas.microsoft.com/office/drawing/2014/main" id="{4FFC3631-5C67-4FBB-A703-BA91CFEE0DA4}"/>
              </a:ext>
            </a:extLst>
          </p:cNvPr>
          <p:cNvSpPr/>
          <p:nvPr/>
        </p:nvSpPr>
        <p:spPr>
          <a:xfrm flipV="1">
            <a:off x="1028700" y="1047750"/>
            <a:ext cx="16230600" cy="0"/>
          </a:xfrm>
          <a:prstGeom prst="line">
            <a:avLst/>
          </a:prstGeom>
          <a:ln w="19050" cap="flat">
            <a:solidFill>
              <a:srgbClr val="48276D"/>
            </a:solidFill>
            <a:prstDash val="solid"/>
            <a:headEnd type="none" w="sm" len="sm"/>
            <a:tailEnd type="none" w="sm" len="sm"/>
          </a:ln>
        </p:spPr>
      </p:sp>
      <p:grpSp>
        <p:nvGrpSpPr>
          <p:cNvPr id="6" name="Group 6">
            <a:extLst>
              <a:ext uri="{FF2B5EF4-FFF2-40B4-BE49-F238E27FC236}">
                <a16:creationId xmlns:a16="http://schemas.microsoft.com/office/drawing/2014/main" id="{55BF1F23-6BDC-4381-8A2A-580D44DE56F3}"/>
              </a:ext>
            </a:extLst>
          </p:cNvPr>
          <p:cNvGrpSpPr/>
          <p:nvPr/>
        </p:nvGrpSpPr>
        <p:grpSpPr>
          <a:xfrm>
            <a:off x="17243189" y="2833442"/>
            <a:ext cx="1044811" cy="5724034"/>
            <a:chOff x="0" y="0"/>
            <a:chExt cx="275176" cy="1507565"/>
          </a:xfrm>
        </p:grpSpPr>
        <p:sp>
          <p:nvSpPr>
            <p:cNvPr id="7" name="Freeform 7">
              <a:extLst>
                <a:ext uri="{FF2B5EF4-FFF2-40B4-BE49-F238E27FC236}">
                  <a16:creationId xmlns:a16="http://schemas.microsoft.com/office/drawing/2014/main" id="{BF3E8041-34EA-406F-B579-79609AC151A3}"/>
                </a:ext>
              </a:extLst>
            </p:cNvPr>
            <p:cNvSpPr/>
            <p:nvPr/>
          </p:nvSpPr>
          <p:spPr>
            <a:xfrm>
              <a:off x="0" y="0"/>
              <a:ext cx="275176" cy="1507565"/>
            </a:xfrm>
            <a:custGeom>
              <a:avLst/>
              <a:gdLst/>
              <a:ahLst/>
              <a:cxnLst/>
              <a:rect l="l" t="t" r="r" b="b"/>
              <a:pathLst>
                <a:path w="275176" h="1507565">
                  <a:moveTo>
                    <a:pt x="0" y="0"/>
                  </a:moveTo>
                  <a:lnTo>
                    <a:pt x="275176" y="0"/>
                  </a:lnTo>
                  <a:lnTo>
                    <a:pt x="275176" y="1507565"/>
                  </a:lnTo>
                  <a:lnTo>
                    <a:pt x="0" y="1507565"/>
                  </a:lnTo>
                  <a:close/>
                </a:path>
              </a:pathLst>
            </a:custGeom>
            <a:gradFill rotWithShape="1">
              <a:gsLst>
                <a:gs pos="0">
                  <a:srgbClr val="9374B3">
                    <a:alpha val="100000"/>
                  </a:srgbClr>
                </a:gs>
                <a:gs pos="50000">
                  <a:srgbClr val="7161A6">
                    <a:alpha val="100000"/>
                  </a:srgbClr>
                </a:gs>
                <a:gs pos="100000">
                  <a:srgbClr val="4A4D9C">
                    <a:alpha val="100000"/>
                  </a:srgbClr>
                </a:gs>
              </a:gsLst>
              <a:lin ang="0"/>
            </a:gradFill>
          </p:spPr>
        </p:sp>
        <p:sp>
          <p:nvSpPr>
            <p:cNvPr id="8" name="TextBox 8">
              <a:extLst>
                <a:ext uri="{FF2B5EF4-FFF2-40B4-BE49-F238E27FC236}">
                  <a16:creationId xmlns:a16="http://schemas.microsoft.com/office/drawing/2014/main" id="{A608E93E-25B7-4C5F-B3FB-CC9D9ABC4D67}"/>
                </a:ext>
              </a:extLst>
            </p:cNvPr>
            <p:cNvSpPr txBox="1"/>
            <p:nvPr/>
          </p:nvSpPr>
          <p:spPr>
            <a:xfrm>
              <a:off x="0" y="-38100"/>
              <a:ext cx="275176" cy="1545665"/>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043C2C2B-CEA3-41BD-8190-F34359E89D43}"/>
              </a:ext>
            </a:extLst>
          </p:cNvPr>
          <p:cNvSpPr/>
          <p:nvPr/>
        </p:nvSpPr>
        <p:spPr>
          <a:xfrm rot="-5400000">
            <a:off x="17461217" y="3939708"/>
            <a:ext cx="711163" cy="177791"/>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AutoShape 10">
            <a:extLst>
              <a:ext uri="{FF2B5EF4-FFF2-40B4-BE49-F238E27FC236}">
                <a16:creationId xmlns:a16="http://schemas.microsoft.com/office/drawing/2014/main" id="{A71B6650-26C9-421B-9CAA-5B4B928803A7}"/>
              </a:ext>
            </a:extLst>
          </p:cNvPr>
          <p:cNvSpPr/>
          <p:nvPr/>
        </p:nvSpPr>
        <p:spPr>
          <a:xfrm flipV="1">
            <a:off x="17807273" y="4933828"/>
            <a:ext cx="0" cy="1044644"/>
          </a:xfrm>
          <a:prstGeom prst="line">
            <a:avLst/>
          </a:prstGeom>
          <a:ln w="19050" cap="flat">
            <a:solidFill>
              <a:srgbClr val="FFFFFF"/>
            </a:solidFill>
            <a:prstDash val="solid"/>
            <a:headEnd type="none" w="sm" len="sm"/>
            <a:tailEnd type="none" w="sm" len="sm"/>
          </a:ln>
        </p:spPr>
      </p:sp>
      <p:sp>
        <p:nvSpPr>
          <p:cNvPr id="11" name="Freeform 11">
            <a:extLst>
              <a:ext uri="{FF2B5EF4-FFF2-40B4-BE49-F238E27FC236}">
                <a16:creationId xmlns:a16="http://schemas.microsoft.com/office/drawing/2014/main" id="{9C338303-C77D-4D3C-BCA1-E6576FC2E03B}"/>
              </a:ext>
            </a:extLst>
          </p:cNvPr>
          <p:cNvSpPr/>
          <p:nvPr/>
        </p:nvSpPr>
        <p:spPr>
          <a:xfrm rot="-5400000">
            <a:off x="17461217" y="6862572"/>
            <a:ext cx="711163" cy="177791"/>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TextBox 13">
            <a:extLst>
              <a:ext uri="{FF2B5EF4-FFF2-40B4-BE49-F238E27FC236}">
                <a16:creationId xmlns:a16="http://schemas.microsoft.com/office/drawing/2014/main" id="{83D64CE5-D9E2-4144-AF19-0F03C3748159}"/>
              </a:ext>
            </a:extLst>
          </p:cNvPr>
          <p:cNvSpPr txBox="1"/>
          <p:nvPr/>
        </p:nvSpPr>
        <p:spPr>
          <a:xfrm>
            <a:off x="1103632" y="592747"/>
            <a:ext cx="2224931" cy="371897"/>
          </a:xfrm>
          <a:prstGeom prst="rect">
            <a:avLst/>
          </a:prstGeom>
        </p:spPr>
        <p:txBody>
          <a:bodyPr lIns="0" tIns="0" rIns="0" bIns="0" rtlCol="0" anchor="t">
            <a:spAutoFit/>
          </a:bodyPr>
          <a:lstStyle/>
          <a:p>
            <a:pPr algn="l">
              <a:lnSpc>
                <a:spcPts val="2939"/>
              </a:lnSpc>
            </a:pPr>
            <a:r>
              <a:rPr lang="en-US" sz="2099" dirty="0">
                <a:solidFill>
                  <a:srgbClr val="69498D"/>
                </a:solidFill>
                <a:latin typeface="Roboto"/>
                <a:ea typeface="Roboto"/>
                <a:cs typeface="Roboto"/>
                <a:sym typeface="Roboto"/>
              </a:rPr>
              <a:t>R20 Regulations</a:t>
            </a:r>
          </a:p>
        </p:txBody>
      </p:sp>
      <p:sp>
        <p:nvSpPr>
          <p:cNvPr id="13" name="TextBox 14">
            <a:extLst>
              <a:ext uri="{FF2B5EF4-FFF2-40B4-BE49-F238E27FC236}">
                <a16:creationId xmlns:a16="http://schemas.microsoft.com/office/drawing/2014/main" id="{3560BF0B-7FA2-4276-BADB-D623D7722C77}"/>
              </a:ext>
            </a:extLst>
          </p:cNvPr>
          <p:cNvSpPr txBox="1"/>
          <p:nvPr/>
        </p:nvSpPr>
        <p:spPr>
          <a:xfrm>
            <a:off x="8137006" y="662940"/>
            <a:ext cx="2026105" cy="371897"/>
          </a:xfrm>
          <a:prstGeom prst="rect">
            <a:avLst/>
          </a:prstGeom>
        </p:spPr>
        <p:txBody>
          <a:bodyPr lIns="0" tIns="0" rIns="0" bIns="0" rtlCol="0" anchor="t">
            <a:spAutoFit/>
          </a:bodyPr>
          <a:lstStyle/>
          <a:p>
            <a:pPr algn="ctr">
              <a:lnSpc>
                <a:spcPts val="2939"/>
              </a:lnSpc>
            </a:pPr>
            <a:r>
              <a:rPr lang="en-US" sz="2099" dirty="0">
                <a:solidFill>
                  <a:srgbClr val="69498D"/>
                </a:solidFill>
                <a:latin typeface="Roboto"/>
                <a:ea typeface="Roboto"/>
                <a:cs typeface="Roboto"/>
                <a:sym typeface="Roboto"/>
              </a:rPr>
              <a:t>IV B. Tech ECE</a:t>
            </a:r>
          </a:p>
        </p:txBody>
      </p:sp>
      <p:sp>
        <p:nvSpPr>
          <p:cNvPr id="14" name="TextBox 15">
            <a:extLst>
              <a:ext uri="{FF2B5EF4-FFF2-40B4-BE49-F238E27FC236}">
                <a16:creationId xmlns:a16="http://schemas.microsoft.com/office/drawing/2014/main" id="{ED2B2582-435C-4337-B15C-152996E3ACF0}"/>
              </a:ext>
            </a:extLst>
          </p:cNvPr>
          <p:cNvSpPr txBox="1"/>
          <p:nvPr/>
        </p:nvSpPr>
        <p:spPr>
          <a:xfrm>
            <a:off x="13151090" y="701472"/>
            <a:ext cx="3903301" cy="737235"/>
          </a:xfrm>
          <a:prstGeom prst="rect">
            <a:avLst/>
          </a:prstGeom>
        </p:spPr>
        <p:txBody>
          <a:bodyPr lIns="0" tIns="0" rIns="0" bIns="0" rtlCol="0" anchor="t">
            <a:spAutoFit/>
          </a:bodyPr>
          <a:lstStyle/>
          <a:p>
            <a:pPr algn="l">
              <a:lnSpc>
                <a:spcPts val="2939"/>
              </a:lnSpc>
            </a:pPr>
            <a:r>
              <a:rPr lang="en-US" sz="2099">
                <a:solidFill>
                  <a:srgbClr val="69498D"/>
                </a:solidFill>
                <a:latin typeface="Roboto"/>
                <a:ea typeface="Roboto"/>
                <a:cs typeface="Roboto"/>
                <a:sym typeface="Roboto"/>
              </a:rPr>
              <a:t>Ac. Year : 2025-26/ Semester -II</a:t>
            </a:r>
          </a:p>
          <a:p>
            <a:pPr algn="l">
              <a:lnSpc>
                <a:spcPts val="2939"/>
              </a:lnSpc>
            </a:pPr>
            <a:endParaRPr lang="en-US" sz="2099">
              <a:solidFill>
                <a:srgbClr val="69498D"/>
              </a:solidFill>
              <a:latin typeface="Roboto"/>
              <a:ea typeface="Roboto"/>
              <a:cs typeface="Roboto"/>
              <a:sym typeface="Roboto"/>
            </a:endParaRPr>
          </a:p>
        </p:txBody>
      </p:sp>
      <p:sp>
        <p:nvSpPr>
          <p:cNvPr id="15" name="TextBox 16">
            <a:extLst>
              <a:ext uri="{FF2B5EF4-FFF2-40B4-BE49-F238E27FC236}">
                <a16:creationId xmlns:a16="http://schemas.microsoft.com/office/drawing/2014/main" id="{BD7E996C-23F8-44FC-B1FB-307F8970BF43}"/>
              </a:ext>
            </a:extLst>
          </p:cNvPr>
          <p:cNvSpPr txBox="1"/>
          <p:nvPr/>
        </p:nvSpPr>
        <p:spPr>
          <a:xfrm>
            <a:off x="1573578" y="9051607"/>
            <a:ext cx="3903301" cy="346249"/>
          </a:xfrm>
          <a:prstGeom prst="rect">
            <a:avLst/>
          </a:prstGeom>
        </p:spPr>
        <p:txBody>
          <a:bodyPr lIns="0" tIns="0" rIns="0" bIns="0" rtlCol="0" anchor="t">
            <a:spAutoFit/>
          </a:bodyPr>
          <a:lstStyle/>
          <a:p>
            <a:pPr>
              <a:lnSpc>
                <a:spcPts val="2939"/>
              </a:lnSpc>
            </a:pPr>
            <a:r>
              <a:rPr lang="en-US" sz="2099" dirty="0">
                <a:solidFill>
                  <a:srgbClr val="69498D"/>
                </a:solidFill>
                <a:latin typeface="Roboto"/>
                <a:ea typeface="Roboto"/>
                <a:cs typeface="Roboto"/>
                <a:sym typeface="Roboto"/>
              </a:rPr>
              <a:t>Final Review</a:t>
            </a:r>
          </a:p>
        </p:txBody>
      </p:sp>
      <p:sp>
        <p:nvSpPr>
          <p:cNvPr id="16" name="Text 0">
            <a:extLst>
              <a:ext uri="{FF2B5EF4-FFF2-40B4-BE49-F238E27FC236}">
                <a16:creationId xmlns:a16="http://schemas.microsoft.com/office/drawing/2014/main" id="{4092EB6C-D79A-48B2-A78B-FECBB2BBA5AC}"/>
              </a:ext>
            </a:extLst>
          </p:cNvPr>
          <p:cNvSpPr/>
          <p:nvPr/>
        </p:nvSpPr>
        <p:spPr>
          <a:xfrm>
            <a:off x="1103632" y="1592650"/>
            <a:ext cx="15757251" cy="2712649"/>
          </a:xfrm>
          <a:prstGeom prst="rect">
            <a:avLst/>
          </a:prstGeom>
          <a:noFill/>
          <a:ln/>
        </p:spPr>
        <p:txBody>
          <a:bodyPr wrap="none" lIns="0" tIns="0" rIns="0" bIns="0" rtlCol="0" anchor="t"/>
          <a:lstStyle/>
          <a:p>
            <a:pPr>
              <a:lnSpc>
                <a:spcPts val="3950"/>
              </a:lnSpc>
            </a:pPr>
            <a:r>
              <a:rPr lang="en-US" sz="2800" b="1" dirty="0">
                <a:latin typeface="Source Sans 3" panose="020B0604020202020204" charset="0"/>
                <a:cs typeface="Source Sans 3" panose="020B0604020202020204" charset="0"/>
              </a:rPr>
              <a:t>Light Transmission Estimation:</a:t>
            </a:r>
          </a:p>
          <a:p>
            <a:pPr marL="457200" lvl="0" indent="-457200" defTabSz="914400" eaLnBrk="0" fontAlgn="base" hangingPunct="0">
              <a:lnSpc>
                <a:spcPct val="150000"/>
              </a:lnSpc>
              <a:spcBef>
                <a:spcPct val="0"/>
              </a:spcBef>
              <a:spcAft>
                <a:spcPct val="0"/>
              </a:spcAft>
              <a:buFont typeface="Arial" panose="020B0604020202020204" pitchFamily="34" charset="0"/>
              <a:buChar char="•"/>
            </a:pPr>
            <a:r>
              <a:rPr lang="en-US" altLang="en-US" sz="2800" dirty="0">
                <a:latin typeface="Source Sans 3" panose="020B0604020202020204" charset="0"/>
                <a:cs typeface="Source Sans 3" panose="020B0604020202020204" charset="0"/>
              </a:rPr>
              <a:t>Calculates how much light reaches the camera from each pixel </a:t>
            </a:r>
          </a:p>
          <a:p>
            <a:pPr marL="457200" lvl="0" indent="-457200" defTabSz="914400" eaLnBrk="0" fontAlgn="base" hangingPunct="0">
              <a:lnSpc>
                <a:spcPct val="150000"/>
              </a:lnSpc>
              <a:spcBef>
                <a:spcPct val="0"/>
              </a:spcBef>
              <a:spcAft>
                <a:spcPct val="0"/>
              </a:spcAft>
              <a:buFont typeface="Arial" panose="020B0604020202020204" pitchFamily="34" charset="0"/>
              <a:buChar char="•"/>
            </a:pPr>
            <a:r>
              <a:rPr lang="en-US" altLang="en-US" sz="2800" dirty="0">
                <a:latin typeface="Source Sans 3" panose="020B0604020202020204" charset="0"/>
                <a:cs typeface="Source Sans 3" panose="020B0604020202020204" charset="0"/>
              </a:rPr>
              <a:t>Uses results from dark channel analysis </a:t>
            </a:r>
          </a:p>
          <a:p>
            <a:pPr marL="457200" lvl="0" indent="-457200" defTabSz="914400" eaLnBrk="0" fontAlgn="base" hangingPunct="0">
              <a:lnSpc>
                <a:spcPct val="150000"/>
              </a:lnSpc>
              <a:spcBef>
                <a:spcPct val="0"/>
              </a:spcBef>
              <a:spcAft>
                <a:spcPct val="0"/>
              </a:spcAft>
              <a:buFont typeface="Arial" panose="020B0604020202020204" pitchFamily="34" charset="0"/>
              <a:buChar char="•"/>
            </a:pPr>
            <a:r>
              <a:rPr lang="en-US" altLang="en-US" sz="2800" dirty="0">
                <a:latin typeface="Source Sans 3" panose="020B0604020202020204" charset="0"/>
                <a:cs typeface="Source Sans 3" panose="020B0604020202020204" charset="0"/>
              </a:rPr>
              <a:t>Produces a </a:t>
            </a:r>
            <a:r>
              <a:rPr lang="en-US" altLang="en-US" sz="2800" b="1" dirty="0">
                <a:latin typeface="Source Sans 3" panose="020B0604020202020204" charset="0"/>
                <a:cs typeface="Source Sans 3" panose="020B0604020202020204" charset="0"/>
              </a:rPr>
              <a:t>transmission map</a:t>
            </a:r>
            <a:r>
              <a:rPr lang="en-US" altLang="en-US" sz="2800" dirty="0">
                <a:latin typeface="Source Sans 3" panose="020B0604020202020204" charset="0"/>
                <a:cs typeface="Source Sans 3" panose="020B0604020202020204" charset="0"/>
              </a:rPr>
              <a:t> indicating clarity levels across the image </a:t>
            </a:r>
          </a:p>
          <a:p>
            <a:pPr marL="457200" lvl="0" indent="-457200" defTabSz="914400" eaLnBrk="0" fontAlgn="base" hangingPunct="0">
              <a:lnSpc>
                <a:spcPct val="150000"/>
              </a:lnSpc>
              <a:spcBef>
                <a:spcPct val="0"/>
              </a:spcBef>
              <a:spcAft>
                <a:spcPct val="0"/>
              </a:spcAft>
              <a:buFont typeface="Arial" panose="020B0604020202020204" pitchFamily="34" charset="0"/>
              <a:buChar char="•"/>
            </a:pPr>
            <a:r>
              <a:rPr lang="en-US" altLang="en-US" sz="2800" dirty="0">
                <a:latin typeface="Source Sans 3" panose="020B0604020202020204" charset="0"/>
                <a:cs typeface="Source Sans 3" panose="020B0604020202020204" charset="0"/>
              </a:rPr>
              <a:t>Essential for separating scene details from haze effects </a:t>
            </a:r>
          </a:p>
          <a:p>
            <a:endParaRPr lang="en-US" sz="3600" dirty="0"/>
          </a:p>
          <a:p>
            <a:pPr>
              <a:lnSpc>
                <a:spcPts val="3950"/>
              </a:lnSpc>
            </a:pPr>
            <a:r>
              <a:rPr lang="en-US" sz="2800" b="1" dirty="0">
                <a:latin typeface="Source Sans 3" panose="020B0604020202020204" charset="0"/>
                <a:cs typeface="Source Sans 3" panose="020B0604020202020204" charset="0"/>
              </a:rPr>
              <a:t>Image Uniform Posterior</a:t>
            </a:r>
            <a:endParaRPr lang="en-US" sz="3500" b="1" dirty="0">
              <a:latin typeface="Source Sans 3" panose="020B0604020202020204" charset="0"/>
              <a:cs typeface="Source Sans 3" panose="020B0604020202020204" charset="0"/>
            </a:endParaRPr>
          </a:p>
        </p:txBody>
      </p:sp>
      <p:sp>
        <p:nvSpPr>
          <p:cNvPr id="19" name="Text 2">
            <a:extLst>
              <a:ext uri="{FF2B5EF4-FFF2-40B4-BE49-F238E27FC236}">
                <a16:creationId xmlns:a16="http://schemas.microsoft.com/office/drawing/2014/main" id="{07E93B5C-FC7C-4859-A29E-56FCCFA2AF8A}"/>
              </a:ext>
            </a:extLst>
          </p:cNvPr>
          <p:cNvSpPr/>
          <p:nvPr/>
        </p:nvSpPr>
        <p:spPr>
          <a:xfrm>
            <a:off x="1103633" y="4229099"/>
            <a:ext cx="15279368" cy="3898617"/>
          </a:xfrm>
          <a:prstGeom prst="rect">
            <a:avLst/>
          </a:prstGeom>
          <a:noFill/>
          <a:ln/>
        </p:spPr>
        <p:txBody>
          <a:bodyPr wrap="none" lIns="0" tIns="0" rIns="0" bIns="0" rtlCol="0" anchor="t"/>
          <a:lstStyle/>
          <a:p>
            <a:pPr algn="just">
              <a:lnSpc>
                <a:spcPct val="150000"/>
              </a:lnSpc>
            </a:pPr>
            <a:endParaRPr lang="en-US" sz="2800" dirty="0">
              <a:latin typeface="Source Sans 3" panose="020B0604020202020204" charset="0"/>
              <a:cs typeface="Source Sans 3" panose="020B0604020202020204" charset="0"/>
            </a:endParaRPr>
          </a:p>
        </p:txBody>
      </p:sp>
      <p:sp>
        <p:nvSpPr>
          <p:cNvPr id="21" name="Slide Number Placeholder 4">
            <a:extLst>
              <a:ext uri="{FF2B5EF4-FFF2-40B4-BE49-F238E27FC236}">
                <a16:creationId xmlns:a16="http://schemas.microsoft.com/office/drawing/2014/main" id="{9DB456B1-4C08-4A72-9332-17579AE46AC8}"/>
              </a:ext>
            </a:extLst>
          </p:cNvPr>
          <p:cNvSpPr txBox="1">
            <a:spLocks/>
          </p:cNvSpPr>
          <p:nvPr/>
        </p:nvSpPr>
        <p:spPr>
          <a:xfrm>
            <a:off x="16256000" y="9706056"/>
            <a:ext cx="1460501" cy="411480"/>
          </a:xfrm>
          <a:prstGeom prst="rect">
            <a:avLst/>
          </a:prstGeom>
        </p:spPr>
        <p:txBody>
          <a:bodyPr vert="horz" lIns="91440" tIns="45720" rIns="91440" bIns="45720" rtlCol="0" anchor="ctr"/>
          <a:lstStyle>
            <a:defPPr>
              <a:defRPr lang="en-US"/>
            </a:defPPr>
            <a:lvl1pPr marL="0" algn="l" defTabSz="457200" rtl="0" eaLnBrk="1" latinLnBrk="0" hangingPunct="1">
              <a:defRPr sz="1500" kern="1200">
                <a:solidFill>
                  <a:schemeClr val="tx1">
                    <a:lumMod val="95000"/>
                    <a:lumOff val="5000"/>
                  </a:schemeClr>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6F15528-21DE-4FAA-801E-634DDDAF4B2B}" type="slidenum">
              <a:rPr lang="en-US" smtClean="0"/>
              <a:pPr/>
              <a:t>11</a:t>
            </a:fld>
            <a:endParaRPr lang="en-US"/>
          </a:p>
        </p:txBody>
      </p:sp>
      <p:pic>
        <p:nvPicPr>
          <p:cNvPr id="22" name="Picture 21">
            <a:extLst>
              <a:ext uri="{FF2B5EF4-FFF2-40B4-BE49-F238E27FC236}">
                <a16:creationId xmlns:a16="http://schemas.microsoft.com/office/drawing/2014/main" id="{E4C75353-5258-47CA-B3DD-E348D638A0C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243189" y="174336"/>
            <a:ext cx="740449" cy="770067"/>
          </a:xfrm>
          <a:prstGeom prst="rect">
            <a:avLst/>
          </a:prstGeom>
        </p:spPr>
      </p:pic>
      <p:sp>
        <p:nvSpPr>
          <p:cNvPr id="18" name="Rectangle 2">
            <a:extLst>
              <a:ext uri="{FF2B5EF4-FFF2-40B4-BE49-F238E27FC236}">
                <a16:creationId xmlns:a16="http://schemas.microsoft.com/office/drawing/2014/main" id="{25441D81-BDF6-4E1C-99DC-B62FE3BB2E8F}"/>
              </a:ext>
            </a:extLst>
          </p:cNvPr>
          <p:cNvSpPr>
            <a:spLocks noChangeArrowheads="1"/>
          </p:cNvSpPr>
          <p:nvPr/>
        </p:nvSpPr>
        <p:spPr bwMode="auto">
          <a:xfrm>
            <a:off x="1103633" y="3202608"/>
            <a:ext cx="15355568" cy="52754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2800" b="0" i="0" u="none" strike="noStrike" cap="none" normalizeH="0" baseline="0" dirty="0">
              <a:ln>
                <a:noFill/>
              </a:ln>
              <a:solidFill>
                <a:schemeClr val="tx1"/>
              </a:solidFill>
              <a:effectLst/>
              <a:latin typeface="Source Sans 3" panose="020B0604020202020204" charset="0"/>
              <a:cs typeface="Source Sans 3" panose="020B0604020202020204" charset="0"/>
            </a:endParaRPr>
          </a:p>
          <a:p>
            <a:pPr marR="0" lvl="0" algn="l" defTabSz="914400" rtl="0" eaLnBrk="0" fontAlgn="base" latinLnBrk="0" hangingPunct="0">
              <a:lnSpc>
                <a:spcPct val="15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Source Sans 3" panose="020B0604020202020204" charset="0"/>
              <a:cs typeface="Source Sans 3" panose="020B0604020202020204" charset="0"/>
            </a:endParaRP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Source Sans 3" panose="020B0604020202020204" charset="0"/>
                <a:cs typeface="Source Sans 3" panose="020B0604020202020204" charset="0"/>
              </a:rPr>
              <a:t>Refines the estimated transmission and scene radiance </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Source Sans 3" panose="020B0604020202020204" charset="0"/>
                <a:cs typeface="Source Sans 3" panose="020B0604020202020204" charset="0"/>
              </a:rPr>
              <a:t>Uses probabilistic modeling (posterior estimation) </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Source Sans 3" panose="020B0604020202020204" charset="0"/>
                <a:cs typeface="Source Sans 3" panose="020B0604020202020204" charset="0"/>
              </a:rPr>
              <a:t>Ensures consistency and smoothness across the image </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Source Sans 3" panose="020B0604020202020204" charset="0"/>
                <a:cs typeface="Source Sans 3" panose="020B0604020202020204" charset="0"/>
              </a:rPr>
              <a:t>Reduces artifacts and improves overall accuracy </a:t>
            </a:r>
          </a:p>
        </p:txBody>
      </p:sp>
    </p:spTree>
    <p:extLst>
      <p:ext uri="{BB962C8B-B14F-4D97-AF65-F5344CB8AC3E}">
        <p14:creationId xmlns:p14="http://schemas.microsoft.com/office/powerpoint/2010/main" val="2307833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027C42-0E82-4251-B5B9-F76DCD08ECAE}"/>
              </a:ext>
            </a:extLst>
          </p:cNvPr>
          <p:cNvSpPr>
            <a:spLocks noGrp="1"/>
          </p:cNvSpPr>
          <p:nvPr>
            <p:ph type="sldNum" sz="quarter" idx="12"/>
          </p:nvPr>
        </p:nvSpPr>
        <p:spPr/>
        <p:txBody>
          <a:bodyPr/>
          <a:lstStyle/>
          <a:p>
            <a:fld id="{B6F15528-21DE-4FAA-801E-634DDDAF4B2B}" type="slidenum">
              <a:rPr lang="en-US" smtClean="0"/>
              <a:pPr/>
              <a:t>12</a:t>
            </a:fld>
            <a:endParaRPr lang="en-US" dirty="0"/>
          </a:p>
        </p:txBody>
      </p:sp>
      <p:sp>
        <p:nvSpPr>
          <p:cNvPr id="3" name="AutoShape 2">
            <a:extLst>
              <a:ext uri="{FF2B5EF4-FFF2-40B4-BE49-F238E27FC236}">
                <a16:creationId xmlns:a16="http://schemas.microsoft.com/office/drawing/2014/main" id="{AA8A053F-BEBA-4E96-AA60-4D0460A79CAF}"/>
              </a:ext>
            </a:extLst>
          </p:cNvPr>
          <p:cNvSpPr/>
          <p:nvPr/>
        </p:nvSpPr>
        <p:spPr>
          <a:xfrm>
            <a:off x="3953337" y="9258300"/>
            <a:ext cx="13305963" cy="0"/>
          </a:xfrm>
          <a:prstGeom prst="line">
            <a:avLst/>
          </a:prstGeom>
          <a:ln w="19050" cap="flat">
            <a:solidFill>
              <a:srgbClr val="48276D"/>
            </a:solidFill>
            <a:prstDash val="solid"/>
            <a:headEnd type="none" w="sm" len="sm"/>
            <a:tailEnd type="none" w="sm" len="sm"/>
          </a:ln>
        </p:spPr>
      </p:sp>
      <p:sp>
        <p:nvSpPr>
          <p:cNvPr id="4" name="Freeform 3">
            <a:extLst>
              <a:ext uri="{FF2B5EF4-FFF2-40B4-BE49-F238E27FC236}">
                <a16:creationId xmlns:a16="http://schemas.microsoft.com/office/drawing/2014/main" id="{77212D77-0717-4F88-8D86-261C6030D40C}"/>
              </a:ext>
            </a:extLst>
          </p:cNvPr>
          <p:cNvSpPr/>
          <p:nvPr/>
        </p:nvSpPr>
        <p:spPr>
          <a:xfrm>
            <a:off x="15421891" y="7635385"/>
            <a:ext cx="4190916" cy="4403878"/>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35000"/>
              <a:extLst>
                <a:ext uri="{96DAC541-7B7A-43D3-8B79-37D633B846F1}">
                  <asvg:svgBlip xmlns:asvg="http://schemas.microsoft.com/office/drawing/2016/SVG/main" r:embed="rId3"/>
                </a:ext>
              </a:extLst>
            </a:blip>
            <a:stretch>
              <a:fillRect/>
            </a:stretch>
          </a:blipFill>
        </p:spPr>
      </p:sp>
      <p:sp>
        <p:nvSpPr>
          <p:cNvPr id="5" name="AutoShape 4">
            <a:extLst>
              <a:ext uri="{FF2B5EF4-FFF2-40B4-BE49-F238E27FC236}">
                <a16:creationId xmlns:a16="http://schemas.microsoft.com/office/drawing/2014/main" id="{784A92C7-032B-4F1E-82A1-D1D311658FA0}"/>
              </a:ext>
            </a:extLst>
          </p:cNvPr>
          <p:cNvSpPr/>
          <p:nvPr/>
        </p:nvSpPr>
        <p:spPr>
          <a:xfrm flipV="1">
            <a:off x="728464" y="1047750"/>
            <a:ext cx="16530836" cy="0"/>
          </a:xfrm>
          <a:prstGeom prst="line">
            <a:avLst/>
          </a:prstGeom>
          <a:ln w="19050" cap="flat">
            <a:solidFill>
              <a:srgbClr val="48276D"/>
            </a:solidFill>
            <a:prstDash val="solid"/>
            <a:headEnd type="none" w="sm" len="sm"/>
            <a:tailEnd type="none" w="sm" len="sm"/>
          </a:ln>
        </p:spPr>
      </p:sp>
      <p:grpSp>
        <p:nvGrpSpPr>
          <p:cNvPr id="6" name="Group 6">
            <a:extLst>
              <a:ext uri="{FF2B5EF4-FFF2-40B4-BE49-F238E27FC236}">
                <a16:creationId xmlns:a16="http://schemas.microsoft.com/office/drawing/2014/main" id="{76B25DD1-51D1-4933-898D-78390A595F16}"/>
              </a:ext>
            </a:extLst>
          </p:cNvPr>
          <p:cNvGrpSpPr/>
          <p:nvPr/>
        </p:nvGrpSpPr>
        <p:grpSpPr>
          <a:xfrm>
            <a:off x="17223863" y="2431310"/>
            <a:ext cx="1064138" cy="6126166"/>
            <a:chOff x="0" y="0"/>
            <a:chExt cx="275176" cy="1507565"/>
          </a:xfrm>
        </p:grpSpPr>
        <p:sp>
          <p:nvSpPr>
            <p:cNvPr id="7" name="Freeform 7">
              <a:extLst>
                <a:ext uri="{FF2B5EF4-FFF2-40B4-BE49-F238E27FC236}">
                  <a16:creationId xmlns:a16="http://schemas.microsoft.com/office/drawing/2014/main" id="{15A09258-6A0B-43C3-9EA2-A3D12B1A211F}"/>
                </a:ext>
              </a:extLst>
            </p:cNvPr>
            <p:cNvSpPr/>
            <p:nvPr/>
          </p:nvSpPr>
          <p:spPr>
            <a:xfrm>
              <a:off x="0" y="0"/>
              <a:ext cx="275176" cy="1507565"/>
            </a:xfrm>
            <a:custGeom>
              <a:avLst/>
              <a:gdLst/>
              <a:ahLst/>
              <a:cxnLst/>
              <a:rect l="l" t="t" r="r" b="b"/>
              <a:pathLst>
                <a:path w="275176" h="1507565">
                  <a:moveTo>
                    <a:pt x="0" y="0"/>
                  </a:moveTo>
                  <a:lnTo>
                    <a:pt x="275176" y="0"/>
                  </a:lnTo>
                  <a:lnTo>
                    <a:pt x="275176" y="1507565"/>
                  </a:lnTo>
                  <a:lnTo>
                    <a:pt x="0" y="1507565"/>
                  </a:lnTo>
                  <a:close/>
                </a:path>
              </a:pathLst>
            </a:custGeom>
            <a:gradFill rotWithShape="1">
              <a:gsLst>
                <a:gs pos="0">
                  <a:srgbClr val="9374B3">
                    <a:alpha val="100000"/>
                  </a:srgbClr>
                </a:gs>
                <a:gs pos="50000">
                  <a:srgbClr val="7161A6">
                    <a:alpha val="100000"/>
                  </a:srgbClr>
                </a:gs>
                <a:gs pos="100000">
                  <a:srgbClr val="4A4D9C">
                    <a:alpha val="100000"/>
                  </a:srgbClr>
                </a:gs>
              </a:gsLst>
              <a:lin ang="0"/>
            </a:gradFill>
          </p:spPr>
        </p:sp>
        <p:sp>
          <p:nvSpPr>
            <p:cNvPr id="8" name="TextBox 8">
              <a:extLst>
                <a:ext uri="{FF2B5EF4-FFF2-40B4-BE49-F238E27FC236}">
                  <a16:creationId xmlns:a16="http://schemas.microsoft.com/office/drawing/2014/main" id="{C6729083-1B08-47E2-A0B7-0913ACEBB6A6}"/>
                </a:ext>
              </a:extLst>
            </p:cNvPr>
            <p:cNvSpPr txBox="1"/>
            <p:nvPr/>
          </p:nvSpPr>
          <p:spPr>
            <a:xfrm>
              <a:off x="0" y="-38100"/>
              <a:ext cx="275176" cy="1545665"/>
            </a:xfrm>
            <a:prstGeom prst="rect">
              <a:avLst/>
            </a:prstGeom>
          </p:spPr>
          <p:txBody>
            <a:bodyPr lIns="50800" tIns="50800" rIns="50800" bIns="50800" rtlCol="0" anchor="ctr"/>
            <a:lstStyle/>
            <a:p>
              <a:pPr algn="ctr">
                <a:lnSpc>
                  <a:spcPts val="2659"/>
                </a:lnSpc>
                <a:spcBef>
                  <a:spcPct val="0"/>
                </a:spcBef>
              </a:pPr>
              <a:endParaRPr dirty="0"/>
            </a:p>
          </p:txBody>
        </p:sp>
      </p:grpSp>
      <p:sp>
        <p:nvSpPr>
          <p:cNvPr id="9" name="Freeform 9">
            <a:extLst>
              <a:ext uri="{FF2B5EF4-FFF2-40B4-BE49-F238E27FC236}">
                <a16:creationId xmlns:a16="http://schemas.microsoft.com/office/drawing/2014/main" id="{5290E783-D719-4B4E-A1C1-E5E18A4B7E4F}"/>
              </a:ext>
            </a:extLst>
          </p:cNvPr>
          <p:cNvSpPr/>
          <p:nvPr/>
        </p:nvSpPr>
        <p:spPr>
          <a:xfrm rot="-5400000">
            <a:off x="17434592" y="3913082"/>
            <a:ext cx="761125" cy="181080"/>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AutoShape 10">
            <a:extLst>
              <a:ext uri="{FF2B5EF4-FFF2-40B4-BE49-F238E27FC236}">
                <a16:creationId xmlns:a16="http://schemas.microsoft.com/office/drawing/2014/main" id="{F94570FB-8CFC-48FF-9869-5A0C9F562580}"/>
              </a:ext>
            </a:extLst>
          </p:cNvPr>
          <p:cNvSpPr/>
          <p:nvPr/>
        </p:nvSpPr>
        <p:spPr>
          <a:xfrm flipV="1">
            <a:off x="17807273" y="4860438"/>
            <a:ext cx="0" cy="1118034"/>
          </a:xfrm>
          <a:prstGeom prst="line">
            <a:avLst/>
          </a:prstGeom>
          <a:ln w="19050" cap="flat">
            <a:solidFill>
              <a:srgbClr val="FFFFFF"/>
            </a:solidFill>
            <a:prstDash val="solid"/>
            <a:headEnd type="none" w="sm" len="sm"/>
            <a:tailEnd type="none" w="sm" len="sm"/>
          </a:ln>
        </p:spPr>
      </p:sp>
      <p:sp>
        <p:nvSpPr>
          <p:cNvPr id="11" name="Freeform 11">
            <a:extLst>
              <a:ext uri="{FF2B5EF4-FFF2-40B4-BE49-F238E27FC236}">
                <a16:creationId xmlns:a16="http://schemas.microsoft.com/office/drawing/2014/main" id="{DD3E8EF5-A91C-496E-BCBE-257684AB824A}"/>
              </a:ext>
            </a:extLst>
          </p:cNvPr>
          <p:cNvSpPr/>
          <p:nvPr/>
        </p:nvSpPr>
        <p:spPr>
          <a:xfrm rot="-5400000">
            <a:off x="17434592" y="6835946"/>
            <a:ext cx="761125" cy="181080"/>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TextBox 13">
            <a:extLst>
              <a:ext uri="{FF2B5EF4-FFF2-40B4-BE49-F238E27FC236}">
                <a16:creationId xmlns:a16="http://schemas.microsoft.com/office/drawing/2014/main" id="{D1CB957F-3B8E-4785-8D00-4B8665AE4F7F}"/>
              </a:ext>
            </a:extLst>
          </p:cNvPr>
          <p:cNvSpPr txBox="1"/>
          <p:nvPr/>
        </p:nvSpPr>
        <p:spPr>
          <a:xfrm>
            <a:off x="1062476" y="566621"/>
            <a:ext cx="2266088" cy="346249"/>
          </a:xfrm>
          <a:prstGeom prst="rect">
            <a:avLst/>
          </a:prstGeom>
        </p:spPr>
        <p:txBody>
          <a:bodyPr wrap="square" lIns="0" tIns="0" rIns="0" bIns="0" rtlCol="0" anchor="t">
            <a:spAutoFit/>
          </a:bodyPr>
          <a:lstStyle/>
          <a:p>
            <a:pPr algn="l">
              <a:lnSpc>
                <a:spcPts val="2939"/>
              </a:lnSpc>
            </a:pPr>
            <a:r>
              <a:rPr lang="en-US" sz="2099" dirty="0">
                <a:solidFill>
                  <a:srgbClr val="69498D"/>
                </a:solidFill>
                <a:latin typeface="Roboto"/>
                <a:ea typeface="Roboto"/>
                <a:cs typeface="Roboto"/>
                <a:sym typeface="Roboto"/>
              </a:rPr>
              <a:t>R20 Regulations</a:t>
            </a:r>
          </a:p>
        </p:txBody>
      </p:sp>
      <p:sp>
        <p:nvSpPr>
          <p:cNvPr id="13" name="TextBox 14">
            <a:extLst>
              <a:ext uri="{FF2B5EF4-FFF2-40B4-BE49-F238E27FC236}">
                <a16:creationId xmlns:a16="http://schemas.microsoft.com/office/drawing/2014/main" id="{D76A5843-954F-4143-AD98-54F4D8B5CB3B}"/>
              </a:ext>
            </a:extLst>
          </p:cNvPr>
          <p:cNvSpPr txBox="1"/>
          <p:nvPr/>
        </p:nvSpPr>
        <p:spPr>
          <a:xfrm>
            <a:off x="8099528" y="636814"/>
            <a:ext cx="2063584" cy="346249"/>
          </a:xfrm>
          <a:prstGeom prst="rect">
            <a:avLst/>
          </a:prstGeom>
        </p:spPr>
        <p:txBody>
          <a:bodyPr wrap="square" lIns="0" tIns="0" rIns="0" bIns="0" rtlCol="0" anchor="t">
            <a:spAutoFit/>
          </a:bodyPr>
          <a:lstStyle/>
          <a:p>
            <a:pPr algn="ctr">
              <a:lnSpc>
                <a:spcPts val="2939"/>
              </a:lnSpc>
            </a:pPr>
            <a:r>
              <a:rPr lang="en-US" sz="2099" dirty="0">
                <a:solidFill>
                  <a:srgbClr val="69498D"/>
                </a:solidFill>
                <a:latin typeface="Roboto"/>
                <a:ea typeface="Roboto"/>
                <a:cs typeface="Roboto"/>
                <a:sym typeface="Roboto"/>
              </a:rPr>
              <a:t>IV B. Tech ECE</a:t>
            </a:r>
          </a:p>
        </p:txBody>
      </p:sp>
      <p:sp>
        <p:nvSpPr>
          <p:cNvPr id="14" name="TextBox 15">
            <a:extLst>
              <a:ext uri="{FF2B5EF4-FFF2-40B4-BE49-F238E27FC236}">
                <a16:creationId xmlns:a16="http://schemas.microsoft.com/office/drawing/2014/main" id="{2B9D2BD5-1877-40AD-B370-D2A09E9B5EDE}"/>
              </a:ext>
            </a:extLst>
          </p:cNvPr>
          <p:cNvSpPr txBox="1"/>
          <p:nvPr/>
        </p:nvSpPr>
        <p:spPr>
          <a:xfrm>
            <a:off x="13078886" y="649680"/>
            <a:ext cx="3975505" cy="718145"/>
          </a:xfrm>
          <a:prstGeom prst="rect">
            <a:avLst/>
          </a:prstGeom>
        </p:spPr>
        <p:txBody>
          <a:bodyPr wrap="square" lIns="0" tIns="0" rIns="0" bIns="0" rtlCol="0" anchor="t">
            <a:spAutoFit/>
          </a:bodyPr>
          <a:lstStyle/>
          <a:p>
            <a:pPr algn="l">
              <a:lnSpc>
                <a:spcPts val="2939"/>
              </a:lnSpc>
            </a:pPr>
            <a:r>
              <a:rPr lang="en-US" sz="2099" dirty="0">
                <a:solidFill>
                  <a:srgbClr val="69498D"/>
                </a:solidFill>
                <a:latin typeface="Roboto"/>
                <a:ea typeface="Roboto"/>
                <a:cs typeface="Roboto"/>
                <a:sym typeface="Roboto"/>
              </a:rPr>
              <a:t>Ac. Year : 2025-26/ Semester -II</a:t>
            </a:r>
          </a:p>
          <a:p>
            <a:pPr algn="l">
              <a:lnSpc>
                <a:spcPts val="2939"/>
              </a:lnSpc>
            </a:pPr>
            <a:endParaRPr lang="en-US" sz="2099" dirty="0">
              <a:solidFill>
                <a:srgbClr val="69498D"/>
              </a:solidFill>
              <a:latin typeface="Roboto"/>
              <a:ea typeface="Roboto"/>
              <a:cs typeface="Roboto"/>
              <a:sym typeface="Roboto"/>
            </a:endParaRPr>
          </a:p>
        </p:txBody>
      </p:sp>
      <p:sp>
        <p:nvSpPr>
          <p:cNvPr id="15" name="TextBox 16">
            <a:extLst>
              <a:ext uri="{FF2B5EF4-FFF2-40B4-BE49-F238E27FC236}">
                <a16:creationId xmlns:a16="http://schemas.microsoft.com/office/drawing/2014/main" id="{C012D622-90DD-475F-BD60-E3537388F0D1}"/>
              </a:ext>
            </a:extLst>
          </p:cNvPr>
          <p:cNvSpPr txBox="1"/>
          <p:nvPr/>
        </p:nvSpPr>
        <p:spPr>
          <a:xfrm>
            <a:off x="1501374" y="9027283"/>
            <a:ext cx="3975505" cy="346249"/>
          </a:xfrm>
          <a:prstGeom prst="rect">
            <a:avLst/>
          </a:prstGeom>
        </p:spPr>
        <p:txBody>
          <a:bodyPr wrap="square" lIns="0" tIns="0" rIns="0" bIns="0" rtlCol="0" anchor="t">
            <a:spAutoFit/>
          </a:bodyPr>
          <a:lstStyle/>
          <a:p>
            <a:pPr>
              <a:lnSpc>
                <a:spcPts val="2939"/>
              </a:lnSpc>
            </a:pPr>
            <a:r>
              <a:rPr lang="en-US" sz="2099" dirty="0">
                <a:solidFill>
                  <a:srgbClr val="69498D"/>
                </a:solidFill>
                <a:latin typeface="Roboto"/>
                <a:ea typeface="Roboto"/>
                <a:cs typeface="Roboto"/>
                <a:sym typeface="Roboto"/>
              </a:rPr>
              <a:t>Final Review</a:t>
            </a:r>
          </a:p>
        </p:txBody>
      </p:sp>
      <p:sp>
        <p:nvSpPr>
          <p:cNvPr id="16" name="Text 0">
            <a:extLst>
              <a:ext uri="{FF2B5EF4-FFF2-40B4-BE49-F238E27FC236}">
                <a16:creationId xmlns:a16="http://schemas.microsoft.com/office/drawing/2014/main" id="{82D450D1-D35E-4553-8EB4-C382FE47C1AC}"/>
              </a:ext>
            </a:extLst>
          </p:cNvPr>
          <p:cNvSpPr/>
          <p:nvPr/>
        </p:nvSpPr>
        <p:spPr>
          <a:xfrm>
            <a:off x="1216198" y="1521827"/>
            <a:ext cx="4360809" cy="572785"/>
          </a:xfrm>
          <a:prstGeom prst="rect">
            <a:avLst/>
          </a:prstGeom>
          <a:noFill/>
          <a:ln/>
        </p:spPr>
        <p:txBody>
          <a:bodyPr wrap="none" lIns="0" tIns="0" rIns="0" bIns="0" rtlCol="0" anchor="t"/>
          <a:lstStyle/>
          <a:p>
            <a:pPr>
              <a:lnSpc>
                <a:spcPts val="4200"/>
              </a:lnSpc>
            </a:pPr>
            <a:r>
              <a:rPr lang="en-US" sz="2800" b="1" dirty="0">
                <a:latin typeface="Source Sans 3" panose="020B0604020202020204" charset="0"/>
                <a:cs typeface="Source Sans 3" panose="020B0604020202020204" charset="0"/>
              </a:rPr>
              <a:t>Image Enhancement:</a:t>
            </a:r>
          </a:p>
        </p:txBody>
      </p:sp>
      <p:pic>
        <p:nvPicPr>
          <p:cNvPr id="17" name="Picture 16">
            <a:extLst>
              <a:ext uri="{FF2B5EF4-FFF2-40B4-BE49-F238E27FC236}">
                <a16:creationId xmlns:a16="http://schemas.microsoft.com/office/drawing/2014/main" id="{0F238646-157E-456E-8E08-94903B72F39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191171" y="120236"/>
            <a:ext cx="792468" cy="824167"/>
          </a:xfrm>
          <a:prstGeom prst="rect">
            <a:avLst/>
          </a:prstGeom>
        </p:spPr>
      </p:pic>
      <p:sp>
        <p:nvSpPr>
          <p:cNvPr id="21" name="Rectangle 1">
            <a:extLst>
              <a:ext uri="{FF2B5EF4-FFF2-40B4-BE49-F238E27FC236}">
                <a16:creationId xmlns:a16="http://schemas.microsoft.com/office/drawing/2014/main" id="{2E4A5D77-A969-4EE5-B6B7-778FC2E0717D}"/>
              </a:ext>
            </a:extLst>
          </p:cNvPr>
          <p:cNvSpPr>
            <a:spLocks noChangeArrowheads="1"/>
          </p:cNvSpPr>
          <p:nvPr/>
        </p:nvSpPr>
        <p:spPr bwMode="auto">
          <a:xfrm>
            <a:off x="1233609" y="1110096"/>
            <a:ext cx="15050073" cy="3936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lang="en-US" altLang="en-US" dirty="0">
              <a:latin typeface="Arial" panose="020B0604020202020204" pitchFamily="34" charset="0"/>
              <a:cs typeface="Source Sans 3" panose="020B0604020202020204" charset="0"/>
            </a:endParaRP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cs typeface="Source Sans 3" panose="020B0604020202020204" charset="0"/>
            </a:endParaRP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Source Sans 3" panose="020B0604020202020204" charset="0"/>
                <a:cs typeface="Source Sans 3" panose="020B0604020202020204" charset="0"/>
              </a:rPr>
              <a:t>Applies final corrections to improve visual quality </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Source Sans 3" panose="020B0604020202020204" charset="0"/>
                <a:cs typeface="Source Sans 3" panose="020B0604020202020204" charset="0"/>
              </a:rPr>
              <a:t>Enhances contrast, brightness, and color balance </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Source Sans 3" panose="020B0604020202020204" charset="0"/>
                <a:cs typeface="Source Sans 3" panose="020B0604020202020204" charset="0"/>
              </a:rPr>
              <a:t>Removes haze and restores hidden details </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Source Sans 3" panose="020B0604020202020204" charset="0"/>
                <a:cs typeface="Source Sans 3" panose="020B0604020202020204" charset="0"/>
              </a:rPr>
              <a:t>May include filtering and normalization techniques </a:t>
            </a:r>
          </a:p>
        </p:txBody>
      </p:sp>
    </p:spTree>
    <p:extLst>
      <p:ext uri="{BB962C8B-B14F-4D97-AF65-F5344CB8AC3E}">
        <p14:creationId xmlns:p14="http://schemas.microsoft.com/office/powerpoint/2010/main" val="2042412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027C42-0E82-4251-B5B9-F76DCD08ECAE}"/>
              </a:ext>
            </a:extLst>
          </p:cNvPr>
          <p:cNvSpPr>
            <a:spLocks noGrp="1"/>
          </p:cNvSpPr>
          <p:nvPr>
            <p:ph type="sldNum" sz="quarter" idx="12"/>
          </p:nvPr>
        </p:nvSpPr>
        <p:spPr/>
        <p:txBody>
          <a:bodyPr/>
          <a:lstStyle/>
          <a:p>
            <a:fld id="{B6F15528-21DE-4FAA-801E-634DDDAF4B2B}" type="slidenum">
              <a:rPr lang="en-US" smtClean="0"/>
              <a:pPr/>
              <a:t>13</a:t>
            </a:fld>
            <a:endParaRPr lang="en-US" dirty="0"/>
          </a:p>
        </p:txBody>
      </p:sp>
      <p:sp>
        <p:nvSpPr>
          <p:cNvPr id="3" name="AutoShape 2">
            <a:extLst>
              <a:ext uri="{FF2B5EF4-FFF2-40B4-BE49-F238E27FC236}">
                <a16:creationId xmlns:a16="http://schemas.microsoft.com/office/drawing/2014/main" id="{AA8A053F-BEBA-4E96-AA60-4D0460A79CAF}"/>
              </a:ext>
            </a:extLst>
          </p:cNvPr>
          <p:cNvSpPr/>
          <p:nvPr/>
        </p:nvSpPr>
        <p:spPr>
          <a:xfrm>
            <a:off x="3953337" y="9258300"/>
            <a:ext cx="13305963" cy="0"/>
          </a:xfrm>
          <a:prstGeom prst="line">
            <a:avLst/>
          </a:prstGeom>
          <a:ln w="19050" cap="flat">
            <a:solidFill>
              <a:srgbClr val="48276D"/>
            </a:solidFill>
            <a:prstDash val="solid"/>
            <a:headEnd type="none" w="sm" len="sm"/>
            <a:tailEnd type="none" w="sm" len="sm"/>
          </a:ln>
        </p:spPr>
      </p:sp>
      <p:sp>
        <p:nvSpPr>
          <p:cNvPr id="4" name="Freeform 3">
            <a:extLst>
              <a:ext uri="{FF2B5EF4-FFF2-40B4-BE49-F238E27FC236}">
                <a16:creationId xmlns:a16="http://schemas.microsoft.com/office/drawing/2014/main" id="{77212D77-0717-4F88-8D86-261C6030D40C}"/>
              </a:ext>
            </a:extLst>
          </p:cNvPr>
          <p:cNvSpPr/>
          <p:nvPr/>
        </p:nvSpPr>
        <p:spPr>
          <a:xfrm>
            <a:off x="15421891" y="7635385"/>
            <a:ext cx="4190916" cy="4403878"/>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35000"/>
              <a:extLst>
                <a:ext uri="{96DAC541-7B7A-43D3-8B79-37D633B846F1}">
                  <asvg:svgBlip xmlns:asvg="http://schemas.microsoft.com/office/drawing/2016/SVG/main" r:embed="rId3"/>
                </a:ext>
              </a:extLst>
            </a:blip>
            <a:stretch>
              <a:fillRect/>
            </a:stretch>
          </a:blipFill>
        </p:spPr>
      </p:sp>
      <p:sp>
        <p:nvSpPr>
          <p:cNvPr id="5" name="AutoShape 4">
            <a:extLst>
              <a:ext uri="{FF2B5EF4-FFF2-40B4-BE49-F238E27FC236}">
                <a16:creationId xmlns:a16="http://schemas.microsoft.com/office/drawing/2014/main" id="{784A92C7-032B-4F1E-82A1-D1D311658FA0}"/>
              </a:ext>
            </a:extLst>
          </p:cNvPr>
          <p:cNvSpPr/>
          <p:nvPr/>
        </p:nvSpPr>
        <p:spPr>
          <a:xfrm flipV="1">
            <a:off x="728464" y="1047750"/>
            <a:ext cx="16530836" cy="0"/>
          </a:xfrm>
          <a:prstGeom prst="line">
            <a:avLst/>
          </a:prstGeom>
          <a:ln w="19050" cap="flat">
            <a:solidFill>
              <a:srgbClr val="48276D"/>
            </a:solidFill>
            <a:prstDash val="solid"/>
            <a:headEnd type="none" w="sm" len="sm"/>
            <a:tailEnd type="none" w="sm" len="sm"/>
          </a:ln>
        </p:spPr>
      </p:sp>
      <p:grpSp>
        <p:nvGrpSpPr>
          <p:cNvPr id="6" name="Group 6">
            <a:extLst>
              <a:ext uri="{FF2B5EF4-FFF2-40B4-BE49-F238E27FC236}">
                <a16:creationId xmlns:a16="http://schemas.microsoft.com/office/drawing/2014/main" id="{76B25DD1-51D1-4933-898D-78390A595F16}"/>
              </a:ext>
            </a:extLst>
          </p:cNvPr>
          <p:cNvGrpSpPr/>
          <p:nvPr/>
        </p:nvGrpSpPr>
        <p:grpSpPr>
          <a:xfrm>
            <a:off x="17223863" y="2431310"/>
            <a:ext cx="1064138" cy="6126166"/>
            <a:chOff x="0" y="0"/>
            <a:chExt cx="275176" cy="1507565"/>
          </a:xfrm>
        </p:grpSpPr>
        <p:sp>
          <p:nvSpPr>
            <p:cNvPr id="7" name="Freeform 7">
              <a:extLst>
                <a:ext uri="{FF2B5EF4-FFF2-40B4-BE49-F238E27FC236}">
                  <a16:creationId xmlns:a16="http://schemas.microsoft.com/office/drawing/2014/main" id="{15A09258-6A0B-43C3-9EA2-A3D12B1A211F}"/>
                </a:ext>
              </a:extLst>
            </p:cNvPr>
            <p:cNvSpPr/>
            <p:nvPr/>
          </p:nvSpPr>
          <p:spPr>
            <a:xfrm>
              <a:off x="0" y="0"/>
              <a:ext cx="275176" cy="1507565"/>
            </a:xfrm>
            <a:custGeom>
              <a:avLst/>
              <a:gdLst/>
              <a:ahLst/>
              <a:cxnLst/>
              <a:rect l="l" t="t" r="r" b="b"/>
              <a:pathLst>
                <a:path w="275176" h="1507565">
                  <a:moveTo>
                    <a:pt x="0" y="0"/>
                  </a:moveTo>
                  <a:lnTo>
                    <a:pt x="275176" y="0"/>
                  </a:lnTo>
                  <a:lnTo>
                    <a:pt x="275176" y="1507565"/>
                  </a:lnTo>
                  <a:lnTo>
                    <a:pt x="0" y="1507565"/>
                  </a:lnTo>
                  <a:close/>
                </a:path>
              </a:pathLst>
            </a:custGeom>
            <a:gradFill rotWithShape="1">
              <a:gsLst>
                <a:gs pos="0">
                  <a:srgbClr val="9374B3">
                    <a:alpha val="100000"/>
                  </a:srgbClr>
                </a:gs>
                <a:gs pos="50000">
                  <a:srgbClr val="7161A6">
                    <a:alpha val="100000"/>
                  </a:srgbClr>
                </a:gs>
                <a:gs pos="100000">
                  <a:srgbClr val="4A4D9C">
                    <a:alpha val="100000"/>
                  </a:srgbClr>
                </a:gs>
              </a:gsLst>
              <a:lin ang="0"/>
            </a:gradFill>
          </p:spPr>
        </p:sp>
        <p:sp>
          <p:nvSpPr>
            <p:cNvPr id="8" name="TextBox 8">
              <a:extLst>
                <a:ext uri="{FF2B5EF4-FFF2-40B4-BE49-F238E27FC236}">
                  <a16:creationId xmlns:a16="http://schemas.microsoft.com/office/drawing/2014/main" id="{C6729083-1B08-47E2-A0B7-0913ACEBB6A6}"/>
                </a:ext>
              </a:extLst>
            </p:cNvPr>
            <p:cNvSpPr txBox="1"/>
            <p:nvPr/>
          </p:nvSpPr>
          <p:spPr>
            <a:xfrm>
              <a:off x="0" y="-38100"/>
              <a:ext cx="275176" cy="1545665"/>
            </a:xfrm>
            <a:prstGeom prst="rect">
              <a:avLst/>
            </a:prstGeom>
          </p:spPr>
          <p:txBody>
            <a:bodyPr lIns="50800" tIns="50800" rIns="50800" bIns="50800" rtlCol="0" anchor="ctr"/>
            <a:lstStyle/>
            <a:p>
              <a:pPr algn="ctr">
                <a:lnSpc>
                  <a:spcPts val="2659"/>
                </a:lnSpc>
                <a:spcBef>
                  <a:spcPct val="0"/>
                </a:spcBef>
              </a:pPr>
              <a:endParaRPr dirty="0"/>
            </a:p>
          </p:txBody>
        </p:sp>
      </p:grpSp>
      <p:sp>
        <p:nvSpPr>
          <p:cNvPr id="9" name="Freeform 9">
            <a:extLst>
              <a:ext uri="{FF2B5EF4-FFF2-40B4-BE49-F238E27FC236}">
                <a16:creationId xmlns:a16="http://schemas.microsoft.com/office/drawing/2014/main" id="{5290E783-D719-4B4E-A1C1-E5E18A4B7E4F}"/>
              </a:ext>
            </a:extLst>
          </p:cNvPr>
          <p:cNvSpPr/>
          <p:nvPr/>
        </p:nvSpPr>
        <p:spPr>
          <a:xfrm rot="-5400000">
            <a:off x="17434592" y="3913082"/>
            <a:ext cx="761125" cy="181080"/>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AutoShape 10">
            <a:extLst>
              <a:ext uri="{FF2B5EF4-FFF2-40B4-BE49-F238E27FC236}">
                <a16:creationId xmlns:a16="http://schemas.microsoft.com/office/drawing/2014/main" id="{F94570FB-8CFC-48FF-9869-5A0C9F562580}"/>
              </a:ext>
            </a:extLst>
          </p:cNvPr>
          <p:cNvSpPr/>
          <p:nvPr/>
        </p:nvSpPr>
        <p:spPr>
          <a:xfrm flipV="1">
            <a:off x="17807273" y="4860438"/>
            <a:ext cx="0" cy="1118034"/>
          </a:xfrm>
          <a:prstGeom prst="line">
            <a:avLst/>
          </a:prstGeom>
          <a:ln w="19050" cap="flat">
            <a:solidFill>
              <a:srgbClr val="FFFFFF"/>
            </a:solidFill>
            <a:prstDash val="solid"/>
            <a:headEnd type="none" w="sm" len="sm"/>
            <a:tailEnd type="none" w="sm" len="sm"/>
          </a:ln>
        </p:spPr>
      </p:sp>
      <p:sp>
        <p:nvSpPr>
          <p:cNvPr id="11" name="Freeform 11">
            <a:extLst>
              <a:ext uri="{FF2B5EF4-FFF2-40B4-BE49-F238E27FC236}">
                <a16:creationId xmlns:a16="http://schemas.microsoft.com/office/drawing/2014/main" id="{DD3E8EF5-A91C-496E-BCBE-257684AB824A}"/>
              </a:ext>
            </a:extLst>
          </p:cNvPr>
          <p:cNvSpPr/>
          <p:nvPr/>
        </p:nvSpPr>
        <p:spPr>
          <a:xfrm rot="-5400000">
            <a:off x="17434592" y="6835946"/>
            <a:ext cx="761125" cy="181080"/>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TextBox 13">
            <a:extLst>
              <a:ext uri="{FF2B5EF4-FFF2-40B4-BE49-F238E27FC236}">
                <a16:creationId xmlns:a16="http://schemas.microsoft.com/office/drawing/2014/main" id="{D1CB957F-3B8E-4785-8D00-4B8665AE4F7F}"/>
              </a:ext>
            </a:extLst>
          </p:cNvPr>
          <p:cNvSpPr txBox="1"/>
          <p:nvPr/>
        </p:nvSpPr>
        <p:spPr>
          <a:xfrm>
            <a:off x="1062476" y="566621"/>
            <a:ext cx="2266088" cy="346249"/>
          </a:xfrm>
          <a:prstGeom prst="rect">
            <a:avLst/>
          </a:prstGeom>
        </p:spPr>
        <p:txBody>
          <a:bodyPr wrap="square" lIns="0" tIns="0" rIns="0" bIns="0" rtlCol="0" anchor="t">
            <a:spAutoFit/>
          </a:bodyPr>
          <a:lstStyle/>
          <a:p>
            <a:pPr algn="l">
              <a:lnSpc>
                <a:spcPts val="2939"/>
              </a:lnSpc>
            </a:pPr>
            <a:r>
              <a:rPr lang="en-US" sz="2099" dirty="0">
                <a:solidFill>
                  <a:srgbClr val="69498D"/>
                </a:solidFill>
                <a:latin typeface="Roboto"/>
                <a:ea typeface="Roboto"/>
                <a:cs typeface="Roboto"/>
                <a:sym typeface="Roboto"/>
              </a:rPr>
              <a:t>R20 Regulations</a:t>
            </a:r>
          </a:p>
        </p:txBody>
      </p:sp>
      <p:sp>
        <p:nvSpPr>
          <p:cNvPr id="13" name="TextBox 14">
            <a:extLst>
              <a:ext uri="{FF2B5EF4-FFF2-40B4-BE49-F238E27FC236}">
                <a16:creationId xmlns:a16="http://schemas.microsoft.com/office/drawing/2014/main" id="{D76A5843-954F-4143-AD98-54F4D8B5CB3B}"/>
              </a:ext>
            </a:extLst>
          </p:cNvPr>
          <p:cNvSpPr txBox="1"/>
          <p:nvPr/>
        </p:nvSpPr>
        <p:spPr>
          <a:xfrm>
            <a:off x="8099528" y="636814"/>
            <a:ext cx="2063584" cy="346249"/>
          </a:xfrm>
          <a:prstGeom prst="rect">
            <a:avLst/>
          </a:prstGeom>
        </p:spPr>
        <p:txBody>
          <a:bodyPr wrap="square" lIns="0" tIns="0" rIns="0" bIns="0" rtlCol="0" anchor="t">
            <a:spAutoFit/>
          </a:bodyPr>
          <a:lstStyle/>
          <a:p>
            <a:pPr algn="ctr">
              <a:lnSpc>
                <a:spcPts val="2939"/>
              </a:lnSpc>
            </a:pPr>
            <a:r>
              <a:rPr lang="en-US" sz="2099" dirty="0">
                <a:solidFill>
                  <a:srgbClr val="69498D"/>
                </a:solidFill>
                <a:latin typeface="Roboto"/>
                <a:ea typeface="Roboto"/>
                <a:cs typeface="Roboto"/>
                <a:sym typeface="Roboto"/>
              </a:rPr>
              <a:t>IV B. Tech ECE</a:t>
            </a:r>
          </a:p>
        </p:txBody>
      </p:sp>
      <p:sp>
        <p:nvSpPr>
          <p:cNvPr id="14" name="TextBox 15">
            <a:extLst>
              <a:ext uri="{FF2B5EF4-FFF2-40B4-BE49-F238E27FC236}">
                <a16:creationId xmlns:a16="http://schemas.microsoft.com/office/drawing/2014/main" id="{2B9D2BD5-1877-40AD-B370-D2A09E9B5EDE}"/>
              </a:ext>
            </a:extLst>
          </p:cNvPr>
          <p:cNvSpPr txBox="1"/>
          <p:nvPr/>
        </p:nvSpPr>
        <p:spPr>
          <a:xfrm>
            <a:off x="13078886" y="649680"/>
            <a:ext cx="3975505" cy="718145"/>
          </a:xfrm>
          <a:prstGeom prst="rect">
            <a:avLst/>
          </a:prstGeom>
        </p:spPr>
        <p:txBody>
          <a:bodyPr wrap="square" lIns="0" tIns="0" rIns="0" bIns="0" rtlCol="0" anchor="t">
            <a:spAutoFit/>
          </a:bodyPr>
          <a:lstStyle/>
          <a:p>
            <a:pPr algn="l">
              <a:lnSpc>
                <a:spcPts val="2939"/>
              </a:lnSpc>
            </a:pPr>
            <a:r>
              <a:rPr lang="en-US" sz="2099" dirty="0">
                <a:solidFill>
                  <a:srgbClr val="69498D"/>
                </a:solidFill>
                <a:latin typeface="Roboto"/>
                <a:ea typeface="Roboto"/>
                <a:cs typeface="Roboto"/>
                <a:sym typeface="Roboto"/>
              </a:rPr>
              <a:t>Ac. Year : 2025-26/ Semester -II</a:t>
            </a:r>
          </a:p>
          <a:p>
            <a:pPr algn="l">
              <a:lnSpc>
                <a:spcPts val="2939"/>
              </a:lnSpc>
            </a:pPr>
            <a:endParaRPr lang="en-US" sz="2099" dirty="0">
              <a:solidFill>
                <a:srgbClr val="69498D"/>
              </a:solidFill>
              <a:latin typeface="Roboto"/>
              <a:ea typeface="Roboto"/>
              <a:cs typeface="Roboto"/>
              <a:sym typeface="Roboto"/>
            </a:endParaRPr>
          </a:p>
        </p:txBody>
      </p:sp>
      <p:sp>
        <p:nvSpPr>
          <p:cNvPr id="15" name="TextBox 16">
            <a:extLst>
              <a:ext uri="{FF2B5EF4-FFF2-40B4-BE49-F238E27FC236}">
                <a16:creationId xmlns:a16="http://schemas.microsoft.com/office/drawing/2014/main" id="{C012D622-90DD-475F-BD60-E3537388F0D1}"/>
              </a:ext>
            </a:extLst>
          </p:cNvPr>
          <p:cNvSpPr txBox="1"/>
          <p:nvPr/>
        </p:nvSpPr>
        <p:spPr>
          <a:xfrm>
            <a:off x="1501374" y="9027283"/>
            <a:ext cx="3975505" cy="346249"/>
          </a:xfrm>
          <a:prstGeom prst="rect">
            <a:avLst/>
          </a:prstGeom>
        </p:spPr>
        <p:txBody>
          <a:bodyPr wrap="square" lIns="0" tIns="0" rIns="0" bIns="0" rtlCol="0" anchor="t">
            <a:spAutoFit/>
          </a:bodyPr>
          <a:lstStyle/>
          <a:p>
            <a:pPr>
              <a:lnSpc>
                <a:spcPts val="2939"/>
              </a:lnSpc>
            </a:pPr>
            <a:r>
              <a:rPr lang="en-US" sz="2099" dirty="0">
                <a:solidFill>
                  <a:srgbClr val="69498D"/>
                </a:solidFill>
                <a:latin typeface="Roboto"/>
                <a:ea typeface="Roboto"/>
                <a:cs typeface="Roboto"/>
                <a:sym typeface="Roboto"/>
              </a:rPr>
              <a:t>Final Review</a:t>
            </a:r>
          </a:p>
        </p:txBody>
      </p:sp>
      <p:sp>
        <p:nvSpPr>
          <p:cNvPr id="16" name="Text 0">
            <a:extLst>
              <a:ext uri="{FF2B5EF4-FFF2-40B4-BE49-F238E27FC236}">
                <a16:creationId xmlns:a16="http://schemas.microsoft.com/office/drawing/2014/main" id="{82D450D1-D35E-4553-8EB4-C382FE47C1AC}"/>
              </a:ext>
            </a:extLst>
          </p:cNvPr>
          <p:cNvSpPr/>
          <p:nvPr/>
        </p:nvSpPr>
        <p:spPr>
          <a:xfrm>
            <a:off x="1216198" y="1521827"/>
            <a:ext cx="4360809" cy="572785"/>
          </a:xfrm>
          <a:prstGeom prst="rect">
            <a:avLst/>
          </a:prstGeom>
          <a:noFill/>
          <a:ln/>
        </p:spPr>
        <p:txBody>
          <a:bodyPr wrap="none" lIns="0" tIns="0" rIns="0" bIns="0" rtlCol="0" anchor="t"/>
          <a:lstStyle/>
          <a:p>
            <a:pPr>
              <a:lnSpc>
                <a:spcPts val="4200"/>
              </a:lnSpc>
            </a:pPr>
            <a:r>
              <a:rPr lang="en-US" sz="2800" b="1" dirty="0">
                <a:latin typeface="Source Sans 3" panose="020B0604020202020204" charset="0"/>
                <a:cs typeface="Source Sans 3" panose="020B0604020202020204" charset="0"/>
              </a:rPr>
              <a:t>Implementation:</a:t>
            </a:r>
          </a:p>
        </p:txBody>
      </p:sp>
      <p:pic>
        <p:nvPicPr>
          <p:cNvPr id="17" name="Picture 16">
            <a:extLst>
              <a:ext uri="{FF2B5EF4-FFF2-40B4-BE49-F238E27FC236}">
                <a16:creationId xmlns:a16="http://schemas.microsoft.com/office/drawing/2014/main" id="{0F238646-157E-456E-8E08-94903B72F39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191171" y="120236"/>
            <a:ext cx="792468" cy="824167"/>
          </a:xfrm>
          <a:prstGeom prst="rect">
            <a:avLst/>
          </a:prstGeom>
        </p:spPr>
      </p:pic>
      <p:pic>
        <p:nvPicPr>
          <p:cNvPr id="18" name="Picture 17">
            <a:extLst>
              <a:ext uri="{FF2B5EF4-FFF2-40B4-BE49-F238E27FC236}">
                <a16:creationId xmlns:a16="http://schemas.microsoft.com/office/drawing/2014/main" id="{CBF6E162-04C7-4042-9888-859FB2A704EC}"/>
              </a:ext>
            </a:extLst>
          </p:cNvPr>
          <p:cNvPicPr>
            <a:picLocks noChangeAspect="1"/>
          </p:cNvPicPr>
          <p:nvPr/>
        </p:nvPicPr>
        <p:blipFill>
          <a:blip r:embed="rId7"/>
          <a:stretch>
            <a:fillRect/>
          </a:stretch>
        </p:blipFill>
        <p:spPr>
          <a:xfrm>
            <a:off x="1216198" y="2094612"/>
            <a:ext cx="15974973" cy="6817440"/>
          </a:xfrm>
          <a:prstGeom prst="rect">
            <a:avLst/>
          </a:prstGeom>
        </p:spPr>
      </p:pic>
    </p:spTree>
    <p:extLst>
      <p:ext uri="{BB962C8B-B14F-4D97-AF65-F5344CB8AC3E}">
        <p14:creationId xmlns:p14="http://schemas.microsoft.com/office/powerpoint/2010/main" val="18755339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027C42-0E82-4251-B5B9-F76DCD08ECAE}"/>
              </a:ext>
            </a:extLst>
          </p:cNvPr>
          <p:cNvSpPr>
            <a:spLocks noGrp="1"/>
          </p:cNvSpPr>
          <p:nvPr>
            <p:ph type="sldNum" sz="quarter" idx="12"/>
          </p:nvPr>
        </p:nvSpPr>
        <p:spPr/>
        <p:txBody>
          <a:bodyPr/>
          <a:lstStyle/>
          <a:p>
            <a:fld id="{B6F15528-21DE-4FAA-801E-634DDDAF4B2B}" type="slidenum">
              <a:rPr lang="en-US" smtClean="0"/>
              <a:pPr/>
              <a:t>14</a:t>
            </a:fld>
            <a:endParaRPr lang="en-US" dirty="0"/>
          </a:p>
        </p:txBody>
      </p:sp>
      <p:sp>
        <p:nvSpPr>
          <p:cNvPr id="3" name="AutoShape 2">
            <a:extLst>
              <a:ext uri="{FF2B5EF4-FFF2-40B4-BE49-F238E27FC236}">
                <a16:creationId xmlns:a16="http://schemas.microsoft.com/office/drawing/2014/main" id="{AA8A053F-BEBA-4E96-AA60-4D0460A79CAF}"/>
              </a:ext>
            </a:extLst>
          </p:cNvPr>
          <p:cNvSpPr/>
          <p:nvPr/>
        </p:nvSpPr>
        <p:spPr>
          <a:xfrm>
            <a:off x="3953337" y="9258300"/>
            <a:ext cx="13305963" cy="0"/>
          </a:xfrm>
          <a:prstGeom prst="line">
            <a:avLst/>
          </a:prstGeom>
          <a:ln w="19050" cap="flat">
            <a:solidFill>
              <a:srgbClr val="48276D"/>
            </a:solidFill>
            <a:prstDash val="solid"/>
            <a:headEnd type="none" w="sm" len="sm"/>
            <a:tailEnd type="none" w="sm" len="sm"/>
          </a:ln>
        </p:spPr>
      </p:sp>
      <p:sp>
        <p:nvSpPr>
          <p:cNvPr id="4" name="Freeform 3">
            <a:extLst>
              <a:ext uri="{FF2B5EF4-FFF2-40B4-BE49-F238E27FC236}">
                <a16:creationId xmlns:a16="http://schemas.microsoft.com/office/drawing/2014/main" id="{77212D77-0717-4F88-8D86-261C6030D40C}"/>
              </a:ext>
            </a:extLst>
          </p:cNvPr>
          <p:cNvSpPr/>
          <p:nvPr/>
        </p:nvSpPr>
        <p:spPr>
          <a:xfrm>
            <a:off x="15421891" y="7635385"/>
            <a:ext cx="4190916" cy="4403878"/>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35000"/>
              <a:extLst>
                <a:ext uri="{96DAC541-7B7A-43D3-8B79-37D633B846F1}">
                  <asvg:svgBlip xmlns:asvg="http://schemas.microsoft.com/office/drawing/2016/SVG/main" r:embed="rId3"/>
                </a:ext>
              </a:extLst>
            </a:blip>
            <a:stretch>
              <a:fillRect/>
            </a:stretch>
          </a:blipFill>
        </p:spPr>
      </p:sp>
      <p:sp>
        <p:nvSpPr>
          <p:cNvPr id="5" name="AutoShape 4">
            <a:extLst>
              <a:ext uri="{FF2B5EF4-FFF2-40B4-BE49-F238E27FC236}">
                <a16:creationId xmlns:a16="http://schemas.microsoft.com/office/drawing/2014/main" id="{784A92C7-032B-4F1E-82A1-D1D311658FA0}"/>
              </a:ext>
            </a:extLst>
          </p:cNvPr>
          <p:cNvSpPr/>
          <p:nvPr/>
        </p:nvSpPr>
        <p:spPr>
          <a:xfrm flipV="1">
            <a:off x="728464" y="1047750"/>
            <a:ext cx="16530836" cy="0"/>
          </a:xfrm>
          <a:prstGeom prst="line">
            <a:avLst/>
          </a:prstGeom>
          <a:ln w="19050" cap="flat">
            <a:solidFill>
              <a:srgbClr val="48276D"/>
            </a:solidFill>
            <a:prstDash val="solid"/>
            <a:headEnd type="none" w="sm" len="sm"/>
            <a:tailEnd type="none" w="sm" len="sm"/>
          </a:ln>
        </p:spPr>
      </p:sp>
      <p:grpSp>
        <p:nvGrpSpPr>
          <p:cNvPr id="6" name="Group 6">
            <a:extLst>
              <a:ext uri="{FF2B5EF4-FFF2-40B4-BE49-F238E27FC236}">
                <a16:creationId xmlns:a16="http://schemas.microsoft.com/office/drawing/2014/main" id="{76B25DD1-51D1-4933-898D-78390A595F16}"/>
              </a:ext>
            </a:extLst>
          </p:cNvPr>
          <p:cNvGrpSpPr/>
          <p:nvPr/>
        </p:nvGrpSpPr>
        <p:grpSpPr>
          <a:xfrm>
            <a:off x="17223863" y="2431310"/>
            <a:ext cx="1064138" cy="6126166"/>
            <a:chOff x="0" y="0"/>
            <a:chExt cx="275176" cy="1507565"/>
          </a:xfrm>
        </p:grpSpPr>
        <p:sp>
          <p:nvSpPr>
            <p:cNvPr id="7" name="Freeform 7">
              <a:extLst>
                <a:ext uri="{FF2B5EF4-FFF2-40B4-BE49-F238E27FC236}">
                  <a16:creationId xmlns:a16="http://schemas.microsoft.com/office/drawing/2014/main" id="{15A09258-6A0B-43C3-9EA2-A3D12B1A211F}"/>
                </a:ext>
              </a:extLst>
            </p:cNvPr>
            <p:cNvSpPr/>
            <p:nvPr/>
          </p:nvSpPr>
          <p:spPr>
            <a:xfrm>
              <a:off x="0" y="0"/>
              <a:ext cx="275176" cy="1507565"/>
            </a:xfrm>
            <a:custGeom>
              <a:avLst/>
              <a:gdLst/>
              <a:ahLst/>
              <a:cxnLst/>
              <a:rect l="l" t="t" r="r" b="b"/>
              <a:pathLst>
                <a:path w="275176" h="1507565">
                  <a:moveTo>
                    <a:pt x="0" y="0"/>
                  </a:moveTo>
                  <a:lnTo>
                    <a:pt x="275176" y="0"/>
                  </a:lnTo>
                  <a:lnTo>
                    <a:pt x="275176" y="1507565"/>
                  </a:lnTo>
                  <a:lnTo>
                    <a:pt x="0" y="1507565"/>
                  </a:lnTo>
                  <a:close/>
                </a:path>
              </a:pathLst>
            </a:custGeom>
            <a:gradFill rotWithShape="1">
              <a:gsLst>
                <a:gs pos="0">
                  <a:srgbClr val="9374B3">
                    <a:alpha val="100000"/>
                  </a:srgbClr>
                </a:gs>
                <a:gs pos="50000">
                  <a:srgbClr val="7161A6">
                    <a:alpha val="100000"/>
                  </a:srgbClr>
                </a:gs>
                <a:gs pos="100000">
                  <a:srgbClr val="4A4D9C">
                    <a:alpha val="100000"/>
                  </a:srgbClr>
                </a:gs>
              </a:gsLst>
              <a:lin ang="0"/>
            </a:gradFill>
          </p:spPr>
        </p:sp>
        <p:sp>
          <p:nvSpPr>
            <p:cNvPr id="8" name="TextBox 8">
              <a:extLst>
                <a:ext uri="{FF2B5EF4-FFF2-40B4-BE49-F238E27FC236}">
                  <a16:creationId xmlns:a16="http://schemas.microsoft.com/office/drawing/2014/main" id="{C6729083-1B08-47E2-A0B7-0913ACEBB6A6}"/>
                </a:ext>
              </a:extLst>
            </p:cNvPr>
            <p:cNvSpPr txBox="1"/>
            <p:nvPr/>
          </p:nvSpPr>
          <p:spPr>
            <a:xfrm>
              <a:off x="0" y="-38100"/>
              <a:ext cx="275176" cy="1545665"/>
            </a:xfrm>
            <a:prstGeom prst="rect">
              <a:avLst/>
            </a:prstGeom>
          </p:spPr>
          <p:txBody>
            <a:bodyPr lIns="50800" tIns="50800" rIns="50800" bIns="50800" rtlCol="0" anchor="ctr"/>
            <a:lstStyle/>
            <a:p>
              <a:pPr algn="ctr">
                <a:lnSpc>
                  <a:spcPts val="2659"/>
                </a:lnSpc>
                <a:spcBef>
                  <a:spcPct val="0"/>
                </a:spcBef>
              </a:pPr>
              <a:endParaRPr dirty="0"/>
            </a:p>
          </p:txBody>
        </p:sp>
      </p:grpSp>
      <p:sp>
        <p:nvSpPr>
          <p:cNvPr id="9" name="Freeform 9">
            <a:extLst>
              <a:ext uri="{FF2B5EF4-FFF2-40B4-BE49-F238E27FC236}">
                <a16:creationId xmlns:a16="http://schemas.microsoft.com/office/drawing/2014/main" id="{5290E783-D719-4B4E-A1C1-E5E18A4B7E4F}"/>
              </a:ext>
            </a:extLst>
          </p:cNvPr>
          <p:cNvSpPr/>
          <p:nvPr/>
        </p:nvSpPr>
        <p:spPr>
          <a:xfrm rot="-5400000">
            <a:off x="17434592" y="3913082"/>
            <a:ext cx="761125" cy="181080"/>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AutoShape 10">
            <a:extLst>
              <a:ext uri="{FF2B5EF4-FFF2-40B4-BE49-F238E27FC236}">
                <a16:creationId xmlns:a16="http://schemas.microsoft.com/office/drawing/2014/main" id="{F94570FB-8CFC-48FF-9869-5A0C9F562580}"/>
              </a:ext>
            </a:extLst>
          </p:cNvPr>
          <p:cNvSpPr/>
          <p:nvPr/>
        </p:nvSpPr>
        <p:spPr>
          <a:xfrm flipV="1">
            <a:off x="17807273" y="4860438"/>
            <a:ext cx="0" cy="1118034"/>
          </a:xfrm>
          <a:prstGeom prst="line">
            <a:avLst/>
          </a:prstGeom>
          <a:ln w="19050" cap="flat">
            <a:solidFill>
              <a:srgbClr val="FFFFFF"/>
            </a:solidFill>
            <a:prstDash val="solid"/>
            <a:headEnd type="none" w="sm" len="sm"/>
            <a:tailEnd type="none" w="sm" len="sm"/>
          </a:ln>
        </p:spPr>
      </p:sp>
      <p:sp>
        <p:nvSpPr>
          <p:cNvPr id="11" name="Freeform 11">
            <a:extLst>
              <a:ext uri="{FF2B5EF4-FFF2-40B4-BE49-F238E27FC236}">
                <a16:creationId xmlns:a16="http://schemas.microsoft.com/office/drawing/2014/main" id="{DD3E8EF5-A91C-496E-BCBE-257684AB824A}"/>
              </a:ext>
            </a:extLst>
          </p:cNvPr>
          <p:cNvSpPr/>
          <p:nvPr/>
        </p:nvSpPr>
        <p:spPr>
          <a:xfrm rot="-5400000">
            <a:off x="17434592" y="6835946"/>
            <a:ext cx="761125" cy="181080"/>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TextBox 13">
            <a:extLst>
              <a:ext uri="{FF2B5EF4-FFF2-40B4-BE49-F238E27FC236}">
                <a16:creationId xmlns:a16="http://schemas.microsoft.com/office/drawing/2014/main" id="{D1CB957F-3B8E-4785-8D00-4B8665AE4F7F}"/>
              </a:ext>
            </a:extLst>
          </p:cNvPr>
          <p:cNvSpPr txBox="1"/>
          <p:nvPr/>
        </p:nvSpPr>
        <p:spPr>
          <a:xfrm>
            <a:off x="1062476" y="566621"/>
            <a:ext cx="2266088" cy="346249"/>
          </a:xfrm>
          <a:prstGeom prst="rect">
            <a:avLst/>
          </a:prstGeom>
        </p:spPr>
        <p:txBody>
          <a:bodyPr wrap="square" lIns="0" tIns="0" rIns="0" bIns="0" rtlCol="0" anchor="t">
            <a:spAutoFit/>
          </a:bodyPr>
          <a:lstStyle/>
          <a:p>
            <a:pPr algn="l">
              <a:lnSpc>
                <a:spcPts val="2939"/>
              </a:lnSpc>
            </a:pPr>
            <a:r>
              <a:rPr lang="en-US" sz="2099" dirty="0">
                <a:solidFill>
                  <a:srgbClr val="69498D"/>
                </a:solidFill>
                <a:latin typeface="Roboto"/>
                <a:ea typeface="Roboto"/>
                <a:cs typeface="Roboto"/>
                <a:sym typeface="Roboto"/>
              </a:rPr>
              <a:t>R20 Regulations</a:t>
            </a:r>
          </a:p>
        </p:txBody>
      </p:sp>
      <p:sp>
        <p:nvSpPr>
          <p:cNvPr id="13" name="TextBox 14">
            <a:extLst>
              <a:ext uri="{FF2B5EF4-FFF2-40B4-BE49-F238E27FC236}">
                <a16:creationId xmlns:a16="http://schemas.microsoft.com/office/drawing/2014/main" id="{D76A5843-954F-4143-AD98-54F4D8B5CB3B}"/>
              </a:ext>
            </a:extLst>
          </p:cNvPr>
          <p:cNvSpPr txBox="1"/>
          <p:nvPr/>
        </p:nvSpPr>
        <p:spPr>
          <a:xfrm>
            <a:off x="8099528" y="636814"/>
            <a:ext cx="2063584" cy="346249"/>
          </a:xfrm>
          <a:prstGeom prst="rect">
            <a:avLst/>
          </a:prstGeom>
        </p:spPr>
        <p:txBody>
          <a:bodyPr wrap="square" lIns="0" tIns="0" rIns="0" bIns="0" rtlCol="0" anchor="t">
            <a:spAutoFit/>
          </a:bodyPr>
          <a:lstStyle/>
          <a:p>
            <a:pPr algn="ctr">
              <a:lnSpc>
                <a:spcPts val="2939"/>
              </a:lnSpc>
            </a:pPr>
            <a:r>
              <a:rPr lang="en-US" sz="2099" dirty="0">
                <a:solidFill>
                  <a:srgbClr val="69498D"/>
                </a:solidFill>
                <a:latin typeface="Roboto"/>
                <a:ea typeface="Roboto"/>
                <a:cs typeface="Roboto"/>
                <a:sym typeface="Roboto"/>
              </a:rPr>
              <a:t>IV B. Tech ECE</a:t>
            </a:r>
          </a:p>
        </p:txBody>
      </p:sp>
      <p:sp>
        <p:nvSpPr>
          <p:cNvPr id="14" name="TextBox 15">
            <a:extLst>
              <a:ext uri="{FF2B5EF4-FFF2-40B4-BE49-F238E27FC236}">
                <a16:creationId xmlns:a16="http://schemas.microsoft.com/office/drawing/2014/main" id="{2B9D2BD5-1877-40AD-B370-D2A09E9B5EDE}"/>
              </a:ext>
            </a:extLst>
          </p:cNvPr>
          <p:cNvSpPr txBox="1"/>
          <p:nvPr/>
        </p:nvSpPr>
        <p:spPr>
          <a:xfrm>
            <a:off x="13078886" y="649680"/>
            <a:ext cx="3975505" cy="718145"/>
          </a:xfrm>
          <a:prstGeom prst="rect">
            <a:avLst/>
          </a:prstGeom>
        </p:spPr>
        <p:txBody>
          <a:bodyPr wrap="square" lIns="0" tIns="0" rIns="0" bIns="0" rtlCol="0" anchor="t">
            <a:spAutoFit/>
          </a:bodyPr>
          <a:lstStyle/>
          <a:p>
            <a:pPr algn="l">
              <a:lnSpc>
                <a:spcPts val="2939"/>
              </a:lnSpc>
            </a:pPr>
            <a:r>
              <a:rPr lang="en-US" sz="2099" dirty="0">
                <a:solidFill>
                  <a:srgbClr val="69498D"/>
                </a:solidFill>
                <a:latin typeface="Roboto"/>
                <a:ea typeface="Roboto"/>
                <a:cs typeface="Roboto"/>
                <a:sym typeface="Roboto"/>
              </a:rPr>
              <a:t>Ac. Year : 2025-26/ Semester -II</a:t>
            </a:r>
          </a:p>
          <a:p>
            <a:pPr algn="l">
              <a:lnSpc>
                <a:spcPts val="2939"/>
              </a:lnSpc>
            </a:pPr>
            <a:endParaRPr lang="en-US" sz="2099" dirty="0">
              <a:solidFill>
                <a:srgbClr val="69498D"/>
              </a:solidFill>
              <a:latin typeface="Roboto"/>
              <a:ea typeface="Roboto"/>
              <a:cs typeface="Roboto"/>
              <a:sym typeface="Roboto"/>
            </a:endParaRPr>
          </a:p>
        </p:txBody>
      </p:sp>
      <p:sp>
        <p:nvSpPr>
          <p:cNvPr id="15" name="TextBox 16">
            <a:extLst>
              <a:ext uri="{FF2B5EF4-FFF2-40B4-BE49-F238E27FC236}">
                <a16:creationId xmlns:a16="http://schemas.microsoft.com/office/drawing/2014/main" id="{C012D622-90DD-475F-BD60-E3537388F0D1}"/>
              </a:ext>
            </a:extLst>
          </p:cNvPr>
          <p:cNvSpPr txBox="1"/>
          <p:nvPr/>
        </p:nvSpPr>
        <p:spPr>
          <a:xfrm>
            <a:off x="1501374" y="9027283"/>
            <a:ext cx="3975505" cy="346249"/>
          </a:xfrm>
          <a:prstGeom prst="rect">
            <a:avLst/>
          </a:prstGeom>
        </p:spPr>
        <p:txBody>
          <a:bodyPr wrap="square" lIns="0" tIns="0" rIns="0" bIns="0" rtlCol="0" anchor="t">
            <a:spAutoFit/>
          </a:bodyPr>
          <a:lstStyle/>
          <a:p>
            <a:pPr>
              <a:lnSpc>
                <a:spcPts val="2939"/>
              </a:lnSpc>
            </a:pPr>
            <a:r>
              <a:rPr lang="en-US" sz="2099" dirty="0">
                <a:solidFill>
                  <a:srgbClr val="69498D"/>
                </a:solidFill>
                <a:latin typeface="Roboto"/>
                <a:ea typeface="Roboto"/>
                <a:cs typeface="Roboto"/>
                <a:sym typeface="Roboto"/>
              </a:rPr>
              <a:t>Final Review</a:t>
            </a:r>
          </a:p>
        </p:txBody>
      </p:sp>
      <p:sp>
        <p:nvSpPr>
          <p:cNvPr id="16" name="Text 0">
            <a:extLst>
              <a:ext uri="{FF2B5EF4-FFF2-40B4-BE49-F238E27FC236}">
                <a16:creationId xmlns:a16="http://schemas.microsoft.com/office/drawing/2014/main" id="{82D450D1-D35E-4553-8EB4-C382FE47C1AC}"/>
              </a:ext>
            </a:extLst>
          </p:cNvPr>
          <p:cNvSpPr/>
          <p:nvPr/>
        </p:nvSpPr>
        <p:spPr>
          <a:xfrm>
            <a:off x="1216198" y="1521827"/>
            <a:ext cx="4360809" cy="572785"/>
          </a:xfrm>
          <a:prstGeom prst="rect">
            <a:avLst/>
          </a:prstGeom>
          <a:noFill/>
          <a:ln/>
        </p:spPr>
        <p:txBody>
          <a:bodyPr wrap="none" lIns="0" tIns="0" rIns="0" bIns="0" rtlCol="0" anchor="t"/>
          <a:lstStyle/>
          <a:p>
            <a:pPr>
              <a:lnSpc>
                <a:spcPts val="4200"/>
              </a:lnSpc>
            </a:pPr>
            <a:r>
              <a:rPr lang="en-US" sz="2800" b="1" dirty="0">
                <a:latin typeface="Source Sans 3" panose="020B0604020202020204" charset="0"/>
                <a:cs typeface="Source Sans 3" panose="020B0604020202020204" charset="0"/>
              </a:rPr>
              <a:t>Results:</a:t>
            </a:r>
          </a:p>
        </p:txBody>
      </p:sp>
      <p:pic>
        <p:nvPicPr>
          <p:cNvPr id="17" name="Picture 16">
            <a:extLst>
              <a:ext uri="{FF2B5EF4-FFF2-40B4-BE49-F238E27FC236}">
                <a16:creationId xmlns:a16="http://schemas.microsoft.com/office/drawing/2014/main" id="{0F238646-157E-456E-8E08-94903B72F39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191171" y="120236"/>
            <a:ext cx="792468" cy="824167"/>
          </a:xfrm>
          <a:prstGeom prst="rect">
            <a:avLst/>
          </a:prstGeom>
        </p:spPr>
      </p:pic>
      <p:pic>
        <p:nvPicPr>
          <p:cNvPr id="19" name="Picture 18">
            <a:extLst>
              <a:ext uri="{FF2B5EF4-FFF2-40B4-BE49-F238E27FC236}">
                <a16:creationId xmlns:a16="http://schemas.microsoft.com/office/drawing/2014/main" id="{2CCE107F-D849-48EB-8EE3-F53C48D012D1}"/>
              </a:ext>
            </a:extLst>
          </p:cNvPr>
          <p:cNvPicPr/>
          <p:nvPr/>
        </p:nvPicPr>
        <p:blipFill rotWithShape="1">
          <a:blip r:embed="rId7" cstate="print">
            <a:extLst>
              <a:ext uri="{28A0092B-C50C-407E-A947-70E740481C1C}">
                <a14:useLocalDpi xmlns:a14="http://schemas.microsoft.com/office/drawing/2010/main" val="0"/>
              </a:ext>
            </a:extLst>
          </a:blip>
          <a:srcRect l="20058" t="12010" r="19959" b="13283"/>
          <a:stretch/>
        </p:blipFill>
        <p:spPr>
          <a:xfrm>
            <a:off x="2819400" y="2094611"/>
            <a:ext cx="12725400" cy="4247345"/>
          </a:xfrm>
          <a:prstGeom prst="rect">
            <a:avLst/>
          </a:prstGeom>
        </p:spPr>
      </p:pic>
      <p:sp>
        <p:nvSpPr>
          <p:cNvPr id="20" name="Rectangle 19">
            <a:extLst>
              <a:ext uri="{FF2B5EF4-FFF2-40B4-BE49-F238E27FC236}">
                <a16:creationId xmlns:a16="http://schemas.microsoft.com/office/drawing/2014/main" id="{45DB066B-6797-434E-A28B-39CC417550C0}"/>
              </a:ext>
            </a:extLst>
          </p:cNvPr>
          <p:cNvSpPr/>
          <p:nvPr/>
        </p:nvSpPr>
        <p:spPr>
          <a:xfrm>
            <a:off x="1077716" y="6905170"/>
            <a:ext cx="14619484" cy="1536767"/>
          </a:xfrm>
          <a:prstGeom prst="rect">
            <a:avLst/>
          </a:prstGeom>
        </p:spPr>
        <p:txBody>
          <a:bodyPr wrap="square">
            <a:spAutoFit/>
          </a:bodyPr>
          <a:lstStyle/>
          <a:p>
            <a:pPr marL="342900" marR="0" algn="just">
              <a:lnSpc>
                <a:spcPct val="115000"/>
              </a:lnSpc>
              <a:spcBef>
                <a:spcPts val="0"/>
              </a:spcBef>
              <a:spcAft>
                <a:spcPts val="1000"/>
              </a:spcAft>
            </a:pPr>
            <a:r>
              <a:rPr lang="en-IN" sz="2800" dirty="0">
                <a:latin typeface="Source Sans 3" panose="020B0604020202020204" charset="0"/>
                <a:ea typeface="Calibri" panose="020F0502020204030204" pitchFamily="34" charset="0"/>
                <a:cs typeface="Source Sans 3" panose="020B0604020202020204" charset="0"/>
              </a:rPr>
              <a:t>The image shows a man in a dark setting gently lighting a match, with the soft glow illuminating his face. The dramatic contrast between light and shadow creates a calm, reflective, and slightly mysterious mood.</a:t>
            </a:r>
            <a:endParaRPr lang="en-US" sz="2800" dirty="0">
              <a:effectLst/>
              <a:latin typeface="Source Sans 3" panose="020B0604020202020204" charset="0"/>
              <a:ea typeface="Calibri" panose="020F0502020204030204" pitchFamily="34" charset="0"/>
              <a:cs typeface="Source Sans 3" panose="020B0604020202020204" charset="0"/>
            </a:endParaRPr>
          </a:p>
        </p:txBody>
      </p:sp>
    </p:spTree>
    <p:extLst>
      <p:ext uri="{BB962C8B-B14F-4D97-AF65-F5344CB8AC3E}">
        <p14:creationId xmlns:p14="http://schemas.microsoft.com/office/powerpoint/2010/main" val="2508928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027C42-0E82-4251-B5B9-F76DCD08ECAE}"/>
              </a:ext>
            </a:extLst>
          </p:cNvPr>
          <p:cNvSpPr>
            <a:spLocks noGrp="1"/>
          </p:cNvSpPr>
          <p:nvPr>
            <p:ph type="sldNum" sz="quarter" idx="12"/>
          </p:nvPr>
        </p:nvSpPr>
        <p:spPr/>
        <p:txBody>
          <a:bodyPr/>
          <a:lstStyle/>
          <a:p>
            <a:fld id="{B6F15528-21DE-4FAA-801E-634DDDAF4B2B}" type="slidenum">
              <a:rPr lang="en-US" smtClean="0"/>
              <a:pPr/>
              <a:t>15</a:t>
            </a:fld>
            <a:endParaRPr lang="en-US" dirty="0"/>
          </a:p>
        </p:txBody>
      </p:sp>
      <p:sp>
        <p:nvSpPr>
          <p:cNvPr id="3" name="AutoShape 2">
            <a:extLst>
              <a:ext uri="{FF2B5EF4-FFF2-40B4-BE49-F238E27FC236}">
                <a16:creationId xmlns:a16="http://schemas.microsoft.com/office/drawing/2014/main" id="{AA8A053F-BEBA-4E96-AA60-4D0460A79CAF}"/>
              </a:ext>
            </a:extLst>
          </p:cNvPr>
          <p:cNvSpPr/>
          <p:nvPr/>
        </p:nvSpPr>
        <p:spPr>
          <a:xfrm>
            <a:off x="3953337" y="9258300"/>
            <a:ext cx="13305963" cy="0"/>
          </a:xfrm>
          <a:prstGeom prst="line">
            <a:avLst/>
          </a:prstGeom>
          <a:ln w="19050" cap="flat">
            <a:solidFill>
              <a:srgbClr val="48276D"/>
            </a:solidFill>
            <a:prstDash val="solid"/>
            <a:headEnd type="none" w="sm" len="sm"/>
            <a:tailEnd type="none" w="sm" len="sm"/>
          </a:ln>
        </p:spPr>
      </p:sp>
      <p:sp>
        <p:nvSpPr>
          <p:cNvPr id="4" name="Freeform 3">
            <a:extLst>
              <a:ext uri="{FF2B5EF4-FFF2-40B4-BE49-F238E27FC236}">
                <a16:creationId xmlns:a16="http://schemas.microsoft.com/office/drawing/2014/main" id="{77212D77-0717-4F88-8D86-261C6030D40C}"/>
              </a:ext>
            </a:extLst>
          </p:cNvPr>
          <p:cNvSpPr/>
          <p:nvPr/>
        </p:nvSpPr>
        <p:spPr>
          <a:xfrm>
            <a:off x="15421891" y="7635385"/>
            <a:ext cx="4190916" cy="4403878"/>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35000"/>
              <a:extLst>
                <a:ext uri="{96DAC541-7B7A-43D3-8B79-37D633B846F1}">
                  <asvg:svgBlip xmlns:asvg="http://schemas.microsoft.com/office/drawing/2016/SVG/main" r:embed="rId3"/>
                </a:ext>
              </a:extLst>
            </a:blip>
            <a:stretch>
              <a:fillRect/>
            </a:stretch>
          </a:blipFill>
        </p:spPr>
      </p:sp>
      <p:sp>
        <p:nvSpPr>
          <p:cNvPr id="5" name="AutoShape 4">
            <a:extLst>
              <a:ext uri="{FF2B5EF4-FFF2-40B4-BE49-F238E27FC236}">
                <a16:creationId xmlns:a16="http://schemas.microsoft.com/office/drawing/2014/main" id="{784A92C7-032B-4F1E-82A1-D1D311658FA0}"/>
              </a:ext>
            </a:extLst>
          </p:cNvPr>
          <p:cNvSpPr/>
          <p:nvPr/>
        </p:nvSpPr>
        <p:spPr>
          <a:xfrm flipV="1">
            <a:off x="728464" y="1047750"/>
            <a:ext cx="16530836" cy="0"/>
          </a:xfrm>
          <a:prstGeom prst="line">
            <a:avLst/>
          </a:prstGeom>
          <a:ln w="19050" cap="flat">
            <a:solidFill>
              <a:srgbClr val="48276D"/>
            </a:solidFill>
            <a:prstDash val="solid"/>
            <a:headEnd type="none" w="sm" len="sm"/>
            <a:tailEnd type="none" w="sm" len="sm"/>
          </a:ln>
        </p:spPr>
      </p:sp>
      <p:grpSp>
        <p:nvGrpSpPr>
          <p:cNvPr id="6" name="Group 6">
            <a:extLst>
              <a:ext uri="{FF2B5EF4-FFF2-40B4-BE49-F238E27FC236}">
                <a16:creationId xmlns:a16="http://schemas.microsoft.com/office/drawing/2014/main" id="{76B25DD1-51D1-4933-898D-78390A595F16}"/>
              </a:ext>
            </a:extLst>
          </p:cNvPr>
          <p:cNvGrpSpPr/>
          <p:nvPr/>
        </p:nvGrpSpPr>
        <p:grpSpPr>
          <a:xfrm>
            <a:off x="17223863" y="2431310"/>
            <a:ext cx="1064138" cy="6126166"/>
            <a:chOff x="0" y="0"/>
            <a:chExt cx="275176" cy="1507565"/>
          </a:xfrm>
        </p:grpSpPr>
        <p:sp>
          <p:nvSpPr>
            <p:cNvPr id="7" name="Freeform 7">
              <a:extLst>
                <a:ext uri="{FF2B5EF4-FFF2-40B4-BE49-F238E27FC236}">
                  <a16:creationId xmlns:a16="http://schemas.microsoft.com/office/drawing/2014/main" id="{15A09258-6A0B-43C3-9EA2-A3D12B1A211F}"/>
                </a:ext>
              </a:extLst>
            </p:cNvPr>
            <p:cNvSpPr/>
            <p:nvPr/>
          </p:nvSpPr>
          <p:spPr>
            <a:xfrm>
              <a:off x="0" y="0"/>
              <a:ext cx="275176" cy="1507565"/>
            </a:xfrm>
            <a:custGeom>
              <a:avLst/>
              <a:gdLst/>
              <a:ahLst/>
              <a:cxnLst/>
              <a:rect l="l" t="t" r="r" b="b"/>
              <a:pathLst>
                <a:path w="275176" h="1507565">
                  <a:moveTo>
                    <a:pt x="0" y="0"/>
                  </a:moveTo>
                  <a:lnTo>
                    <a:pt x="275176" y="0"/>
                  </a:lnTo>
                  <a:lnTo>
                    <a:pt x="275176" y="1507565"/>
                  </a:lnTo>
                  <a:lnTo>
                    <a:pt x="0" y="1507565"/>
                  </a:lnTo>
                  <a:close/>
                </a:path>
              </a:pathLst>
            </a:custGeom>
            <a:gradFill rotWithShape="1">
              <a:gsLst>
                <a:gs pos="0">
                  <a:srgbClr val="9374B3">
                    <a:alpha val="100000"/>
                  </a:srgbClr>
                </a:gs>
                <a:gs pos="50000">
                  <a:srgbClr val="7161A6">
                    <a:alpha val="100000"/>
                  </a:srgbClr>
                </a:gs>
                <a:gs pos="100000">
                  <a:srgbClr val="4A4D9C">
                    <a:alpha val="100000"/>
                  </a:srgbClr>
                </a:gs>
              </a:gsLst>
              <a:lin ang="0"/>
            </a:gradFill>
          </p:spPr>
        </p:sp>
        <p:sp>
          <p:nvSpPr>
            <p:cNvPr id="8" name="TextBox 8">
              <a:extLst>
                <a:ext uri="{FF2B5EF4-FFF2-40B4-BE49-F238E27FC236}">
                  <a16:creationId xmlns:a16="http://schemas.microsoft.com/office/drawing/2014/main" id="{C6729083-1B08-47E2-A0B7-0913ACEBB6A6}"/>
                </a:ext>
              </a:extLst>
            </p:cNvPr>
            <p:cNvSpPr txBox="1"/>
            <p:nvPr/>
          </p:nvSpPr>
          <p:spPr>
            <a:xfrm>
              <a:off x="0" y="-38100"/>
              <a:ext cx="275176" cy="1545665"/>
            </a:xfrm>
            <a:prstGeom prst="rect">
              <a:avLst/>
            </a:prstGeom>
          </p:spPr>
          <p:txBody>
            <a:bodyPr lIns="50800" tIns="50800" rIns="50800" bIns="50800" rtlCol="0" anchor="ctr"/>
            <a:lstStyle/>
            <a:p>
              <a:pPr algn="ctr">
                <a:lnSpc>
                  <a:spcPts val="2659"/>
                </a:lnSpc>
                <a:spcBef>
                  <a:spcPct val="0"/>
                </a:spcBef>
              </a:pPr>
              <a:endParaRPr dirty="0"/>
            </a:p>
          </p:txBody>
        </p:sp>
      </p:grpSp>
      <p:sp>
        <p:nvSpPr>
          <p:cNvPr id="9" name="Freeform 9">
            <a:extLst>
              <a:ext uri="{FF2B5EF4-FFF2-40B4-BE49-F238E27FC236}">
                <a16:creationId xmlns:a16="http://schemas.microsoft.com/office/drawing/2014/main" id="{5290E783-D719-4B4E-A1C1-E5E18A4B7E4F}"/>
              </a:ext>
            </a:extLst>
          </p:cNvPr>
          <p:cNvSpPr/>
          <p:nvPr/>
        </p:nvSpPr>
        <p:spPr>
          <a:xfrm rot="-5400000">
            <a:off x="17434592" y="3913082"/>
            <a:ext cx="761125" cy="181080"/>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AutoShape 10">
            <a:extLst>
              <a:ext uri="{FF2B5EF4-FFF2-40B4-BE49-F238E27FC236}">
                <a16:creationId xmlns:a16="http://schemas.microsoft.com/office/drawing/2014/main" id="{F94570FB-8CFC-48FF-9869-5A0C9F562580}"/>
              </a:ext>
            </a:extLst>
          </p:cNvPr>
          <p:cNvSpPr/>
          <p:nvPr/>
        </p:nvSpPr>
        <p:spPr>
          <a:xfrm flipV="1">
            <a:off x="17807273" y="4860438"/>
            <a:ext cx="0" cy="1118034"/>
          </a:xfrm>
          <a:prstGeom prst="line">
            <a:avLst/>
          </a:prstGeom>
          <a:ln w="19050" cap="flat">
            <a:solidFill>
              <a:srgbClr val="FFFFFF"/>
            </a:solidFill>
            <a:prstDash val="solid"/>
            <a:headEnd type="none" w="sm" len="sm"/>
            <a:tailEnd type="none" w="sm" len="sm"/>
          </a:ln>
        </p:spPr>
      </p:sp>
      <p:sp>
        <p:nvSpPr>
          <p:cNvPr id="11" name="Freeform 11">
            <a:extLst>
              <a:ext uri="{FF2B5EF4-FFF2-40B4-BE49-F238E27FC236}">
                <a16:creationId xmlns:a16="http://schemas.microsoft.com/office/drawing/2014/main" id="{DD3E8EF5-A91C-496E-BCBE-257684AB824A}"/>
              </a:ext>
            </a:extLst>
          </p:cNvPr>
          <p:cNvSpPr/>
          <p:nvPr/>
        </p:nvSpPr>
        <p:spPr>
          <a:xfrm rot="-5400000">
            <a:off x="17434592" y="6835946"/>
            <a:ext cx="761125" cy="181080"/>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TextBox 13">
            <a:extLst>
              <a:ext uri="{FF2B5EF4-FFF2-40B4-BE49-F238E27FC236}">
                <a16:creationId xmlns:a16="http://schemas.microsoft.com/office/drawing/2014/main" id="{D1CB957F-3B8E-4785-8D00-4B8665AE4F7F}"/>
              </a:ext>
            </a:extLst>
          </p:cNvPr>
          <p:cNvSpPr txBox="1"/>
          <p:nvPr/>
        </p:nvSpPr>
        <p:spPr>
          <a:xfrm>
            <a:off x="1062476" y="566621"/>
            <a:ext cx="2266088" cy="346249"/>
          </a:xfrm>
          <a:prstGeom prst="rect">
            <a:avLst/>
          </a:prstGeom>
        </p:spPr>
        <p:txBody>
          <a:bodyPr wrap="square" lIns="0" tIns="0" rIns="0" bIns="0" rtlCol="0" anchor="t">
            <a:spAutoFit/>
          </a:bodyPr>
          <a:lstStyle/>
          <a:p>
            <a:pPr algn="l">
              <a:lnSpc>
                <a:spcPts val="2939"/>
              </a:lnSpc>
            </a:pPr>
            <a:r>
              <a:rPr lang="en-US" sz="2099" dirty="0">
                <a:solidFill>
                  <a:srgbClr val="69498D"/>
                </a:solidFill>
                <a:latin typeface="Roboto"/>
                <a:ea typeface="Roboto"/>
                <a:cs typeface="Roboto"/>
                <a:sym typeface="Roboto"/>
              </a:rPr>
              <a:t>R20 Regulations</a:t>
            </a:r>
          </a:p>
        </p:txBody>
      </p:sp>
      <p:sp>
        <p:nvSpPr>
          <p:cNvPr id="13" name="TextBox 14">
            <a:extLst>
              <a:ext uri="{FF2B5EF4-FFF2-40B4-BE49-F238E27FC236}">
                <a16:creationId xmlns:a16="http://schemas.microsoft.com/office/drawing/2014/main" id="{D76A5843-954F-4143-AD98-54F4D8B5CB3B}"/>
              </a:ext>
            </a:extLst>
          </p:cNvPr>
          <p:cNvSpPr txBox="1"/>
          <p:nvPr/>
        </p:nvSpPr>
        <p:spPr>
          <a:xfrm>
            <a:off x="8099528" y="636814"/>
            <a:ext cx="2063584" cy="346249"/>
          </a:xfrm>
          <a:prstGeom prst="rect">
            <a:avLst/>
          </a:prstGeom>
        </p:spPr>
        <p:txBody>
          <a:bodyPr wrap="square" lIns="0" tIns="0" rIns="0" bIns="0" rtlCol="0" anchor="t">
            <a:spAutoFit/>
          </a:bodyPr>
          <a:lstStyle/>
          <a:p>
            <a:pPr algn="ctr">
              <a:lnSpc>
                <a:spcPts val="2939"/>
              </a:lnSpc>
            </a:pPr>
            <a:r>
              <a:rPr lang="en-US" sz="2099" dirty="0">
                <a:solidFill>
                  <a:srgbClr val="69498D"/>
                </a:solidFill>
                <a:latin typeface="Roboto"/>
                <a:ea typeface="Roboto"/>
                <a:cs typeface="Roboto"/>
                <a:sym typeface="Roboto"/>
              </a:rPr>
              <a:t>IV B. Tech ECE</a:t>
            </a:r>
          </a:p>
        </p:txBody>
      </p:sp>
      <p:sp>
        <p:nvSpPr>
          <p:cNvPr id="14" name="TextBox 15">
            <a:extLst>
              <a:ext uri="{FF2B5EF4-FFF2-40B4-BE49-F238E27FC236}">
                <a16:creationId xmlns:a16="http://schemas.microsoft.com/office/drawing/2014/main" id="{2B9D2BD5-1877-40AD-B370-D2A09E9B5EDE}"/>
              </a:ext>
            </a:extLst>
          </p:cNvPr>
          <p:cNvSpPr txBox="1"/>
          <p:nvPr/>
        </p:nvSpPr>
        <p:spPr>
          <a:xfrm>
            <a:off x="13078886" y="649680"/>
            <a:ext cx="3975505" cy="718145"/>
          </a:xfrm>
          <a:prstGeom prst="rect">
            <a:avLst/>
          </a:prstGeom>
        </p:spPr>
        <p:txBody>
          <a:bodyPr wrap="square" lIns="0" tIns="0" rIns="0" bIns="0" rtlCol="0" anchor="t">
            <a:spAutoFit/>
          </a:bodyPr>
          <a:lstStyle/>
          <a:p>
            <a:pPr algn="l">
              <a:lnSpc>
                <a:spcPts val="2939"/>
              </a:lnSpc>
            </a:pPr>
            <a:r>
              <a:rPr lang="en-US" sz="2099" dirty="0">
                <a:solidFill>
                  <a:srgbClr val="69498D"/>
                </a:solidFill>
                <a:latin typeface="Roboto"/>
                <a:ea typeface="Roboto"/>
                <a:cs typeface="Roboto"/>
                <a:sym typeface="Roboto"/>
              </a:rPr>
              <a:t>Ac. Year : 2025-26/ Semester -II</a:t>
            </a:r>
          </a:p>
          <a:p>
            <a:pPr algn="l">
              <a:lnSpc>
                <a:spcPts val="2939"/>
              </a:lnSpc>
            </a:pPr>
            <a:endParaRPr lang="en-US" sz="2099" dirty="0">
              <a:solidFill>
                <a:srgbClr val="69498D"/>
              </a:solidFill>
              <a:latin typeface="Roboto"/>
              <a:ea typeface="Roboto"/>
              <a:cs typeface="Roboto"/>
              <a:sym typeface="Roboto"/>
            </a:endParaRPr>
          </a:p>
        </p:txBody>
      </p:sp>
      <p:sp>
        <p:nvSpPr>
          <p:cNvPr id="15" name="TextBox 16">
            <a:extLst>
              <a:ext uri="{FF2B5EF4-FFF2-40B4-BE49-F238E27FC236}">
                <a16:creationId xmlns:a16="http://schemas.microsoft.com/office/drawing/2014/main" id="{C012D622-90DD-475F-BD60-E3537388F0D1}"/>
              </a:ext>
            </a:extLst>
          </p:cNvPr>
          <p:cNvSpPr txBox="1"/>
          <p:nvPr/>
        </p:nvSpPr>
        <p:spPr>
          <a:xfrm>
            <a:off x="1501374" y="9027283"/>
            <a:ext cx="3975505" cy="346249"/>
          </a:xfrm>
          <a:prstGeom prst="rect">
            <a:avLst/>
          </a:prstGeom>
        </p:spPr>
        <p:txBody>
          <a:bodyPr wrap="square" lIns="0" tIns="0" rIns="0" bIns="0" rtlCol="0" anchor="t">
            <a:spAutoFit/>
          </a:bodyPr>
          <a:lstStyle/>
          <a:p>
            <a:pPr>
              <a:lnSpc>
                <a:spcPts val="2939"/>
              </a:lnSpc>
            </a:pPr>
            <a:r>
              <a:rPr lang="en-US" sz="2099" dirty="0">
                <a:solidFill>
                  <a:srgbClr val="69498D"/>
                </a:solidFill>
                <a:latin typeface="Roboto"/>
                <a:ea typeface="Roboto"/>
                <a:cs typeface="Roboto"/>
                <a:sym typeface="Roboto"/>
              </a:rPr>
              <a:t>Final Review</a:t>
            </a:r>
          </a:p>
        </p:txBody>
      </p:sp>
      <p:sp>
        <p:nvSpPr>
          <p:cNvPr id="16" name="Text 0">
            <a:extLst>
              <a:ext uri="{FF2B5EF4-FFF2-40B4-BE49-F238E27FC236}">
                <a16:creationId xmlns:a16="http://schemas.microsoft.com/office/drawing/2014/main" id="{82D450D1-D35E-4553-8EB4-C382FE47C1AC}"/>
              </a:ext>
            </a:extLst>
          </p:cNvPr>
          <p:cNvSpPr/>
          <p:nvPr/>
        </p:nvSpPr>
        <p:spPr>
          <a:xfrm>
            <a:off x="1216198" y="1521827"/>
            <a:ext cx="4360809" cy="572785"/>
          </a:xfrm>
          <a:prstGeom prst="rect">
            <a:avLst/>
          </a:prstGeom>
          <a:noFill/>
          <a:ln/>
        </p:spPr>
        <p:txBody>
          <a:bodyPr wrap="none" lIns="0" tIns="0" rIns="0" bIns="0" rtlCol="0" anchor="t"/>
          <a:lstStyle/>
          <a:p>
            <a:pPr>
              <a:lnSpc>
                <a:spcPts val="4200"/>
              </a:lnSpc>
            </a:pPr>
            <a:r>
              <a:rPr lang="en-US" sz="2800" b="1" dirty="0">
                <a:latin typeface="Source Sans 3" panose="020B0604020202020204" charset="0"/>
                <a:cs typeface="Source Sans 3" panose="020B0604020202020204" charset="0"/>
              </a:rPr>
              <a:t>Results:</a:t>
            </a:r>
          </a:p>
        </p:txBody>
      </p:sp>
      <p:pic>
        <p:nvPicPr>
          <p:cNvPr id="17" name="Picture 16">
            <a:extLst>
              <a:ext uri="{FF2B5EF4-FFF2-40B4-BE49-F238E27FC236}">
                <a16:creationId xmlns:a16="http://schemas.microsoft.com/office/drawing/2014/main" id="{0F238646-157E-456E-8E08-94903B72F39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191171" y="120236"/>
            <a:ext cx="792468" cy="824167"/>
          </a:xfrm>
          <a:prstGeom prst="rect">
            <a:avLst/>
          </a:prstGeom>
        </p:spPr>
      </p:pic>
      <p:sp>
        <p:nvSpPr>
          <p:cNvPr id="20" name="Rectangle 19">
            <a:extLst>
              <a:ext uri="{FF2B5EF4-FFF2-40B4-BE49-F238E27FC236}">
                <a16:creationId xmlns:a16="http://schemas.microsoft.com/office/drawing/2014/main" id="{45DB066B-6797-434E-A28B-39CC417550C0}"/>
              </a:ext>
            </a:extLst>
          </p:cNvPr>
          <p:cNvSpPr/>
          <p:nvPr/>
        </p:nvSpPr>
        <p:spPr>
          <a:xfrm>
            <a:off x="1216198" y="6905170"/>
            <a:ext cx="15838192" cy="1384995"/>
          </a:xfrm>
          <a:prstGeom prst="rect">
            <a:avLst/>
          </a:prstGeom>
        </p:spPr>
        <p:txBody>
          <a:bodyPr wrap="square">
            <a:spAutoFit/>
          </a:bodyPr>
          <a:lstStyle/>
          <a:p>
            <a:r>
              <a:rPr lang="en-IN" sz="2800" dirty="0">
                <a:latin typeface="Source Sans 3" panose="020B0604020202020204" charset="0"/>
                <a:cs typeface="Source Sans 3" panose="020B0604020202020204" charset="0"/>
              </a:rPr>
              <a:t>The figure presents a side-by-side comparison of the original image and the enhanced output obtained using the ASLM algorithm. The enhancement improves contrast and visibility of details, especially in low-light regions, while maintaining the natural appearance of the scene.</a:t>
            </a:r>
            <a:endParaRPr lang="en-US" sz="2800" dirty="0">
              <a:latin typeface="Source Sans 3" panose="020B0604020202020204" charset="0"/>
              <a:cs typeface="Source Sans 3" panose="020B0604020202020204" charset="0"/>
            </a:endParaRPr>
          </a:p>
        </p:txBody>
      </p:sp>
      <p:pic>
        <p:nvPicPr>
          <p:cNvPr id="21" name="Picture 20">
            <a:extLst>
              <a:ext uri="{FF2B5EF4-FFF2-40B4-BE49-F238E27FC236}">
                <a16:creationId xmlns:a16="http://schemas.microsoft.com/office/drawing/2014/main" id="{C08964A0-C74F-4E25-B04D-D2E8B19CD8FE}"/>
              </a:ext>
            </a:extLst>
          </p:cNvPr>
          <p:cNvPicPr/>
          <p:nvPr/>
        </p:nvPicPr>
        <p:blipFill rotWithShape="1">
          <a:blip r:embed="rId7" cstate="print">
            <a:extLst>
              <a:ext uri="{28A0092B-C50C-407E-A947-70E740481C1C}">
                <a14:useLocalDpi xmlns:a14="http://schemas.microsoft.com/office/drawing/2010/main" val="0"/>
              </a:ext>
            </a:extLst>
          </a:blip>
          <a:srcRect l="8417" t="16345" r="8952" b="25788"/>
          <a:stretch/>
        </p:blipFill>
        <p:spPr>
          <a:xfrm>
            <a:off x="1501373" y="2131643"/>
            <a:ext cx="15553017" cy="4403877"/>
          </a:xfrm>
          <a:prstGeom prst="rect">
            <a:avLst/>
          </a:prstGeom>
        </p:spPr>
      </p:pic>
    </p:spTree>
    <p:extLst>
      <p:ext uri="{BB962C8B-B14F-4D97-AF65-F5344CB8AC3E}">
        <p14:creationId xmlns:p14="http://schemas.microsoft.com/office/powerpoint/2010/main" val="32856138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027C42-0E82-4251-B5B9-F76DCD08ECAE}"/>
              </a:ext>
            </a:extLst>
          </p:cNvPr>
          <p:cNvSpPr>
            <a:spLocks noGrp="1"/>
          </p:cNvSpPr>
          <p:nvPr>
            <p:ph type="sldNum" sz="quarter" idx="12"/>
          </p:nvPr>
        </p:nvSpPr>
        <p:spPr/>
        <p:txBody>
          <a:bodyPr/>
          <a:lstStyle/>
          <a:p>
            <a:fld id="{B6F15528-21DE-4FAA-801E-634DDDAF4B2B}" type="slidenum">
              <a:rPr lang="en-US" smtClean="0"/>
              <a:pPr/>
              <a:t>16</a:t>
            </a:fld>
            <a:endParaRPr lang="en-US" dirty="0"/>
          </a:p>
        </p:txBody>
      </p:sp>
      <p:sp>
        <p:nvSpPr>
          <p:cNvPr id="3" name="AutoShape 2">
            <a:extLst>
              <a:ext uri="{FF2B5EF4-FFF2-40B4-BE49-F238E27FC236}">
                <a16:creationId xmlns:a16="http://schemas.microsoft.com/office/drawing/2014/main" id="{AA8A053F-BEBA-4E96-AA60-4D0460A79CAF}"/>
              </a:ext>
            </a:extLst>
          </p:cNvPr>
          <p:cNvSpPr/>
          <p:nvPr/>
        </p:nvSpPr>
        <p:spPr>
          <a:xfrm>
            <a:off x="3953337" y="9258300"/>
            <a:ext cx="13305963" cy="0"/>
          </a:xfrm>
          <a:prstGeom prst="line">
            <a:avLst/>
          </a:prstGeom>
          <a:ln w="19050" cap="flat">
            <a:solidFill>
              <a:srgbClr val="48276D"/>
            </a:solidFill>
            <a:prstDash val="solid"/>
            <a:headEnd type="none" w="sm" len="sm"/>
            <a:tailEnd type="none" w="sm" len="sm"/>
          </a:ln>
        </p:spPr>
      </p:sp>
      <p:sp>
        <p:nvSpPr>
          <p:cNvPr id="4" name="Freeform 3">
            <a:extLst>
              <a:ext uri="{FF2B5EF4-FFF2-40B4-BE49-F238E27FC236}">
                <a16:creationId xmlns:a16="http://schemas.microsoft.com/office/drawing/2014/main" id="{77212D77-0717-4F88-8D86-261C6030D40C}"/>
              </a:ext>
            </a:extLst>
          </p:cNvPr>
          <p:cNvSpPr/>
          <p:nvPr/>
        </p:nvSpPr>
        <p:spPr>
          <a:xfrm>
            <a:off x="15421891" y="7635385"/>
            <a:ext cx="4190916" cy="4403878"/>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35000"/>
              <a:extLst>
                <a:ext uri="{96DAC541-7B7A-43D3-8B79-37D633B846F1}">
                  <asvg:svgBlip xmlns:asvg="http://schemas.microsoft.com/office/drawing/2016/SVG/main" r:embed="rId3"/>
                </a:ext>
              </a:extLst>
            </a:blip>
            <a:stretch>
              <a:fillRect/>
            </a:stretch>
          </a:blipFill>
        </p:spPr>
      </p:sp>
      <p:sp>
        <p:nvSpPr>
          <p:cNvPr id="5" name="AutoShape 4">
            <a:extLst>
              <a:ext uri="{FF2B5EF4-FFF2-40B4-BE49-F238E27FC236}">
                <a16:creationId xmlns:a16="http://schemas.microsoft.com/office/drawing/2014/main" id="{784A92C7-032B-4F1E-82A1-D1D311658FA0}"/>
              </a:ext>
            </a:extLst>
          </p:cNvPr>
          <p:cNvSpPr/>
          <p:nvPr/>
        </p:nvSpPr>
        <p:spPr>
          <a:xfrm flipV="1">
            <a:off x="728464" y="1047750"/>
            <a:ext cx="16530836" cy="0"/>
          </a:xfrm>
          <a:prstGeom prst="line">
            <a:avLst/>
          </a:prstGeom>
          <a:ln w="19050" cap="flat">
            <a:solidFill>
              <a:srgbClr val="48276D"/>
            </a:solidFill>
            <a:prstDash val="solid"/>
            <a:headEnd type="none" w="sm" len="sm"/>
            <a:tailEnd type="none" w="sm" len="sm"/>
          </a:ln>
        </p:spPr>
      </p:sp>
      <p:grpSp>
        <p:nvGrpSpPr>
          <p:cNvPr id="6" name="Group 6">
            <a:extLst>
              <a:ext uri="{FF2B5EF4-FFF2-40B4-BE49-F238E27FC236}">
                <a16:creationId xmlns:a16="http://schemas.microsoft.com/office/drawing/2014/main" id="{76B25DD1-51D1-4933-898D-78390A595F16}"/>
              </a:ext>
            </a:extLst>
          </p:cNvPr>
          <p:cNvGrpSpPr/>
          <p:nvPr/>
        </p:nvGrpSpPr>
        <p:grpSpPr>
          <a:xfrm>
            <a:off x="17223863" y="2431310"/>
            <a:ext cx="1064138" cy="6126166"/>
            <a:chOff x="0" y="0"/>
            <a:chExt cx="275176" cy="1507565"/>
          </a:xfrm>
        </p:grpSpPr>
        <p:sp>
          <p:nvSpPr>
            <p:cNvPr id="7" name="Freeform 7">
              <a:extLst>
                <a:ext uri="{FF2B5EF4-FFF2-40B4-BE49-F238E27FC236}">
                  <a16:creationId xmlns:a16="http://schemas.microsoft.com/office/drawing/2014/main" id="{15A09258-6A0B-43C3-9EA2-A3D12B1A211F}"/>
                </a:ext>
              </a:extLst>
            </p:cNvPr>
            <p:cNvSpPr/>
            <p:nvPr/>
          </p:nvSpPr>
          <p:spPr>
            <a:xfrm>
              <a:off x="0" y="0"/>
              <a:ext cx="275176" cy="1507565"/>
            </a:xfrm>
            <a:custGeom>
              <a:avLst/>
              <a:gdLst/>
              <a:ahLst/>
              <a:cxnLst/>
              <a:rect l="l" t="t" r="r" b="b"/>
              <a:pathLst>
                <a:path w="275176" h="1507565">
                  <a:moveTo>
                    <a:pt x="0" y="0"/>
                  </a:moveTo>
                  <a:lnTo>
                    <a:pt x="275176" y="0"/>
                  </a:lnTo>
                  <a:lnTo>
                    <a:pt x="275176" y="1507565"/>
                  </a:lnTo>
                  <a:lnTo>
                    <a:pt x="0" y="1507565"/>
                  </a:lnTo>
                  <a:close/>
                </a:path>
              </a:pathLst>
            </a:custGeom>
            <a:gradFill rotWithShape="1">
              <a:gsLst>
                <a:gs pos="0">
                  <a:srgbClr val="9374B3">
                    <a:alpha val="100000"/>
                  </a:srgbClr>
                </a:gs>
                <a:gs pos="50000">
                  <a:srgbClr val="7161A6">
                    <a:alpha val="100000"/>
                  </a:srgbClr>
                </a:gs>
                <a:gs pos="100000">
                  <a:srgbClr val="4A4D9C">
                    <a:alpha val="100000"/>
                  </a:srgbClr>
                </a:gs>
              </a:gsLst>
              <a:lin ang="0"/>
            </a:gradFill>
          </p:spPr>
        </p:sp>
        <p:sp>
          <p:nvSpPr>
            <p:cNvPr id="8" name="TextBox 8">
              <a:extLst>
                <a:ext uri="{FF2B5EF4-FFF2-40B4-BE49-F238E27FC236}">
                  <a16:creationId xmlns:a16="http://schemas.microsoft.com/office/drawing/2014/main" id="{C6729083-1B08-47E2-A0B7-0913ACEBB6A6}"/>
                </a:ext>
              </a:extLst>
            </p:cNvPr>
            <p:cNvSpPr txBox="1"/>
            <p:nvPr/>
          </p:nvSpPr>
          <p:spPr>
            <a:xfrm>
              <a:off x="0" y="-38100"/>
              <a:ext cx="275176" cy="1545665"/>
            </a:xfrm>
            <a:prstGeom prst="rect">
              <a:avLst/>
            </a:prstGeom>
          </p:spPr>
          <p:txBody>
            <a:bodyPr lIns="50800" tIns="50800" rIns="50800" bIns="50800" rtlCol="0" anchor="ctr"/>
            <a:lstStyle/>
            <a:p>
              <a:pPr algn="ctr">
                <a:lnSpc>
                  <a:spcPts val="2659"/>
                </a:lnSpc>
                <a:spcBef>
                  <a:spcPct val="0"/>
                </a:spcBef>
              </a:pPr>
              <a:endParaRPr dirty="0"/>
            </a:p>
          </p:txBody>
        </p:sp>
      </p:grpSp>
      <p:sp>
        <p:nvSpPr>
          <p:cNvPr id="9" name="Freeform 9">
            <a:extLst>
              <a:ext uri="{FF2B5EF4-FFF2-40B4-BE49-F238E27FC236}">
                <a16:creationId xmlns:a16="http://schemas.microsoft.com/office/drawing/2014/main" id="{5290E783-D719-4B4E-A1C1-E5E18A4B7E4F}"/>
              </a:ext>
            </a:extLst>
          </p:cNvPr>
          <p:cNvSpPr/>
          <p:nvPr/>
        </p:nvSpPr>
        <p:spPr>
          <a:xfrm rot="-5400000">
            <a:off x="17434592" y="3913082"/>
            <a:ext cx="761125" cy="181080"/>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AutoShape 10">
            <a:extLst>
              <a:ext uri="{FF2B5EF4-FFF2-40B4-BE49-F238E27FC236}">
                <a16:creationId xmlns:a16="http://schemas.microsoft.com/office/drawing/2014/main" id="{F94570FB-8CFC-48FF-9869-5A0C9F562580}"/>
              </a:ext>
            </a:extLst>
          </p:cNvPr>
          <p:cNvSpPr/>
          <p:nvPr/>
        </p:nvSpPr>
        <p:spPr>
          <a:xfrm flipV="1">
            <a:off x="17807273" y="4860438"/>
            <a:ext cx="0" cy="1118034"/>
          </a:xfrm>
          <a:prstGeom prst="line">
            <a:avLst/>
          </a:prstGeom>
          <a:ln w="19050" cap="flat">
            <a:solidFill>
              <a:srgbClr val="FFFFFF"/>
            </a:solidFill>
            <a:prstDash val="solid"/>
            <a:headEnd type="none" w="sm" len="sm"/>
            <a:tailEnd type="none" w="sm" len="sm"/>
          </a:ln>
        </p:spPr>
      </p:sp>
      <p:sp>
        <p:nvSpPr>
          <p:cNvPr id="11" name="Freeform 11">
            <a:extLst>
              <a:ext uri="{FF2B5EF4-FFF2-40B4-BE49-F238E27FC236}">
                <a16:creationId xmlns:a16="http://schemas.microsoft.com/office/drawing/2014/main" id="{DD3E8EF5-A91C-496E-BCBE-257684AB824A}"/>
              </a:ext>
            </a:extLst>
          </p:cNvPr>
          <p:cNvSpPr/>
          <p:nvPr/>
        </p:nvSpPr>
        <p:spPr>
          <a:xfrm rot="-5400000">
            <a:off x="17434592" y="6835946"/>
            <a:ext cx="761125" cy="181080"/>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TextBox 13">
            <a:extLst>
              <a:ext uri="{FF2B5EF4-FFF2-40B4-BE49-F238E27FC236}">
                <a16:creationId xmlns:a16="http://schemas.microsoft.com/office/drawing/2014/main" id="{D1CB957F-3B8E-4785-8D00-4B8665AE4F7F}"/>
              </a:ext>
            </a:extLst>
          </p:cNvPr>
          <p:cNvSpPr txBox="1"/>
          <p:nvPr/>
        </p:nvSpPr>
        <p:spPr>
          <a:xfrm>
            <a:off x="1062476" y="566621"/>
            <a:ext cx="2266088" cy="346249"/>
          </a:xfrm>
          <a:prstGeom prst="rect">
            <a:avLst/>
          </a:prstGeom>
        </p:spPr>
        <p:txBody>
          <a:bodyPr wrap="square" lIns="0" tIns="0" rIns="0" bIns="0" rtlCol="0" anchor="t">
            <a:spAutoFit/>
          </a:bodyPr>
          <a:lstStyle/>
          <a:p>
            <a:pPr algn="l">
              <a:lnSpc>
                <a:spcPts val="2939"/>
              </a:lnSpc>
            </a:pPr>
            <a:r>
              <a:rPr lang="en-US" sz="2099" dirty="0">
                <a:solidFill>
                  <a:srgbClr val="69498D"/>
                </a:solidFill>
                <a:latin typeface="Roboto"/>
                <a:ea typeface="Roboto"/>
                <a:cs typeface="Roboto"/>
                <a:sym typeface="Roboto"/>
              </a:rPr>
              <a:t>R20 Regulations</a:t>
            </a:r>
          </a:p>
        </p:txBody>
      </p:sp>
      <p:sp>
        <p:nvSpPr>
          <p:cNvPr id="13" name="TextBox 14">
            <a:extLst>
              <a:ext uri="{FF2B5EF4-FFF2-40B4-BE49-F238E27FC236}">
                <a16:creationId xmlns:a16="http://schemas.microsoft.com/office/drawing/2014/main" id="{D76A5843-954F-4143-AD98-54F4D8B5CB3B}"/>
              </a:ext>
            </a:extLst>
          </p:cNvPr>
          <p:cNvSpPr txBox="1"/>
          <p:nvPr/>
        </p:nvSpPr>
        <p:spPr>
          <a:xfrm>
            <a:off x="8099528" y="636814"/>
            <a:ext cx="2063584" cy="346249"/>
          </a:xfrm>
          <a:prstGeom prst="rect">
            <a:avLst/>
          </a:prstGeom>
        </p:spPr>
        <p:txBody>
          <a:bodyPr wrap="square" lIns="0" tIns="0" rIns="0" bIns="0" rtlCol="0" anchor="t">
            <a:spAutoFit/>
          </a:bodyPr>
          <a:lstStyle/>
          <a:p>
            <a:pPr algn="ctr">
              <a:lnSpc>
                <a:spcPts val="2939"/>
              </a:lnSpc>
            </a:pPr>
            <a:r>
              <a:rPr lang="en-US" sz="2099" dirty="0">
                <a:solidFill>
                  <a:srgbClr val="69498D"/>
                </a:solidFill>
                <a:latin typeface="Roboto"/>
                <a:ea typeface="Roboto"/>
                <a:cs typeface="Roboto"/>
                <a:sym typeface="Roboto"/>
              </a:rPr>
              <a:t>IV B. Tech ECE</a:t>
            </a:r>
          </a:p>
        </p:txBody>
      </p:sp>
      <p:sp>
        <p:nvSpPr>
          <p:cNvPr id="14" name="TextBox 15">
            <a:extLst>
              <a:ext uri="{FF2B5EF4-FFF2-40B4-BE49-F238E27FC236}">
                <a16:creationId xmlns:a16="http://schemas.microsoft.com/office/drawing/2014/main" id="{2B9D2BD5-1877-40AD-B370-D2A09E9B5EDE}"/>
              </a:ext>
            </a:extLst>
          </p:cNvPr>
          <p:cNvSpPr txBox="1"/>
          <p:nvPr/>
        </p:nvSpPr>
        <p:spPr>
          <a:xfrm>
            <a:off x="13078886" y="649680"/>
            <a:ext cx="3975505" cy="718145"/>
          </a:xfrm>
          <a:prstGeom prst="rect">
            <a:avLst/>
          </a:prstGeom>
        </p:spPr>
        <p:txBody>
          <a:bodyPr wrap="square" lIns="0" tIns="0" rIns="0" bIns="0" rtlCol="0" anchor="t">
            <a:spAutoFit/>
          </a:bodyPr>
          <a:lstStyle/>
          <a:p>
            <a:pPr algn="l">
              <a:lnSpc>
                <a:spcPts val="2939"/>
              </a:lnSpc>
            </a:pPr>
            <a:r>
              <a:rPr lang="en-US" sz="2099" dirty="0">
                <a:solidFill>
                  <a:srgbClr val="69498D"/>
                </a:solidFill>
                <a:latin typeface="Roboto"/>
                <a:ea typeface="Roboto"/>
                <a:cs typeface="Roboto"/>
                <a:sym typeface="Roboto"/>
              </a:rPr>
              <a:t>Ac. Year : 2025-26/ Semester -II</a:t>
            </a:r>
          </a:p>
          <a:p>
            <a:pPr algn="l">
              <a:lnSpc>
                <a:spcPts val="2939"/>
              </a:lnSpc>
            </a:pPr>
            <a:endParaRPr lang="en-US" sz="2099" dirty="0">
              <a:solidFill>
                <a:srgbClr val="69498D"/>
              </a:solidFill>
              <a:latin typeface="Roboto"/>
              <a:ea typeface="Roboto"/>
              <a:cs typeface="Roboto"/>
              <a:sym typeface="Roboto"/>
            </a:endParaRPr>
          </a:p>
        </p:txBody>
      </p:sp>
      <p:sp>
        <p:nvSpPr>
          <p:cNvPr id="15" name="TextBox 16">
            <a:extLst>
              <a:ext uri="{FF2B5EF4-FFF2-40B4-BE49-F238E27FC236}">
                <a16:creationId xmlns:a16="http://schemas.microsoft.com/office/drawing/2014/main" id="{C012D622-90DD-475F-BD60-E3537388F0D1}"/>
              </a:ext>
            </a:extLst>
          </p:cNvPr>
          <p:cNvSpPr txBox="1"/>
          <p:nvPr/>
        </p:nvSpPr>
        <p:spPr>
          <a:xfrm>
            <a:off x="1501374" y="9027283"/>
            <a:ext cx="3975505" cy="346249"/>
          </a:xfrm>
          <a:prstGeom prst="rect">
            <a:avLst/>
          </a:prstGeom>
        </p:spPr>
        <p:txBody>
          <a:bodyPr wrap="square" lIns="0" tIns="0" rIns="0" bIns="0" rtlCol="0" anchor="t">
            <a:spAutoFit/>
          </a:bodyPr>
          <a:lstStyle/>
          <a:p>
            <a:pPr>
              <a:lnSpc>
                <a:spcPts val="2939"/>
              </a:lnSpc>
            </a:pPr>
            <a:r>
              <a:rPr lang="en-US" sz="2099" dirty="0">
                <a:solidFill>
                  <a:srgbClr val="69498D"/>
                </a:solidFill>
                <a:latin typeface="Roboto"/>
                <a:ea typeface="Roboto"/>
                <a:cs typeface="Roboto"/>
                <a:sym typeface="Roboto"/>
              </a:rPr>
              <a:t>Final Review</a:t>
            </a:r>
          </a:p>
        </p:txBody>
      </p:sp>
      <p:sp>
        <p:nvSpPr>
          <p:cNvPr id="16" name="Text 0">
            <a:extLst>
              <a:ext uri="{FF2B5EF4-FFF2-40B4-BE49-F238E27FC236}">
                <a16:creationId xmlns:a16="http://schemas.microsoft.com/office/drawing/2014/main" id="{82D450D1-D35E-4553-8EB4-C382FE47C1AC}"/>
              </a:ext>
            </a:extLst>
          </p:cNvPr>
          <p:cNvSpPr/>
          <p:nvPr/>
        </p:nvSpPr>
        <p:spPr>
          <a:xfrm>
            <a:off x="1216198" y="1521827"/>
            <a:ext cx="4360809" cy="572785"/>
          </a:xfrm>
          <a:prstGeom prst="rect">
            <a:avLst/>
          </a:prstGeom>
          <a:noFill/>
          <a:ln/>
        </p:spPr>
        <p:txBody>
          <a:bodyPr wrap="none" lIns="0" tIns="0" rIns="0" bIns="0" rtlCol="0" anchor="t"/>
          <a:lstStyle/>
          <a:p>
            <a:pPr>
              <a:lnSpc>
                <a:spcPts val="4200"/>
              </a:lnSpc>
            </a:pPr>
            <a:r>
              <a:rPr lang="en-US" sz="2800" b="1" dirty="0">
                <a:latin typeface="Source Sans 3" panose="020B0604020202020204" charset="0"/>
                <a:cs typeface="Source Sans 3" panose="020B0604020202020204" charset="0"/>
              </a:rPr>
              <a:t>Results:</a:t>
            </a:r>
          </a:p>
        </p:txBody>
      </p:sp>
      <p:pic>
        <p:nvPicPr>
          <p:cNvPr id="17" name="Picture 16">
            <a:extLst>
              <a:ext uri="{FF2B5EF4-FFF2-40B4-BE49-F238E27FC236}">
                <a16:creationId xmlns:a16="http://schemas.microsoft.com/office/drawing/2014/main" id="{0F238646-157E-456E-8E08-94903B72F39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191171" y="120236"/>
            <a:ext cx="792468" cy="824167"/>
          </a:xfrm>
          <a:prstGeom prst="rect">
            <a:avLst/>
          </a:prstGeom>
        </p:spPr>
      </p:pic>
      <p:sp>
        <p:nvSpPr>
          <p:cNvPr id="20" name="Rectangle 19">
            <a:extLst>
              <a:ext uri="{FF2B5EF4-FFF2-40B4-BE49-F238E27FC236}">
                <a16:creationId xmlns:a16="http://schemas.microsoft.com/office/drawing/2014/main" id="{45DB066B-6797-434E-A28B-39CC417550C0}"/>
              </a:ext>
            </a:extLst>
          </p:cNvPr>
          <p:cNvSpPr/>
          <p:nvPr/>
        </p:nvSpPr>
        <p:spPr>
          <a:xfrm>
            <a:off x="1216198" y="6905170"/>
            <a:ext cx="15838192" cy="1384995"/>
          </a:xfrm>
          <a:prstGeom prst="rect">
            <a:avLst/>
          </a:prstGeom>
        </p:spPr>
        <p:txBody>
          <a:bodyPr wrap="square">
            <a:spAutoFit/>
          </a:bodyPr>
          <a:lstStyle/>
          <a:p>
            <a:r>
              <a:rPr lang="en-IN" sz="2800" dirty="0">
                <a:latin typeface="Source Sans 3" panose="020B0604020202020204" charset="0"/>
                <a:cs typeface="Source Sans 3" panose="020B0604020202020204" charset="0"/>
              </a:rPr>
              <a:t>The figure shows the transmission map of the image, representing the variation of illumination across the scene. Brighter areas indicate higher transmission, while darker regions correspond to low-light zones used for enhancement.</a:t>
            </a:r>
            <a:endParaRPr lang="en-US" sz="2800" dirty="0">
              <a:latin typeface="Source Sans 3" panose="020B0604020202020204" charset="0"/>
              <a:cs typeface="Source Sans 3" panose="020B0604020202020204" charset="0"/>
            </a:endParaRPr>
          </a:p>
        </p:txBody>
      </p:sp>
      <p:pic>
        <p:nvPicPr>
          <p:cNvPr id="22" name="Picture 21">
            <a:extLst>
              <a:ext uri="{FF2B5EF4-FFF2-40B4-BE49-F238E27FC236}">
                <a16:creationId xmlns:a16="http://schemas.microsoft.com/office/drawing/2014/main" id="{D5AC49F9-F6CD-4B6B-AABB-6657DA1DDBAF}"/>
              </a:ext>
            </a:extLst>
          </p:cNvPr>
          <p:cNvPicPr/>
          <p:nvPr/>
        </p:nvPicPr>
        <p:blipFill rotWithShape="1">
          <a:blip r:embed="rId7" cstate="print">
            <a:extLst>
              <a:ext uri="{28A0092B-C50C-407E-A947-70E740481C1C}">
                <a14:useLocalDpi xmlns:a14="http://schemas.microsoft.com/office/drawing/2010/main" val="0"/>
              </a:ext>
            </a:extLst>
          </a:blip>
          <a:srcRect l="16477" t="8879" r="15873" b="9408"/>
          <a:stretch/>
        </p:blipFill>
        <p:spPr>
          <a:xfrm>
            <a:off x="1295400" y="2015886"/>
            <a:ext cx="15316200" cy="4556014"/>
          </a:xfrm>
          <a:prstGeom prst="rect">
            <a:avLst/>
          </a:prstGeom>
        </p:spPr>
      </p:pic>
    </p:spTree>
    <p:extLst>
      <p:ext uri="{BB962C8B-B14F-4D97-AF65-F5344CB8AC3E}">
        <p14:creationId xmlns:p14="http://schemas.microsoft.com/office/powerpoint/2010/main" val="5951185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027C42-0E82-4251-B5B9-F76DCD08ECAE}"/>
              </a:ext>
            </a:extLst>
          </p:cNvPr>
          <p:cNvSpPr>
            <a:spLocks noGrp="1"/>
          </p:cNvSpPr>
          <p:nvPr>
            <p:ph type="sldNum" sz="quarter" idx="12"/>
          </p:nvPr>
        </p:nvSpPr>
        <p:spPr/>
        <p:txBody>
          <a:bodyPr/>
          <a:lstStyle/>
          <a:p>
            <a:fld id="{B6F15528-21DE-4FAA-801E-634DDDAF4B2B}" type="slidenum">
              <a:rPr lang="en-US" smtClean="0"/>
              <a:pPr/>
              <a:t>17</a:t>
            </a:fld>
            <a:endParaRPr lang="en-US" dirty="0"/>
          </a:p>
        </p:txBody>
      </p:sp>
      <p:sp>
        <p:nvSpPr>
          <p:cNvPr id="3" name="AutoShape 2">
            <a:extLst>
              <a:ext uri="{FF2B5EF4-FFF2-40B4-BE49-F238E27FC236}">
                <a16:creationId xmlns:a16="http://schemas.microsoft.com/office/drawing/2014/main" id="{AA8A053F-BEBA-4E96-AA60-4D0460A79CAF}"/>
              </a:ext>
            </a:extLst>
          </p:cNvPr>
          <p:cNvSpPr/>
          <p:nvPr/>
        </p:nvSpPr>
        <p:spPr>
          <a:xfrm>
            <a:off x="3953337" y="9258300"/>
            <a:ext cx="13305963" cy="0"/>
          </a:xfrm>
          <a:prstGeom prst="line">
            <a:avLst/>
          </a:prstGeom>
          <a:ln w="19050" cap="flat">
            <a:solidFill>
              <a:srgbClr val="48276D"/>
            </a:solidFill>
            <a:prstDash val="solid"/>
            <a:headEnd type="none" w="sm" len="sm"/>
            <a:tailEnd type="none" w="sm" len="sm"/>
          </a:ln>
        </p:spPr>
      </p:sp>
      <p:sp>
        <p:nvSpPr>
          <p:cNvPr id="4" name="Freeform 3">
            <a:extLst>
              <a:ext uri="{FF2B5EF4-FFF2-40B4-BE49-F238E27FC236}">
                <a16:creationId xmlns:a16="http://schemas.microsoft.com/office/drawing/2014/main" id="{77212D77-0717-4F88-8D86-261C6030D40C}"/>
              </a:ext>
            </a:extLst>
          </p:cNvPr>
          <p:cNvSpPr/>
          <p:nvPr/>
        </p:nvSpPr>
        <p:spPr>
          <a:xfrm>
            <a:off x="15421891" y="7635385"/>
            <a:ext cx="4190916" cy="4403878"/>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35000"/>
              <a:extLst>
                <a:ext uri="{96DAC541-7B7A-43D3-8B79-37D633B846F1}">
                  <asvg:svgBlip xmlns:asvg="http://schemas.microsoft.com/office/drawing/2016/SVG/main" r:embed="rId3"/>
                </a:ext>
              </a:extLst>
            </a:blip>
            <a:stretch>
              <a:fillRect/>
            </a:stretch>
          </a:blipFill>
        </p:spPr>
      </p:sp>
      <p:sp>
        <p:nvSpPr>
          <p:cNvPr id="5" name="AutoShape 4">
            <a:extLst>
              <a:ext uri="{FF2B5EF4-FFF2-40B4-BE49-F238E27FC236}">
                <a16:creationId xmlns:a16="http://schemas.microsoft.com/office/drawing/2014/main" id="{784A92C7-032B-4F1E-82A1-D1D311658FA0}"/>
              </a:ext>
            </a:extLst>
          </p:cNvPr>
          <p:cNvSpPr/>
          <p:nvPr/>
        </p:nvSpPr>
        <p:spPr>
          <a:xfrm flipV="1">
            <a:off x="728464" y="1047750"/>
            <a:ext cx="16530836" cy="0"/>
          </a:xfrm>
          <a:prstGeom prst="line">
            <a:avLst/>
          </a:prstGeom>
          <a:ln w="19050" cap="flat">
            <a:solidFill>
              <a:srgbClr val="48276D"/>
            </a:solidFill>
            <a:prstDash val="solid"/>
            <a:headEnd type="none" w="sm" len="sm"/>
            <a:tailEnd type="none" w="sm" len="sm"/>
          </a:ln>
        </p:spPr>
      </p:sp>
      <p:grpSp>
        <p:nvGrpSpPr>
          <p:cNvPr id="6" name="Group 6">
            <a:extLst>
              <a:ext uri="{FF2B5EF4-FFF2-40B4-BE49-F238E27FC236}">
                <a16:creationId xmlns:a16="http://schemas.microsoft.com/office/drawing/2014/main" id="{76B25DD1-51D1-4933-898D-78390A595F16}"/>
              </a:ext>
            </a:extLst>
          </p:cNvPr>
          <p:cNvGrpSpPr/>
          <p:nvPr/>
        </p:nvGrpSpPr>
        <p:grpSpPr>
          <a:xfrm>
            <a:off x="17223863" y="2431310"/>
            <a:ext cx="1064138" cy="6126166"/>
            <a:chOff x="0" y="0"/>
            <a:chExt cx="275176" cy="1507565"/>
          </a:xfrm>
        </p:grpSpPr>
        <p:sp>
          <p:nvSpPr>
            <p:cNvPr id="7" name="Freeform 7">
              <a:extLst>
                <a:ext uri="{FF2B5EF4-FFF2-40B4-BE49-F238E27FC236}">
                  <a16:creationId xmlns:a16="http://schemas.microsoft.com/office/drawing/2014/main" id="{15A09258-6A0B-43C3-9EA2-A3D12B1A211F}"/>
                </a:ext>
              </a:extLst>
            </p:cNvPr>
            <p:cNvSpPr/>
            <p:nvPr/>
          </p:nvSpPr>
          <p:spPr>
            <a:xfrm>
              <a:off x="0" y="0"/>
              <a:ext cx="275176" cy="1507565"/>
            </a:xfrm>
            <a:custGeom>
              <a:avLst/>
              <a:gdLst/>
              <a:ahLst/>
              <a:cxnLst/>
              <a:rect l="l" t="t" r="r" b="b"/>
              <a:pathLst>
                <a:path w="275176" h="1507565">
                  <a:moveTo>
                    <a:pt x="0" y="0"/>
                  </a:moveTo>
                  <a:lnTo>
                    <a:pt x="275176" y="0"/>
                  </a:lnTo>
                  <a:lnTo>
                    <a:pt x="275176" y="1507565"/>
                  </a:lnTo>
                  <a:lnTo>
                    <a:pt x="0" y="1507565"/>
                  </a:lnTo>
                  <a:close/>
                </a:path>
              </a:pathLst>
            </a:custGeom>
            <a:gradFill rotWithShape="1">
              <a:gsLst>
                <a:gs pos="0">
                  <a:srgbClr val="9374B3">
                    <a:alpha val="100000"/>
                  </a:srgbClr>
                </a:gs>
                <a:gs pos="50000">
                  <a:srgbClr val="7161A6">
                    <a:alpha val="100000"/>
                  </a:srgbClr>
                </a:gs>
                <a:gs pos="100000">
                  <a:srgbClr val="4A4D9C">
                    <a:alpha val="100000"/>
                  </a:srgbClr>
                </a:gs>
              </a:gsLst>
              <a:lin ang="0"/>
            </a:gradFill>
          </p:spPr>
        </p:sp>
        <p:sp>
          <p:nvSpPr>
            <p:cNvPr id="8" name="TextBox 8">
              <a:extLst>
                <a:ext uri="{FF2B5EF4-FFF2-40B4-BE49-F238E27FC236}">
                  <a16:creationId xmlns:a16="http://schemas.microsoft.com/office/drawing/2014/main" id="{C6729083-1B08-47E2-A0B7-0913ACEBB6A6}"/>
                </a:ext>
              </a:extLst>
            </p:cNvPr>
            <p:cNvSpPr txBox="1"/>
            <p:nvPr/>
          </p:nvSpPr>
          <p:spPr>
            <a:xfrm>
              <a:off x="0" y="-38100"/>
              <a:ext cx="275176" cy="1545665"/>
            </a:xfrm>
            <a:prstGeom prst="rect">
              <a:avLst/>
            </a:prstGeom>
          </p:spPr>
          <p:txBody>
            <a:bodyPr lIns="50800" tIns="50800" rIns="50800" bIns="50800" rtlCol="0" anchor="ctr"/>
            <a:lstStyle/>
            <a:p>
              <a:pPr algn="ctr">
                <a:lnSpc>
                  <a:spcPts val="2659"/>
                </a:lnSpc>
                <a:spcBef>
                  <a:spcPct val="0"/>
                </a:spcBef>
              </a:pPr>
              <a:endParaRPr dirty="0"/>
            </a:p>
          </p:txBody>
        </p:sp>
      </p:grpSp>
      <p:sp>
        <p:nvSpPr>
          <p:cNvPr id="9" name="Freeform 9">
            <a:extLst>
              <a:ext uri="{FF2B5EF4-FFF2-40B4-BE49-F238E27FC236}">
                <a16:creationId xmlns:a16="http://schemas.microsoft.com/office/drawing/2014/main" id="{5290E783-D719-4B4E-A1C1-E5E18A4B7E4F}"/>
              </a:ext>
            </a:extLst>
          </p:cNvPr>
          <p:cNvSpPr/>
          <p:nvPr/>
        </p:nvSpPr>
        <p:spPr>
          <a:xfrm rot="-5400000">
            <a:off x="17434592" y="3913082"/>
            <a:ext cx="761125" cy="181080"/>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AutoShape 10">
            <a:extLst>
              <a:ext uri="{FF2B5EF4-FFF2-40B4-BE49-F238E27FC236}">
                <a16:creationId xmlns:a16="http://schemas.microsoft.com/office/drawing/2014/main" id="{F94570FB-8CFC-48FF-9869-5A0C9F562580}"/>
              </a:ext>
            </a:extLst>
          </p:cNvPr>
          <p:cNvSpPr/>
          <p:nvPr/>
        </p:nvSpPr>
        <p:spPr>
          <a:xfrm flipV="1">
            <a:off x="17807273" y="4860438"/>
            <a:ext cx="0" cy="1118034"/>
          </a:xfrm>
          <a:prstGeom prst="line">
            <a:avLst/>
          </a:prstGeom>
          <a:ln w="19050" cap="flat">
            <a:solidFill>
              <a:srgbClr val="FFFFFF"/>
            </a:solidFill>
            <a:prstDash val="solid"/>
            <a:headEnd type="none" w="sm" len="sm"/>
            <a:tailEnd type="none" w="sm" len="sm"/>
          </a:ln>
        </p:spPr>
      </p:sp>
      <p:sp>
        <p:nvSpPr>
          <p:cNvPr id="11" name="Freeform 11">
            <a:extLst>
              <a:ext uri="{FF2B5EF4-FFF2-40B4-BE49-F238E27FC236}">
                <a16:creationId xmlns:a16="http://schemas.microsoft.com/office/drawing/2014/main" id="{DD3E8EF5-A91C-496E-BCBE-257684AB824A}"/>
              </a:ext>
            </a:extLst>
          </p:cNvPr>
          <p:cNvSpPr/>
          <p:nvPr/>
        </p:nvSpPr>
        <p:spPr>
          <a:xfrm rot="-5400000">
            <a:off x="17434592" y="6835946"/>
            <a:ext cx="761125" cy="181080"/>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TextBox 13">
            <a:extLst>
              <a:ext uri="{FF2B5EF4-FFF2-40B4-BE49-F238E27FC236}">
                <a16:creationId xmlns:a16="http://schemas.microsoft.com/office/drawing/2014/main" id="{D1CB957F-3B8E-4785-8D00-4B8665AE4F7F}"/>
              </a:ext>
            </a:extLst>
          </p:cNvPr>
          <p:cNvSpPr txBox="1"/>
          <p:nvPr/>
        </p:nvSpPr>
        <p:spPr>
          <a:xfrm>
            <a:off x="1062476" y="566621"/>
            <a:ext cx="2266088" cy="346249"/>
          </a:xfrm>
          <a:prstGeom prst="rect">
            <a:avLst/>
          </a:prstGeom>
        </p:spPr>
        <p:txBody>
          <a:bodyPr wrap="square" lIns="0" tIns="0" rIns="0" bIns="0" rtlCol="0" anchor="t">
            <a:spAutoFit/>
          </a:bodyPr>
          <a:lstStyle/>
          <a:p>
            <a:pPr algn="l">
              <a:lnSpc>
                <a:spcPts val="2939"/>
              </a:lnSpc>
            </a:pPr>
            <a:r>
              <a:rPr lang="en-US" sz="2099" dirty="0">
                <a:solidFill>
                  <a:srgbClr val="69498D"/>
                </a:solidFill>
                <a:latin typeface="Roboto"/>
                <a:ea typeface="Roboto"/>
                <a:cs typeface="Roboto"/>
                <a:sym typeface="Roboto"/>
              </a:rPr>
              <a:t>R20 Regulations</a:t>
            </a:r>
          </a:p>
        </p:txBody>
      </p:sp>
      <p:sp>
        <p:nvSpPr>
          <p:cNvPr id="13" name="TextBox 14">
            <a:extLst>
              <a:ext uri="{FF2B5EF4-FFF2-40B4-BE49-F238E27FC236}">
                <a16:creationId xmlns:a16="http://schemas.microsoft.com/office/drawing/2014/main" id="{D76A5843-954F-4143-AD98-54F4D8B5CB3B}"/>
              </a:ext>
            </a:extLst>
          </p:cNvPr>
          <p:cNvSpPr txBox="1"/>
          <p:nvPr/>
        </p:nvSpPr>
        <p:spPr>
          <a:xfrm>
            <a:off x="8099528" y="636814"/>
            <a:ext cx="2063584" cy="346249"/>
          </a:xfrm>
          <a:prstGeom prst="rect">
            <a:avLst/>
          </a:prstGeom>
        </p:spPr>
        <p:txBody>
          <a:bodyPr wrap="square" lIns="0" tIns="0" rIns="0" bIns="0" rtlCol="0" anchor="t">
            <a:spAutoFit/>
          </a:bodyPr>
          <a:lstStyle/>
          <a:p>
            <a:pPr algn="ctr">
              <a:lnSpc>
                <a:spcPts val="2939"/>
              </a:lnSpc>
            </a:pPr>
            <a:r>
              <a:rPr lang="en-US" sz="2099" dirty="0">
                <a:solidFill>
                  <a:srgbClr val="69498D"/>
                </a:solidFill>
                <a:latin typeface="Roboto"/>
                <a:ea typeface="Roboto"/>
                <a:cs typeface="Roboto"/>
                <a:sym typeface="Roboto"/>
              </a:rPr>
              <a:t>IV B. Tech ECE</a:t>
            </a:r>
          </a:p>
        </p:txBody>
      </p:sp>
      <p:sp>
        <p:nvSpPr>
          <p:cNvPr id="14" name="TextBox 15">
            <a:extLst>
              <a:ext uri="{FF2B5EF4-FFF2-40B4-BE49-F238E27FC236}">
                <a16:creationId xmlns:a16="http://schemas.microsoft.com/office/drawing/2014/main" id="{2B9D2BD5-1877-40AD-B370-D2A09E9B5EDE}"/>
              </a:ext>
            </a:extLst>
          </p:cNvPr>
          <p:cNvSpPr txBox="1"/>
          <p:nvPr/>
        </p:nvSpPr>
        <p:spPr>
          <a:xfrm>
            <a:off x="13078886" y="649680"/>
            <a:ext cx="3975505" cy="718145"/>
          </a:xfrm>
          <a:prstGeom prst="rect">
            <a:avLst/>
          </a:prstGeom>
        </p:spPr>
        <p:txBody>
          <a:bodyPr wrap="square" lIns="0" tIns="0" rIns="0" bIns="0" rtlCol="0" anchor="t">
            <a:spAutoFit/>
          </a:bodyPr>
          <a:lstStyle/>
          <a:p>
            <a:pPr algn="l">
              <a:lnSpc>
                <a:spcPts val="2939"/>
              </a:lnSpc>
            </a:pPr>
            <a:r>
              <a:rPr lang="en-US" sz="2099" dirty="0">
                <a:solidFill>
                  <a:srgbClr val="69498D"/>
                </a:solidFill>
                <a:latin typeface="Roboto"/>
                <a:ea typeface="Roboto"/>
                <a:cs typeface="Roboto"/>
                <a:sym typeface="Roboto"/>
              </a:rPr>
              <a:t>Ac. Year : 2025-26/ Semester -II</a:t>
            </a:r>
          </a:p>
          <a:p>
            <a:pPr algn="l">
              <a:lnSpc>
                <a:spcPts val="2939"/>
              </a:lnSpc>
            </a:pPr>
            <a:endParaRPr lang="en-US" sz="2099" dirty="0">
              <a:solidFill>
                <a:srgbClr val="69498D"/>
              </a:solidFill>
              <a:latin typeface="Roboto"/>
              <a:ea typeface="Roboto"/>
              <a:cs typeface="Roboto"/>
              <a:sym typeface="Roboto"/>
            </a:endParaRPr>
          </a:p>
        </p:txBody>
      </p:sp>
      <p:sp>
        <p:nvSpPr>
          <p:cNvPr id="15" name="TextBox 16">
            <a:extLst>
              <a:ext uri="{FF2B5EF4-FFF2-40B4-BE49-F238E27FC236}">
                <a16:creationId xmlns:a16="http://schemas.microsoft.com/office/drawing/2014/main" id="{C012D622-90DD-475F-BD60-E3537388F0D1}"/>
              </a:ext>
            </a:extLst>
          </p:cNvPr>
          <p:cNvSpPr txBox="1"/>
          <p:nvPr/>
        </p:nvSpPr>
        <p:spPr>
          <a:xfrm>
            <a:off x="1501374" y="9027283"/>
            <a:ext cx="3975505" cy="346249"/>
          </a:xfrm>
          <a:prstGeom prst="rect">
            <a:avLst/>
          </a:prstGeom>
        </p:spPr>
        <p:txBody>
          <a:bodyPr wrap="square" lIns="0" tIns="0" rIns="0" bIns="0" rtlCol="0" anchor="t">
            <a:spAutoFit/>
          </a:bodyPr>
          <a:lstStyle/>
          <a:p>
            <a:pPr>
              <a:lnSpc>
                <a:spcPts val="2939"/>
              </a:lnSpc>
            </a:pPr>
            <a:r>
              <a:rPr lang="en-US" sz="2099" dirty="0">
                <a:solidFill>
                  <a:srgbClr val="69498D"/>
                </a:solidFill>
                <a:latin typeface="Roboto"/>
                <a:ea typeface="Roboto"/>
                <a:cs typeface="Roboto"/>
                <a:sym typeface="Roboto"/>
              </a:rPr>
              <a:t>Final Review</a:t>
            </a:r>
          </a:p>
        </p:txBody>
      </p:sp>
      <p:sp>
        <p:nvSpPr>
          <p:cNvPr id="16" name="Text 0">
            <a:extLst>
              <a:ext uri="{FF2B5EF4-FFF2-40B4-BE49-F238E27FC236}">
                <a16:creationId xmlns:a16="http://schemas.microsoft.com/office/drawing/2014/main" id="{82D450D1-D35E-4553-8EB4-C382FE47C1AC}"/>
              </a:ext>
            </a:extLst>
          </p:cNvPr>
          <p:cNvSpPr/>
          <p:nvPr/>
        </p:nvSpPr>
        <p:spPr>
          <a:xfrm>
            <a:off x="1216198" y="1521827"/>
            <a:ext cx="4360809" cy="572785"/>
          </a:xfrm>
          <a:prstGeom prst="rect">
            <a:avLst/>
          </a:prstGeom>
          <a:noFill/>
          <a:ln/>
        </p:spPr>
        <p:txBody>
          <a:bodyPr wrap="none" lIns="0" tIns="0" rIns="0" bIns="0" rtlCol="0" anchor="t"/>
          <a:lstStyle/>
          <a:p>
            <a:pPr>
              <a:lnSpc>
                <a:spcPts val="4200"/>
              </a:lnSpc>
            </a:pPr>
            <a:r>
              <a:rPr lang="en-US" sz="2800" b="1" dirty="0">
                <a:latin typeface="Source Sans 3" panose="020B0604020202020204" charset="0"/>
                <a:cs typeface="Source Sans 3" panose="020B0604020202020204" charset="0"/>
              </a:rPr>
              <a:t>Results:</a:t>
            </a:r>
          </a:p>
        </p:txBody>
      </p:sp>
      <p:pic>
        <p:nvPicPr>
          <p:cNvPr id="17" name="Picture 16">
            <a:extLst>
              <a:ext uri="{FF2B5EF4-FFF2-40B4-BE49-F238E27FC236}">
                <a16:creationId xmlns:a16="http://schemas.microsoft.com/office/drawing/2014/main" id="{0F238646-157E-456E-8E08-94903B72F39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191171" y="120236"/>
            <a:ext cx="792468" cy="824167"/>
          </a:xfrm>
          <a:prstGeom prst="rect">
            <a:avLst/>
          </a:prstGeom>
        </p:spPr>
      </p:pic>
      <p:sp>
        <p:nvSpPr>
          <p:cNvPr id="20" name="Rectangle 19">
            <a:extLst>
              <a:ext uri="{FF2B5EF4-FFF2-40B4-BE49-F238E27FC236}">
                <a16:creationId xmlns:a16="http://schemas.microsoft.com/office/drawing/2014/main" id="{45DB066B-6797-434E-A28B-39CC417550C0}"/>
              </a:ext>
            </a:extLst>
          </p:cNvPr>
          <p:cNvSpPr/>
          <p:nvPr/>
        </p:nvSpPr>
        <p:spPr>
          <a:xfrm>
            <a:off x="1216198" y="6905170"/>
            <a:ext cx="15838192" cy="1815882"/>
          </a:xfrm>
          <a:prstGeom prst="rect">
            <a:avLst/>
          </a:prstGeom>
        </p:spPr>
        <p:txBody>
          <a:bodyPr wrap="square">
            <a:spAutoFit/>
          </a:bodyPr>
          <a:lstStyle/>
          <a:p>
            <a:r>
              <a:rPr lang="en-IN" sz="2800" dirty="0">
                <a:latin typeface="Source Sans 3" panose="020B0604020202020204" charset="0"/>
                <a:cs typeface="Source Sans 3" panose="020B0604020202020204" charset="0"/>
              </a:rPr>
              <a:t>The figure illustrates the performance evaluation of the enhanced image using various quality metrics. The results demonstrate improved contrast, effective edge preservation, higher information content, reduced noise, and strong structural similarity, highlighting the overall effectiveness of the image enhancement method.</a:t>
            </a:r>
            <a:endParaRPr lang="en-US" sz="2800" dirty="0">
              <a:latin typeface="Source Sans 3" panose="020B0604020202020204" charset="0"/>
              <a:cs typeface="Source Sans 3" panose="020B0604020202020204" charset="0"/>
            </a:endParaRPr>
          </a:p>
        </p:txBody>
      </p:sp>
      <p:pic>
        <p:nvPicPr>
          <p:cNvPr id="21" name="Picture 20">
            <a:extLst>
              <a:ext uri="{FF2B5EF4-FFF2-40B4-BE49-F238E27FC236}">
                <a16:creationId xmlns:a16="http://schemas.microsoft.com/office/drawing/2014/main" id="{9A39AAFC-D334-4712-89A7-300BD405A863}"/>
              </a:ext>
            </a:extLst>
          </p:cNvPr>
          <p:cNvPicPr/>
          <p:nvPr/>
        </p:nvPicPr>
        <p:blipFill>
          <a:blip r:embed="rId7" cstate="print">
            <a:extLst>
              <a:ext uri="{28A0092B-C50C-407E-A947-70E740481C1C}">
                <a14:useLocalDpi xmlns:a14="http://schemas.microsoft.com/office/drawing/2010/main" val="0"/>
              </a:ext>
            </a:extLst>
          </a:blip>
          <a:stretch>
            <a:fillRect/>
          </a:stretch>
        </p:blipFill>
        <p:spPr>
          <a:xfrm>
            <a:off x="1216197" y="2413212"/>
            <a:ext cx="7494427" cy="4132703"/>
          </a:xfrm>
          <a:prstGeom prst="rect">
            <a:avLst/>
          </a:prstGeom>
        </p:spPr>
      </p:pic>
      <p:pic>
        <p:nvPicPr>
          <p:cNvPr id="23" name="Picture 22">
            <a:extLst>
              <a:ext uri="{FF2B5EF4-FFF2-40B4-BE49-F238E27FC236}">
                <a16:creationId xmlns:a16="http://schemas.microsoft.com/office/drawing/2014/main" id="{0873A5B9-44AD-4660-BED1-2786CB5F1966}"/>
              </a:ext>
            </a:extLst>
          </p:cNvPr>
          <p:cNvPicPr/>
          <p:nvPr/>
        </p:nvPicPr>
        <p:blipFill>
          <a:blip r:embed="rId8" cstate="print">
            <a:extLst>
              <a:ext uri="{28A0092B-C50C-407E-A947-70E740481C1C}">
                <a14:useLocalDpi xmlns:a14="http://schemas.microsoft.com/office/drawing/2010/main" val="0"/>
              </a:ext>
            </a:extLst>
          </a:blip>
          <a:stretch>
            <a:fillRect/>
          </a:stretch>
        </p:blipFill>
        <p:spPr>
          <a:xfrm>
            <a:off x="8862686" y="2431310"/>
            <a:ext cx="8209116" cy="4153782"/>
          </a:xfrm>
          <a:prstGeom prst="rect">
            <a:avLst/>
          </a:prstGeom>
        </p:spPr>
      </p:pic>
    </p:spTree>
    <p:extLst>
      <p:ext uri="{BB962C8B-B14F-4D97-AF65-F5344CB8AC3E}">
        <p14:creationId xmlns:p14="http://schemas.microsoft.com/office/powerpoint/2010/main" val="861393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027C42-0E82-4251-B5B9-F76DCD08ECAE}"/>
              </a:ext>
            </a:extLst>
          </p:cNvPr>
          <p:cNvSpPr>
            <a:spLocks noGrp="1"/>
          </p:cNvSpPr>
          <p:nvPr>
            <p:ph type="sldNum" sz="quarter" idx="12"/>
          </p:nvPr>
        </p:nvSpPr>
        <p:spPr/>
        <p:txBody>
          <a:bodyPr/>
          <a:lstStyle/>
          <a:p>
            <a:fld id="{B6F15528-21DE-4FAA-801E-634DDDAF4B2B}" type="slidenum">
              <a:rPr lang="en-US" smtClean="0"/>
              <a:pPr/>
              <a:t>18</a:t>
            </a:fld>
            <a:endParaRPr lang="en-US" dirty="0"/>
          </a:p>
        </p:txBody>
      </p:sp>
      <p:sp>
        <p:nvSpPr>
          <p:cNvPr id="3" name="AutoShape 2">
            <a:extLst>
              <a:ext uri="{FF2B5EF4-FFF2-40B4-BE49-F238E27FC236}">
                <a16:creationId xmlns:a16="http://schemas.microsoft.com/office/drawing/2014/main" id="{AA8A053F-BEBA-4E96-AA60-4D0460A79CAF}"/>
              </a:ext>
            </a:extLst>
          </p:cNvPr>
          <p:cNvSpPr/>
          <p:nvPr/>
        </p:nvSpPr>
        <p:spPr>
          <a:xfrm>
            <a:off x="3953337" y="9258300"/>
            <a:ext cx="13305963" cy="0"/>
          </a:xfrm>
          <a:prstGeom prst="line">
            <a:avLst/>
          </a:prstGeom>
          <a:ln w="19050" cap="flat">
            <a:solidFill>
              <a:srgbClr val="48276D"/>
            </a:solidFill>
            <a:prstDash val="solid"/>
            <a:headEnd type="none" w="sm" len="sm"/>
            <a:tailEnd type="none" w="sm" len="sm"/>
          </a:ln>
        </p:spPr>
      </p:sp>
      <p:sp>
        <p:nvSpPr>
          <p:cNvPr id="4" name="Freeform 3">
            <a:extLst>
              <a:ext uri="{FF2B5EF4-FFF2-40B4-BE49-F238E27FC236}">
                <a16:creationId xmlns:a16="http://schemas.microsoft.com/office/drawing/2014/main" id="{77212D77-0717-4F88-8D86-261C6030D40C}"/>
              </a:ext>
            </a:extLst>
          </p:cNvPr>
          <p:cNvSpPr/>
          <p:nvPr/>
        </p:nvSpPr>
        <p:spPr>
          <a:xfrm>
            <a:off x="15421891" y="7635385"/>
            <a:ext cx="4190916" cy="4403878"/>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35000"/>
              <a:extLst>
                <a:ext uri="{96DAC541-7B7A-43D3-8B79-37D633B846F1}">
                  <asvg:svgBlip xmlns:asvg="http://schemas.microsoft.com/office/drawing/2016/SVG/main" r:embed="rId3"/>
                </a:ext>
              </a:extLst>
            </a:blip>
            <a:stretch>
              <a:fillRect/>
            </a:stretch>
          </a:blipFill>
        </p:spPr>
      </p:sp>
      <p:sp>
        <p:nvSpPr>
          <p:cNvPr id="5" name="AutoShape 4">
            <a:extLst>
              <a:ext uri="{FF2B5EF4-FFF2-40B4-BE49-F238E27FC236}">
                <a16:creationId xmlns:a16="http://schemas.microsoft.com/office/drawing/2014/main" id="{784A92C7-032B-4F1E-82A1-D1D311658FA0}"/>
              </a:ext>
            </a:extLst>
          </p:cNvPr>
          <p:cNvSpPr/>
          <p:nvPr/>
        </p:nvSpPr>
        <p:spPr>
          <a:xfrm flipV="1">
            <a:off x="728464" y="1047750"/>
            <a:ext cx="16530836" cy="0"/>
          </a:xfrm>
          <a:prstGeom prst="line">
            <a:avLst/>
          </a:prstGeom>
          <a:ln w="19050" cap="flat">
            <a:solidFill>
              <a:srgbClr val="48276D"/>
            </a:solidFill>
            <a:prstDash val="solid"/>
            <a:headEnd type="none" w="sm" len="sm"/>
            <a:tailEnd type="none" w="sm" len="sm"/>
          </a:ln>
        </p:spPr>
      </p:sp>
      <p:grpSp>
        <p:nvGrpSpPr>
          <p:cNvPr id="6" name="Group 6">
            <a:extLst>
              <a:ext uri="{FF2B5EF4-FFF2-40B4-BE49-F238E27FC236}">
                <a16:creationId xmlns:a16="http://schemas.microsoft.com/office/drawing/2014/main" id="{76B25DD1-51D1-4933-898D-78390A595F16}"/>
              </a:ext>
            </a:extLst>
          </p:cNvPr>
          <p:cNvGrpSpPr/>
          <p:nvPr/>
        </p:nvGrpSpPr>
        <p:grpSpPr>
          <a:xfrm>
            <a:off x="17223863" y="2431310"/>
            <a:ext cx="1064138" cy="6126166"/>
            <a:chOff x="0" y="0"/>
            <a:chExt cx="275176" cy="1507565"/>
          </a:xfrm>
        </p:grpSpPr>
        <p:sp>
          <p:nvSpPr>
            <p:cNvPr id="7" name="Freeform 7">
              <a:extLst>
                <a:ext uri="{FF2B5EF4-FFF2-40B4-BE49-F238E27FC236}">
                  <a16:creationId xmlns:a16="http://schemas.microsoft.com/office/drawing/2014/main" id="{15A09258-6A0B-43C3-9EA2-A3D12B1A211F}"/>
                </a:ext>
              </a:extLst>
            </p:cNvPr>
            <p:cNvSpPr/>
            <p:nvPr/>
          </p:nvSpPr>
          <p:spPr>
            <a:xfrm>
              <a:off x="0" y="0"/>
              <a:ext cx="275176" cy="1507565"/>
            </a:xfrm>
            <a:custGeom>
              <a:avLst/>
              <a:gdLst/>
              <a:ahLst/>
              <a:cxnLst/>
              <a:rect l="l" t="t" r="r" b="b"/>
              <a:pathLst>
                <a:path w="275176" h="1507565">
                  <a:moveTo>
                    <a:pt x="0" y="0"/>
                  </a:moveTo>
                  <a:lnTo>
                    <a:pt x="275176" y="0"/>
                  </a:lnTo>
                  <a:lnTo>
                    <a:pt x="275176" y="1507565"/>
                  </a:lnTo>
                  <a:lnTo>
                    <a:pt x="0" y="1507565"/>
                  </a:lnTo>
                  <a:close/>
                </a:path>
              </a:pathLst>
            </a:custGeom>
            <a:gradFill rotWithShape="1">
              <a:gsLst>
                <a:gs pos="0">
                  <a:srgbClr val="9374B3">
                    <a:alpha val="100000"/>
                  </a:srgbClr>
                </a:gs>
                <a:gs pos="50000">
                  <a:srgbClr val="7161A6">
                    <a:alpha val="100000"/>
                  </a:srgbClr>
                </a:gs>
                <a:gs pos="100000">
                  <a:srgbClr val="4A4D9C">
                    <a:alpha val="100000"/>
                  </a:srgbClr>
                </a:gs>
              </a:gsLst>
              <a:lin ang="0"/>
            </a:gradFill>
          </p:spPr>
        </p:sp>
        <p:sp>
          <p:nvSpPr>
            <p:cNvPr id="8" name="TextBox 8">
              <a:extLst>
                <a:ext uri="{FF2B5EF4-FFF2-40B4-BE49-F238E27FC236}">
                  <a16:creationId xmlns:a16="http://schemas.microsoft.com/office/drawing/2014/main" id="{C6729083-1B08-47E2-A0B7-0913ACEBB6A6}"/>
                </a:ext>
              </a:extLst>
            </p:cNvPr>
            <p:cNvSpPr txBox="1"/>
            <p:nvPr/>
          </p:nvSpPr>
          <p:spPr>
            <a:xfrm>
              <a:off x="0" y="-38100"/>
              <a:ext cx="275176" cy="1545665"/>
            </a:xfrm>
            <a:prstGeom prst="rect">
              <a:avLst/>
            </a:prstGeom>
          </p:spPr>
          <p:txBody>
            <a:bodyPr lIns="50800" tIns="50800" rIns="50800" bIns="50800" rtlCol="0" anchor="ctr"/>
            <a:lstStyle/>
            <a:p>
              <a:pPr algn="ctr">
                <a:lnSpc>
                  <a:spcPts val="2659"/>
                </a:lnSpc>
                <a:spcBef>
                  <a:spcPct val="0"/>
                </a:spcBef>
              </a:pPr>
              <a:endParaRPr dirty="0"/>
            </a:p>
          </p:txBody>
        </p:sp>
      </p:grpSp>
      <p:sp>
        <p:nvSpPr>
          <p:cNvPr id="9" name="Freeform 9">
            <a:extLst>
              <a:ext uri="{FF2B5EF4-FFF2-40B4-BE49-F238E27FC236}">
                <a16:creationId xmlns:a16="http://schemas.microsoft.com/office/drawing/2014/main" id="{5290E783-D719-4B4E-A1C1-E5E18A4B7E4F}"/>
              </a:ext>
            </a:extLst>
          </p:cNvPr>
          <p:cNvSpPr/>
          <p:nvPr/>
        </p:nvSpPr>
        <p:spPr>
          <a:xfrm rot="-5400000">
            <a:off x="17434592" y="3913082"/>
            <a:ext cx="761125" cy="181080"/>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AutoShape 10">
            <a:extLst>
              <a:ext uri="{FF2B5EF4-FFF2-40B4-BE49-F238E27FC236}">
                <a16:creationId xmlns:a16="http://schemas.microsoft.com/office/drawing/2014/main" id="{F94570FB-8CFC-48FF-9869-5A0C9F562580}"/>
              </a:ext>
            </a:extLst>
          </p:cNvPr>
          <p:cNvSpPr/>
          <p:nvPr/>
        </p:nvSpPr>
        <p:spPr>
          <a:xfrm flipV="1">
            <a:off x="17807273" y="4860438"/>
            <a:ext cx="0" cy="1118034"/>
          </a:xfrm>
          <a:prstGeom prst="line">
            <a:avLst/>
          </a:prstGeom>
          <a:ln w="19050" cap="flat">
            <a:solidFill>
              <a:srgbClr val="FFFFFF"/>
            </a:solidFill>
            <a:prstDash val="solid"/>
            <a:headEnd type="none" w="sm" len="sm"/>
            <a:tailEnd type="none" w="sm" len="sm"/>
          </a:ln>
        </p:spPr>
      </p:sp>
      <p:sp>
        <p:nvSpPr>
          <p:cNvPr id="11" name="Freeform 11">
            <a:extLst>
              <a:ext uri="{FF2B5EF4-FFF2-40B4-BE49-F238E27FC236}">
                <a16:creationId xmlns:a16="http://schemas.microsoft.com/office/drawing/2014/main" id="{DD3E8EF5-A91C-496E-BCBE-257684AB824A}"/>
              </a:ext>
            </a:extLst>
          </p:cNvPr>
          <p:cNvSpPr/>
          <p:nvPr/>
        </p:nvSpPr>
        <p:spPr>
          <a:xfrm rot="-5400000">
            <a:off x="17434592" y="6835946"/>
            <a:ext cx="761125" cy="181080"/>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TextBox 13">
            <a:extLst>
              <a:ext uri="{FF2B5EF4-FFF2-40B4-BE49-F238E27FC236}">
                <a16:creationId xmlns:a16="http://schemas.microsoft.com/office/drawing/2014/main" id="{D1CB957F-3B8E-4785-8D00-4B8665AE4F7F}"/>
              </a:ext>
            </a:extLst>
          </p:cNvPr>
          <p:cNvSpPr txBox="1"/>
          <p:nvPr/>
        </p:nvSpPr>
        <p:spPr>
          <a:xfrm>
            <a:off x="1062476" y="566621"/>
            <a:ext cx="2266088" cy="346249"/>
          </a:xfrm>
          <a:prstGeom prst="rect">
            <a:avLst/>
          </a:prstGeom>
        </p:spPr>
        <p:txBody>
          <a:bodyPr wrap="square" lIns="0" tIns="0" rIns="0" bIns="0" rtlCol="0" anchor="t">
            <a:spAutoFit/>
          </a:bodyPr>
          <a:lstStyle/>
          <a:p>
            <a:pPr algn="l">
              <a:lnSpc>
                <a:spcPts val="2939"/>
              </a:lnSpc>
            </a:pPr>
            <a:r>
              <a:rPr lang="en-US" sz="2099" dirty="0">
                <a:solidFill>
                  <a:srgbClr val="69498D"/>
                </a:solidFill>
                <a:latin typeface="Roboto"/>
                <a:ea typeface="Roboto"/>
                <a:cs typeface="Roboto"/>
                <a:sym typeface="Roboto"/>
              </a:rPr>
              <a:t>R20 Regulations</a:t>
            </a:r>
          </a:p>
        </p:txBody>
      </p:sp>
      <p:sp>
        <p:nvSpPr>
          <p:cNvPr id="13" name="TextBox 14">
            <a:extLst>
              <a:ext uri="{FF2B5EF4-FFF2-40B4-BE49-F238E27FC236}">
                <a16:creationId xmlns:a16="http://schemas.microsoft.com/office/drawing/2014/main" id="{D76A5843-954F-4143-AD98-54F4D8B5CB3B}"/>
              </a:ext>
            </a:extLst>
          </p:cNvPr>
          <p:cNvSpPr txBox="1"/>
          <p:nvPr/>
        </p:nvSpPr>
        <p:spPr>
          <a:xfrm>
            <a:off x="8099528" y="636814"/>
            <a:ext cx="2063584" cy="346249"/>
          </a:xfrm>
          <a:prstGeom prst="rect">
            <a:avLst/>
          </a:prstGeom>
        </p:spPr>
        <p:txBody>
          <a:bodyPr wrap="square" lIns="0" tIns="0" rIns="0" bIns="0" rtlCol="0" anchor="t">
            <a:spAutoFit/>
          </a:bodyPr>
          <a:lstStyle/>
          <a:p>
            <a:pPr algn="ctr">
              <a:lnSpc>
                <a:spcPts val="2939"/>
              </a:lnSpc>
            </a:pPr>
            <a:r>
              <a:rPr lang="en-US" sz="2099" dirty="0">
                <a:solidFill>
                  <a:srgbClr val="69498D"/>
                </a:solidFill>
                <a:latin typeface="Roboto"/>
                <a:ea typeface="Roboto"/>
                <a:cs typeface="Roboto"/>
                <a:sym typeface="Roboto"/>
              </a:rPr>
              <a:t>IV B. Tech ECE</a:t>
            </a:r>
          </a:p>
        </p:txBody>
      </p:sp>
      <p:sp>
        <p:nvSpPr>
          <p:cNvPr id="14" name="TextBox 15">
            <a:extLst>
              <a:ext uri="{FF2B5EF4-FFF2-40B4-BE49-F238E27FC236}">
                <a16:creationId xmlns:a16="http://schemas.microsoft.com/office/drawing/2014/main" id="{2B9D2BD5-1877-40AD-B370-D2A09E9B5EDE}"/>
              </a:ext>
            </a:extLst>
          </p:cNvPr>
          <p:cNvSpPr txBox="1"/>
          <p:nvPr/>
        </p:nvSpPr>
        <p:spPr>
          <a:xfrm>
            <a:off x="13078886" y="649680"/>
            <a:ext cx="3975505" cy="718145"/>
          </a:xfrm>
          <a:prstGeom prst="rect">
            <a:avLst/>
          </a:prstGeom>
        </p:spPr>
        <p:txBody>
          <a:bodyPr wrap="square" lIns="0" tIns="0" rIns="0" bIns="0" rtlCol="0" anchor="t">
            <a:spAutoFit/>
          </a:bodyPr>
          <a:lstStyle/>
          <a:p>
            <a:pPr algn="l">
              <a:lnSpc>
                <a:spcPts val="2939"/>
              </a:lnSpc>
            </a:pPr>
            <a:r>
              <a:rPr lang="en-US" sz="2099" dirty="0">
                <a:solidFill>
                  <a:srgbClr val="69498D"/>
                </a:solidFill>
                <a:latin typeface="Roboto"/>
                <a:ea typeface="Roboto"/>
                <a:cs typeface="Roboto"/>
                <a:sym typeface="Roboto"/>
              </a:rPr>
              <a:t>Ac. Year : 2025-26/ Semester -II</a:t>
            </a:r>
          </a:p>
          <a:p>
            <a:pPr algn="l">
              <a:lnSpc>
                <a:spcPts val="2939"/>
              </a:lnSpc>
            </a:pPr>
            <a:endParaRPr lang="en-US" sz="2099" dirty="0">
              <a:solidFill>
                <a:srgbClr val="69498D"/>
              </a:solidFill>
              <a:latin typeface="Roboto"/>
              <a:ea typeface="Roboto"/>
              <a:cs typeface="Roboto"/>
              <a:sym typeface="Roboto"/>
            </a:endParaRPr>
          </a:p>
        </p:txBody>
      </p:sp>
      <p:sp>
        <p:nvSpPr>
          <p:cNvPr id="15" name="TextBox 16">
            <a:extLst>
              <a:ext uri="{FF2B5EF4-FFF2-40B4-BE49-F238E27FC236}">
                <a16:creationId xmlns:a16="http://schemas.microsoft.com/office/drawing/2014/main" id="{C012D622-90DD-475F-BD60-E3537388F0D1}"/>
              </a:ext>
            </a:extLst>
          </p:cNvPr>
          <p:cNvSpPr txBox="1"/>
          <p:nvPr/>
        </p:nvSpPr>
        <p:spPr>
          <a:xfrm>
            <a:off x="1501374" y="9027283"/>
            <a:ext cx="3975505" cy="346249"/>
          </a:xfrm>
          <a:prstGeom prst="rect">
            <a:avLst/>
          </a:prstGeom>
        </p:spPr>
        <p:txBody>
          <a:bodyPr wrap="square" lIns="0" tIns="0" rIns="0" bIns="0" rtlCol="0" anchor="t">
            <a:spAutoFit/>
          </a:bodyPr>
          <a:lstStyle/>
          <a:p>
            <a:pPr>
              <a:lnSpc>
                <a:spcPts val="2939"/>
              </a:lnSpc>
            </a:pPr>
            <a:r>
              <a:rPr lang="en-US" sz="2099" dirty="0">
                <a:solidFill>
                  <a:srgbClr val="69498D"/>
                </a:solidFill>
                <a:latin typeface="Roboto"/>
                <a:ea typeface="Roboto"/>
                <a:cs typeface="Roboto"/>
                <a:sym typeface="Roboto"/>
              </a:rPr>
              <a:t>Final Review</a:t>
            </a:r>
          </a:p>
        </p:txBody>
      </p:sp>
      <p:sp>
        <p:nvSpPr>
          <p:cNvPr id="16" name="Text 0">
            <a:extLst>
              <a:ext uri="{FF2B5EF4-FFF2-40B4-BE49-F238E27FC236}">
                <a16:creationId xmlns:a16="http://schemas.microsoft.com/office/drawing/2014/main" id="{82D450D1-D35E-4553-8EB4-C382FE47C1AC}"/>
              </a:ext>
            </a:extLst>
          </p:cNvPr>
          <p:cNvSpPr/>
          <p:nvPr/>
        </p:nvSpPr>
        <p:spPr>
          <a:xfrm>
            <a:off x="1216198" y="1521827"/>
            <a:ext cx="4360809" cy="572785"/>
          </a:xfrm>
          <a:prstGeom prst="rect">
            <a:avLst/>
          </a:prstGeom>
          <a:noFill/>
          <a:ln/>
        </p:spPr>
        <p:txBody>
          <a:bodyPr wrap="none" lIns="0" tIns="0" rIns="0" bIns="0" rtlCol="0" anchor="t"/>
          <a:lstStyle/>
          <a:p>
            <a:pPr marL="0" indent="0" algn="l">
              <a:lnSpc>
                <a:spcPts val="4200"/>
              </a:lnSpc>
              <a:buNone/>
            </a:pPr>
            <a:r>
              <a:rPr lang="en-US" sz="3500" b="1" dirty="0">
                <a:solidFill>
                  <a:srgbClr val="000000"/>
                </a:solidFill>
                <a:latin typeface="Montserrat Bold" pitchFamily="34" charset="0"/>
              </a:rPr>
              <a:t>Advantages</a:t>
            </a:r>
            <a:endParaRPr lang="en-US" sz="3500" dirty="0"/>
          </a:p>
        </p:txBody>
      </p:sp>
      <p:pic>
        <p:nvPicPr>
          <p:cNvPr id="17" name="Picture 16">
            <a:extLst>
              <a:ext uri="{FF2B5EF4-FFF2-40B4-BE49-F238E27FC236}">
                <a16:creationId xmlns:a16="http://schemas.microsoft.com/office/drawing/2014/main" id="{0F238646-157E-456E-8E08-94903B72F39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191171" y="120236"/>
            <a:ext cx="792468" cy="824167"/>
          </a:xfrm>
          <a:prstGeom prst="rect">
            <a:avLst/>
          </a:prstGeom>
        </p:spPr>
      </p:pic>
      <p:sp>
        <p:nvSpPr>
          <p:cNvPr id="18" name="Rectangle 17">
            <a:extLst>
              <a:ext uri="{FF2B5EF4-FFF2-40B4-BE49-F238E27FC236}">
                <a16:creationId xmlns:a16="http://schemas.microsoft.com/office/drawing/2014/main" id="{C9CB697E-3500-4624-9EDE-CDA647FB510A}"/>
              </a:ext>
            </a:extLst>
          </p:cNvPr>
          <p:cNvSpPr/>
          <p:nvPr/>
        </p:nvSpPr>
        <p:spPr>
          <a:xfrm>
            <a:off x="1501374" y="2325627"/>
            <a:ext cx="14653026" cy="1951496"/>
          </a:xfrm>
          <a:prstGeom prst="rect">
            <a:avLst/>
          </a:prstGeom>
        </p:spPr>
        <p:txBody>
          <a:bodyPr wrap="square">
            <a:spAutoFit/>
          </a:bodyPr>
          <a:lstStyle/>
          <a:p>
            <a:pPr marL="457200" lvl="0" indent="-457200" algn="just">
              <a:lnSpc>
                <a:spcPct val="150000"/>
              </a:lnSpc>
              <a:buFont typeface="Arial" panose="020B0604020202020204" pitchFamily="34" charset="0"/>
              <a:buChar char="•"/>
            </a:pPr>
            <a:r>
              <a:rPr lang="en-US" sz="2800" dirty="0">
                <a:solidFill>
                  <a:prstClr val="black"/>
                </a:solidFill>
                <a:latin typeface="Source Sans 3" panose="020B0604020202020204" charset="0"/>
                <a:cs typeface="Source Sans 3" panose="020B0604020202020204" charset="0"/>
              </a:rPr>
              <a:t>Preserves Natural Facial Details</a:t>
            </a:r>
          </a:p>
          <a:p>
            <a:pPr marL="457200" lvl="0" indent="-457200" algn="just">
              <a:lnSpc>
                <a:spcPct val="150000"/>
              </a:lnSpc>
              <a:buFont typeface="Arial" panose="020B0604020202020204" pitchFamily="34" charset="0"/>
              <a:buChar char="•"/>
            </a:pPr>
            <a:r>
              <a:rPr lang="en-US" sz="2800" dirty="0">
                <a:solidFill>
                  <a:prstClr val="black"/>
                </a:solidFill>
                <a:latin typeface="Source Sans 3" panose="020B0604020202020204" charset="0"/>
                <a:cs typeface="Source Sans 3" panose="020B0604020202020204" charset="0"/>
              </a:rPr>
              <a:t>Reduces Noise</a:t>
            </a:r>
          </a:p>
          <a:p>
            <a:pPr marL="457200" lvl="0" indent="-457200" algn="just">
              <a:lnSpc>
                <a:spcPct val="150000"/>
              </a:lnSpc>
              <a:buFont typeface="Arial" panose="020B0604020202020204" pitchFamily="34" charset="0"/>
              <a:buChar char="•"/>
            </a:pPr>
            <a:r>
              <a:rPr lang="en-US" sz="2800" dirty="0">
                <a:solidFill>
                  <a:prstClr val="black"/>
                </a:solidFill>
                <a:latin typeface="Source Sans 3" panose="020B0604020202020204" charset="0"/>
                <a:cs typeface="Source Sans 3" panose="020B0604020202020204" charset="0"/>
              </a:rPr>
              <a:t>No Information Loss During Enhancement</a:t>
            </a:r>
          </a:p>
        </p:txBody>
      </p:sp>
      <p:sp>
        <p:nvSpPr>
          <p:cNvPr id="19" name="Rectangle 18">
            <a:extLst>
              <a:ext uri="{FF2B5EF4-FFF2-40B4-BE49-F238E27FC236}">
                <a16:creationId xmlns:a16="http://schemas.microsoft.com/office/drawing/2014/main" id="{22E019F6-AC85-42A0-9E4C-473372A357CB}"/>
              </a:ext>
            </a:extLst>
          </p:cNvPr>
          <p:cNvSpPr/>
          <p:nvPr/>
        </p:nvSpPr>
        <p:spPr>
          <a:xfrm>
            <a:off x="1216198" y="4784684"/>
            <a:ext cx="3129383" cy="630942"/>
          </a:xfrm>
          <a:prstGeom prst="rect">
            <a:avLst/>
          </a:prstGeom>
        </p:spPr>
        <p:txBody>
          <a:bodyPr wrap="none">
            <a:spAutoFit/>
          </a:bodyPr>
          <a:lstStyle/>
          <a:p>
            <a:pPr lvl="0">
              <a:lnSpc>
                <a:spcPts val="4200"/>
              </a:lnSpc>
            </a:pPr>
            <a:r>
              <a:rPr lang="en-US" sz="3500" b="1" dirty="0">
                <a:solidFill>
                  <a:srgbClr val="000000"/>
                </a:solidFill>
                <a:latin typeface="Montserrat Bold" pitchFamily="34" charset="0"/>
              </a:rPr>
              <a:t>Applications</a:t>
            </a:r>
            <a:endParaRPr lang="en-US" sz="3500" dirty="0">
              <a:solidFill>
                <a:prstClr val="black"/>
              </a:solidFill>
            </a:endParaRPr>
          </a:p>
        </p:txBody>
      </p:sp>
      <p:sp>
        <p:nvSpPr>
          <p:cNvPr id="20" name="Rectangle 19">
            <a:extLst>
              <a:ext uri="{FF2B5EF4-FFF2-40B4-BE49-F238E27FC236}">
                <a16:creationId xmlns:a16="http://schemas.microsoft.com/office/drawing/2014/main" id="{A6E92E0B-E8B7-4B9E-93BA-F5D8D42EBBF5}"/>
              </a:ext>
            </a:extLst>
          </p:cNvPr>
          <p:cNvSpPr/>
          <p:nvPr/>
        </p:nvSpPr>
        <p:spPr>
          <a:xfrm>
            <a:off x="1676400" y="5680460"/>
            <a:ext cx="14478000" cy="1951112"/>
          </a:xfrm>
          <a:prstGeom prst="rect">
            <a:avLst/>
          </a:prstGeom>
        </p:spPr>
        <p:txBody>
          <a:bodyPr wrap="square">
            <a:spAutoFit/>
          </a:bodyPr>
          <a:lstStyle/>
          <a:p>
            <a:pPr marL="457200" lvl="0" indent="-457200" algn="just">
              <a:lnSpc>
                <a:spcPct val="150000"/>
              </a:lnSpc>
              <a:buFont typeface="Arial" panose="020B0604020202020204" pitchFamily="34" charset="0"/>
              <a:buChar char="•"/>
            </a:pPr>
            <a:r>
              <a:rPr lang="en-US" sz="2800" dirty="0">
                <a:latin typeface="Source Sans 3" panose="020B0604020202020204" charset="0"/>
                <a:cs typeface="Source Sans 3" panose="020B0604020202020204" charset="0"/>
              </a:rPr>
              <a:t>Medical &amp; Healthcare Applications</a:t>
            </a:r>
          </a:p>
          <a:p>
            <a:pPr marL="457200" lvl="0" indent="-457200" algn="just">
              <a:lnSpc>
                <a:spcPct val="150000"/>
              </a:lnSpc>
              <a:buFont typeface="Arial" panose="020B0604020202020204" pitchFamily="34" charset="0"/>
              <a:buChar char="•"/>
            </a:pPr>
            <a:r>
              <a:rPr lang="en-US" sz="2800" dirty="0">
                <a:latin typeface="Source Sans 3" panose="020B0604020202020204" charset="0"/>
                <a:cs typeface="Source Sans 3" panose="020B0604020202020204" charset="0"/>
              </a:rPr>
              <a:t>Smartphone Camera Enhancement</a:t>
            </a:r>
          </a:p>
          <a:p>
            <a:pPr marL="457200" lvl="0" indent="-457200" algn="just">
              <a:lnSpc>
                <a:spcPct val="150000"/>
              </a:lnSpc>
              <a:buFont typeface="Arial" panose="020B0604020202020204" pitchFamily="34" charset="0"/>
              <a:buChar char="•"/>
            </a:pPr>
            <a:r>
              <a:rPr lang="en-US" sz="2800" dirty="0">
                <a:latin typeface="Source Sans 3" panose="020B0604020202020204" charset="0"/>
                <a:cs typeface="Source Sans 3" panose="020B0604020202020204" charset="0"/>
              </a:rPr>
              <a:t>Intelligent Surveillance &amp; Security</a:t>
            </a:r>
            <a:endParaRPr lang="en-US" sz="2800" dirty="0">
              <a:solidFill>
                <a:prstClr val="black"/>
              </a:solidFill>
              <a:latin typeface="Source Sans 3" panose="020B0604020202020204" charset="0"/>
              <a:cs typeface="Source Sans 3" panose="020B0604020202020204" charset="0"/>
            </a:endParaRPr>
          </a:p>
        </p:txBody>
      </p:sp>
    </p:spTree>
    <p:extLst>
      <p:ext uri="{BB962C8B-B14F-4D97-AF65-F5344CB8AC3E}">
        <p14:creationId xmlns:p14="http://schemas.microsoft.com/office/powerpoint/2010/main" val="34409666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195002" y="9258300"/>
            <a:ext cx="13064298" cy="0"/>
          </a:xfrm>
          <a:prstGeom prst="line">
            <a:avLst/>
          </a:prstGeom>
          <a:ln w="19050" cap="flat">
            <a:solidFill>
              <a:srgbClr val="48276D"/>
            </a:solidFill>
            <a:prstDash val="solid"/>
            <a:headEnd type="none" w="sm" len="sm"/>
            <a:tailEnd type="none" w="sm" len="sm"/>
          </a:ln>
        </p:spPr>
      </p:sp>
      <p:sp>
        <p:nvSpPr>
          <p:cNvPr id="3" name="Freeform 3"/>
          <p:cNvSpPr/>
          <p:nvPr/>
        </p:nvSpPr>
        <p:spPr>
          <a:xfrm>
            <a:off x="15498007" y="79244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35000"/>
              <a:extLst>
                <a:ext uri="{96DAC541-7B7A-43D3-8B79-37D633B846F1}">
                  <asvg:svgBlip xmlns:asvg="http://schemas.microsoft.com/office/drawing/2016/SVG/main" r:embed="rId3"/>
                </a:ext>
              </a:extLst>
            </a:blip>
            <a:stretch>
              <a:fillRect/>
            </a:stretch>
          </a:blipFill>
        </p:spPr>
      </p:sp>
      <p:sp>
        <p:nvSpPr>
          <p:cNvPr id="4" name="AutoShape 4"/>
          <p:cNvSpPr/>
          <p:nvPr/>
        </p:nvSpPr>
        <p:spPr>
          <a:xfrm flipV="1">
            <a:off x="1028700" y="1047750"/>
            <a:ext cx="16230600" cy="0"/>
          </a:xfrm>
          <a:prstGeom prst="line">
            <a:avLst/>
          </a:prstGeom>
          <a:ln w="19050" cap="flat">
            <a:solidFill>
              <a:srgbClr val="48276D"/>
            </a:solidFill>
            <a:prstDash val="solid"/>
            <a:headEnd type="none" w="sm" len="sm"/>
            <a:tailEnd type="none" w="sm" len="sm"/>
          </a:ln>
        </p:spPr>
      </p:sp>
      <p:grpSp>
        <p:nvGrpSpPr>
          <p:cNvPr id="6" name="Group 6"/>
          <p:cNvGrpSpPr/>
          <p:nvPr/>
        </p:nvGrpSpPr>
        <p:grpSpPr>
          <a:xfrm>
            <a:off x="17243189" y="2833442"/>
            <a:ext cx="1044811" cy="5724034"/>
            <a:chOff x="0" y="0"/>
            <a:chExt cx="275176" cy="1507565"/>
          </a:xfrm>
        </p:grpSpPr>
        <p:sp>
          <p:nvSpPr>
            <p:cNvPr id="7" name="Freeform 7"/>
            <p:cNvSpPr/>
            <p:nvPr/>
          </p:nvSpPr>
          <p:spPr>
            <a:xfrm>
              <a:off x="0" y="0"/>
              <a:ext cx="275176" cy="1507565"/>
            </a:xfrm>
            <a:custGeom>
              <a:avLst/>
              <a:gdLst/>
              <a:ahLst/>
              <a:cxnLst/>
              <a:rect l="l" t="t" r="r" b="b"/>
              <a:pathLst>
                <a:path w="275176" h="1507565">
                  <a:moveTo>
                    <a:pt x="0" y="0"/>
                  </a:moveTo>
                  <a:lnTo>
                    <a:pt x="275176" y="0"/>
                  </a:lnTo>
                  <a:lnTo>
                    <a:pt x="275176" y="1507565"/>
                  </a:lnTo>
                  <a:lnTo>
                    <a:pt x="0" y="1507565"/>
                  </a:lnTo>
                  <a:close/>
                </a:path>
              </a:pathLst>
            </a:custGeom>
            <a:gradFill rotWithShape="1">
              <a:gsLst>
                <a:gs pos="0">
                  <a:srgbClr val="9374B3">
                    <a:alpha val="100000"/>
                  </a:srgbClr>
                </a:gs>
                <a:gs pos="50000">
                  <a:srgbClr val="7161A6">
                    <a:alpha val="100000"/>
                  </a:srgbClr>
                </a:gs>
                <a:gs pos="100000">
                  <a:srgbClr val="4A4D9C">
                    <a:alpha val="100000"/>
                  </a:srgbClr>
                </a:gs>
              </a:gsLst>
              <a:lin ang="0"/>
            </a:gradFill>
          </p:spPr>
        </p:sp>
        <p:sp>
          <p:nvSpPr>
            <p:cNvPr id="8" name="TextBox 8"/>
            <p:cNvSpPr txBox="1"/>
            <p:nvPr/>
          </p:nvSpPr>
          <p:spPr>
            <a:xfrm>
              <a:off x="0" y="-38100"/>
              <a:ext cx="275176" cy="1545665"/>
            </a:xfrm>
            <a:prstGeom prst="rect">
              <a:avLst/>
            </a:prstGeom>
          </p:spPr>
          <p:txBody>
            <a:bodyPr lIns="50800" tIns="50800" rIns="50800" bIns="50800" rtlCol="0" anchor="ctr"/>
            <a:lstStyle/>
            <a:p>
              <a:pPr algn="ctr">
                <a:lnSpc>
                  <a:spcPts val="2659"/>
                </a:lnSpc>
                <a:spcBef>
                  <a:spcPct val="0"/>
                </a:spcBef>
              </a:pPr>
              <a:endParaRPr dirty="0"/>
            </a:p>
          </p:txBody>
        </p:sp>
      </p:grpSp>
      <p:sp>
        <p:nvSpPr>
          <p:cNvPr id="9" name="Freeform 9"/>
          <p:cNvSpPr/>
          <p:nvPr/>
        </p:nvSpPr>
        <p:spPr>
          <a:xfrm rot="-5400000">
            <a:off x="17461217" y="3939708"/>
            <a:ext cx="711163" cy="177791"/>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AutoShape 10"/>
          <p:cNvSpPr/>
          <p:nvPr/>
        </p:nvSpPr>
        <p:spPr>
          <a:xfrm flipV="1">
            <a:off x="17807273" y="4933828"/>
            <a:ext cx="0" cy="1044644"/>
          </a:xfrm>
          <a:prstGeom prst="line">
            <a:avLst/>
          </a:prstGeom>
          <a:ln w="19050" cap="flat">
            <a:solidFill>
              <a:srgbClr val="FFFFFF"/>
            </a:solidFill>
            <a:prstDash val="solid"/>
            <a:headEnd type="none" w="sm" len="sm"/>
            <a:tailEnd type="none" w="sm" len="sm"/>
          </a:ln>
        </p:spPr>
      </p:sp>
      <p:sp>
        <p:nvSpPr>
          <p:cNvPr id="11" name="Freeform 11"/>
          <p:cNvSpPr/>
          <p:nvPr/>
        </p:nvSpPr>
        <p:spPr>
          <a:xfrm rot="-5400000">
            <a:off x="17461217" y="6862572"/>
            <a:ext cx="711163" cy="177791"/>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TextBox 13"/>
          <p:cNvSpPr txBox="1"/>
          <p:nvPr/>
        </p:nvSpPr>
        <p:spPr>
          <a:xfrm>
            <a:off x="1103632" y="592747"/>
            <a:ext cx="2224931" cy="371897"/>
          </a:xfrm>
          <a:prstGeom prst="rect">
            <a:avLst/>
          </a:prstGeom>
        </p:spPr>
        <p:txBody>
          <a:bodyPr lIns="0" tIns="0" rIns="0" bIns="0" rtlCol="0" anchor="t">
            <a:spAutoFit/>
          </a:bodyPr>
          <a:lstStyle/>
          <a:p>
            <a:pPr algn="l">
              <a:lnSpc>
                <a:spcPts val="2939"/>
              </a:lnSpc>
            </a:pPr>
            <a:r>
              <a:rPr lang="en-US" sz="2099" dirty="0">
                <a:solidFill>
                  <a:srgbClr val="69498D"/>
                </a:solidFill>
                <a:latin typeface="Roboto"/>
                <a:ea typeface="Roboto"/>
                <a:cs typeface="Roboto"/>
                <a:sym typeface="Roboto"/>
              </a:rPr>
              <a:t>R20 Regulations</a:t>
            </a:r>
          </a:p>
        </p:txBody>
      </p:sp>
      <p:sp>
        <p:nvSpPr>
          <p:cNvPr id="14" name="TextBox 14"/>
          <p:cNvSpPr txBox="1"/>
          <p:nvPr/>
        </p:nvSpPr>
        <p:spPr>
          <a:xfrm>
            <a:off x="8137006" y="662940"/>
            <a:ext cx="2026105" cy="371897"/>
          </a:xfrm>
          <a:prstGeom prst="rect">
            <a:avLst/>
          </a:prstGeom>
        </p:spPr>
        <p:txBody>
          <a:bodyPr lIns="0" tIns="0" rIns="0" bIns="0" rtlCol="0" anchor="t">
            <a:spAutoFit/>
          </a:bodyPr>
          <a:lstStyle/>
          <a:p>
            <a:pPr algn="ctr">
              <a:lnSpc>
                <a:spcPts val="2939"/>
              </a:lnSpc>
            </a:pPr>
            <a:r>
              <a:rPr lang="en-US" sz="2099" dirty="0">
                <a:solidFill>
                  <a:srgbClr val="69498D"/>
                </a:solidFill>
                <a:latin typeface="Roboto"/>
                <a:ea typeface="Roboto"/>
                <a:cs typeface="Roboto"/>
                <a:sym typeface="Roboto"/>
              </a:rPr>
              <a:t>IV B. Tech ECE</a:t>
            </a:r>
          </a:p>
        </p:txBody>
      </p:sp>
      <p:sp>
        <p:nvSpPr>
          <p:cNvPr id="15" name="TextBox 15"/>
          <p:cNvSpPr txBox="1"/>
          <p:nvPr/>
        </p:nvSpPr>
        <p:spPr>
          <a:xfrm>
            <a:off x="13151090" y="701472"/>
            <a:ext cx="3903301" cy="737235"/>
          </a:xfrm>
          <a:prstGeom prst="rect">
            <a:avLst/>
          </a:prstGeom>
        </p:spPr>
        <p:txBody>
          <a:bodyPr lIns="0" tIns="0" rIns="0" bIns="0" rtlCol="0" anchor="t">
            <a:spAutoFit/>
          </a:bodyPr>
          <a:lstStyle/>
          <a:p>
            <a:pPr algn="l">
              <a:lnSpc>
                <a:spcPts val="2939"/>
              </a:lnSpc>
            </a:pPr>
            <a:r>
              <a:rPr lang="en-US" sz="2099" dirty="0">
                <a:solidFill>
                  <a:srgbClr val="69498D"/>
                </a:solidFill>
                <a:latin typeface="Roboto"/>
                <a:ea typeface="Roboto"/>
                <a:cs typeface="Roboto"/>
                <a:sym typeface="Roboto"/>
              </a:rPr>
              <a:t>Ac. Year : 2025-26/ Semester -II</a:t>
            </a:r>
          </a:p>
          <a:p>
            <a:pPr algn="l">
              <a:lnSpc>
                <a:spcPts val="2939"/>
              </a:lnSpc>
            </a:pPr>
            <a:endParaRPr lang="en-US" sz="2099" dirty="0">
              <a:solidFill>
                <a:srgbClr val="69498D"/>
              </a:solidFill>
              <a:latin typeface="Roboto"/>
              <a:ea typeface="Roboto"/>
              <a:cs typeface="Roboto"/>
              <a:sym typeface="Roboto"/>
            </a:endParaRPr>
          </a:p>
        </p:txBody>
      </p:sp>
      <p:sp>
        <p:nvSpPr>
          <p:cNvPr id="16" name="TextBox 16"/>
          <p:cNvSpPr txBox="1"/>
          <p:nvPr/>
        </p:nvSpPr>
        <p:spPr>
          <a:xfrm>
            <a:off x="1573578" y="9051607"/>
            <a:ext cx="3903301" cy="346249"/>
          </a:xfrm>
          <a:prstGeom prst="rect">
            <a:avLst/>
          </a:prstGeom>
        </p:spPr>
        <p:txBody>
          <a:bodyPr lIns="0" tIns="0" rIns="0" bIns="0" rtlCol="0" anchor="t">
            <a:spAutoFit/>
          </a:bodyPr>
          <a:lstStyle/>
          <a:p>
            <a:pPr>
              <a:lnSpc>
                <a:spcPts val="2939"/>
              </a:lnSpc>
            </a:pPr>
            <a:r>
              <a:rPr lang="en-US" sz="2099" dirty="0">
                <a:solidFill>
                  <a:srgbClr val="69498D"/>
                </a:solidFill>
                <a:latin typeface="Roboto"/>
                <a:ea typeface="Roboto"/>
                <a:cs typeface="Roboto"/>
                <a:sym typeface="Roboto"/>
              </a:rPr>
              <a:t>Final Review</a:t>
            </a:r>
          </a:p>
        </p:txBody>
      </p:sp>
      <p:sp>
        <p:nvSpPr>
          <p:cNvPr id="17" name="Text 10"/>
          <p:cNvSpPr/>
          <p:nvPr/>
        </p:nvSpPr>
        <p:spPr>
          <a:xfrm>
            <a:off x="1441000" y="2591923"/>
            <a:ext cx="1550194" cy="193715"/>
          </a:xfrm>
          <a:prstGeom prst="rect">
            <a:avLst/>
          </a:prstGeom>
          <a:noFill/>
          <a:ln/>
        </p:spPr>
        <p:txBody>
          <a:bodyPr wrap="none" lIns="0" tIns="0" rIns="0" bIns="0" rtlCol="0" anchor="t"/>
          <a:lstStyle/>
          <a:p>
            <a:pPr marL="0" indent="0" algn="l">
              <a:lnSpc>
                <a:spcPts val="1500"/>
              </a:lnSpc>
              <a:buNone/>
            </a:pPr>
            <a:r>
              <a:rPr lang="en-US" sz="3500" b="1" dirty="0">
                <a:solidFill>
                  <a:srgbClr val="3D3838"/>
                </a:solidFill>
                <a:latin typeface="Montserrat Bold" pitchFamily="34" charset="0"/>
                <a:ea typeface="Montserrat Bold" pitchFamily="34" charset="-122"/>
                <a:cs typeface="Montserrat Bold" pitchFamily="34" charset="-120"/>
              </a:rPr>
              <a:t>Software Tools</a:t>
            </a:r>
            <a:endParaRPr lang="en-US" sz="3500" dirty="0"/>
          </a:p>
        </p:txBody>
      </p:sp>
      <p:sp>
        <p:nvSpPr>
          <p:cNvPr id="18" name="Text 11"/>
          <p:cNvSpPr/>
          <p:nvPr/>
        </p:nvSpPr>
        <p:spPr>
          <a:xfrm>
            <a:off x="1573578" y="3007752"/>
            <a:ext cx="14344804" cy="4966993"/>
          </a:xfrm>
          <a:prstGeom prst="rect">
            <a:avLst/>
          </a:prstGeom>
          <a:noFill/>
          <a:ln/>
        </p:spPr>
        <p:txBody>
          <a:bodyPr wrap="none" lIns="0" tIns="0" rIns="0" bIns="0" rtlCol="0" anchor="t"/>
          <a:lstStyle/>
          <a:p>
            <a:pPr marL="457200" indent="-457200" algn="just">
              <a:lnSpc>
                <a:spcPct val="150000"/>
              </a:lnSpc>
              <a:buSzPct val="100000"/>
              <a:buFont typeface="Wingdings" panose="05000000000000000000" pitchFamily="2" charset="2"/>
              <a:buChar char="§"/>
            </a:pPr>
            <a:r>
              <a:rPr lang="en-US" sz="2800" dirty="0">
                <a:latin typeface="Source Sans 3" panose="020B0604020202020204" charset="0"/>
                <a:cs typeface="Source Sans 3" panose="020B0604020202020204" charset="0"/>
              </a:rPr>
              <a:t>Operating system 	: 	Windows XP/7.</a:t>
            </a:r>
          </a:p>
          <a:p>
            <a:pPr marL="457200" indent="-457200" algn="just">
              <a:lnSpc>
                <a:spcPct val="150000"/>
              </a:lnSpc>
              <a:buSzPct val="100000"/>
              <a:buFont typeface="Wingdings" panose="05000000000000000000" pitchFamily="2" charset="2"/>
              <a:buChar char="§"/>
            </a:pPr>
            <a:r>
              <a:rPr lang="en-US" sz="2800" dirty="0">
                <a:latin typeface="Source Sans 3" panose="020B0604020202020204" charset="0"/>
                <a:cs typeface="Source Sans 3" panose="020B0604020202020204" charset="0"/>
              </a:rPr>
              <a:t>Coding Language	: 	MATLAB</a:t>
            </a:r>
          </a:p>
          <a:p>
            <a:pPr marL="457200" indent="-457200" algn="just">
              <a:lnSpc>
                <a:spcPct val="150000"/>
              </a:lnSpc>
              <a:buSzPct val="100000"/>
              <a:buFont typeface="Wingdings" panose="05000000000000000000" pitchFamily="2" charset="2"/>
              <a:buChar char="§"/>
            </a:pPr>
            <a:r>
              <a:rPr lang="en-US" sz="2800" dirty="0">
                <a:latin typeface="Source Sans 3" panose="020B0604020202020204" charset="0"/>
                <a:cs typeface="Source Sans 3" panose="020B0604020202020204" charset="0"/>
              </a:rPr>
              <a:t>Tool			              :	MATLAB R 2018 ,9.10 v</a:t>
            </a:r>
          </a:p>
          <a:p>
            <a:pPr marL="342900" indent="-342900" algn="just">
              <a:lnSpc>
                <a:spcPct val="150000"/>
              </a:lnSpc>
              <a:buSzPct val="100000"/>
              <a:buFont typeface="Arial" panose="020B0604020202020204" pitchFamily="34" charset="0"/>
              <a:buChar char="•"/>
            </a:pPr>
            <a:endParaRPr lang="en-US" sz="2800" dirty="0">
              <a:latin typeface="Source Sans 3" panose="020B0604020202020204" charset="0"/>
              <a:cs typeface="Source Sans 3" panose="020B0604020202020204" charset="0"/>
            </a:endParaRPr>
          </a:p>
        </p:txBody>
      </p:sp>
      <p:sp>
        <p:nvSpPr>
          <p:cNvPr id="22" name="Text 0"/>
          <p:cNvSpPr/>
          <p:nvPr/>
        </p:nvSpPr>
        <p:spPr>
          <a:xfrm>
            <a:off x="6629400" y="1455036"/>
            <a:ext cx="3843576" cy="387548"/>
          </a:xfrm>
          <a:prstGeom prst="rect">
            <a:avLst/>
          </a:prstGeom>
          <a:noFill/>
          <a:ln/>
        </p:spPr>
        <p:txBody>
          <a:bodyPr wrap="none" lIns="0" tIns="0" rIns="0" bIns="0" rtlCol="0" anchor="t"/>
          <a:lstStyle/>
          <a:p>
            <a:pPr marL="0" indent="0" algn="l">
              <a:lnSpc>
                <a:spcPts val="3050"/>
              </a:lnSpc>
              <a:buNone/>
            </a:pPr>
            <a:r>
              <a:rPr lang="en-US" sz="4000" b="1" dirty="0">
                <a:solidFill>
                  <a:srgbClr val="000000"/>
                </a:solidFill>
                <a:latin typeface="Montserrat Bold" pitchFamily="34" charset="0"/>
                <a:ea typeface="Montserrat Bold" pitchFamily="34" charset="-122"/>
                <a:cs typeface="Montserrat Bold" pitchFamily="34" charset="-120"/>
              </a:rPr>
              <a:t>Implementation Details</a:t>
            </a:r>
            <a:endParaRPr lang="en-US" sz="4000" dirty="0"/>
          </a:p>
        </p:txBody>
      </p:sp>
      <p:pic>
        <p:nvPicPr>
          <p:cNvPr id="23" name="Picture 2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243189" y="174336"/>
            <a:ext cx="740449" cy="770067"/>
          </a:xfrm>
          <a:prstGeom prst="rect">
            <a:avLst/>
          </a:prstGeom>
        </p:spPr>
      </p:pic>
    </p:spTree>
    <p:extLst>
      <p:ext uri="{BB962C8B-B14F-4D97-AF65-F5344CB8AC3E}">
        <p14:creationId xmlns:p14="http://schemas.microsoft.com/office/powerpoint/2010/main" val="13007611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9B64ED1-5B5C-46B5-AFBE-D6FBCCD30E50}"/>
              </a:ext>
            </a:extLst>
          </p:cNvPr>
          <p:cNvSpPr>
            <a:spLocks noGrp="1"/>
          </p:cNvSpPr>
          <p:nvPr>
            <p:ph type="sldNum" sz="quarter" idx="12"/>
          </p:nvPr>
        </p:nvSpPr>
        <p:spPr/>
        <p:txBody>
          <a:bodyPr/>
          <a:lstStyle/>
          <a:p>
            <a:fld id="{B6F15528-21DE-4FAA-801E-634DDDAF4B2B}" type="slidenum">
              <a:rPr lang="en-US" smtClean="0"/>
              <a:pPr/>
              <a:t>20</a:t>
            </a:fld>
            <a:endParaRPr lang="en-US" dirty="0"/>
          </a:p>
        </p:txBody>
      </p:sp>
      <p:sp>
        <p:nvSpPr>
          <p:cNvPr id="3" name="AutoShape 2">
            <a:extLst>
              <a:ext uri="{FF2B5EF4-FFF2-40B4-BE49-F238E27FC236}">
                <a16:creationId xmlns:a16="http://schemas.microsoft.com/office/drawing/2014/main" id="{54C5F0CA-4C91-4432-99F0-6A0FE6BAD62D}"/>
              </a:ext>
            </a:extLst>
          </p:cNvPr>
          <p:cNvSpPr/>
          <p:nvPr/>
        </p:nvSpPr>
        <p:spPr>
          <a:xfrm>
            <a:off x="4195002" y="9258300"/>
            <a:ext cx="13064298" cy="0"/>
          </a:xfrm>
          <a:prstGeom prst="line">
            <a:avLst/>
          </a:prstGeom>
          <a:ln w="19050" cap="flat">
            <a:solidFill>
              <a:srgbClr val="48276D"/>
            </a:solidFill>
            <a:prstDash val="solid"/>
            <a:headEnd type="none" w="sm" len="sm"/>
            <a:tailEnd type="none" w="sm" len="sm"/>
          </a:ln>
        </p:spPr>
      </p:sp>
      <p:sp>
        <p:nvSpPr>
          <p:cNvPr id="4" name="Freeform 3">
            <a:extLst>
              <a:ext uri="{FF2B5EF4-FFF2-40B4-BE49-F238E27FC236}">
                <a16:creationId xmlns:a16="http://schemas.microsoft.com/office/drawing/2014/main" id="{3C6711BC-09D5-4425-A152-DB4FC1D0D9A9}"/>
              </a:ext>
            </a:extLst>
          </p:cNvPr>
          <p:cNvSpPr/>
          <p:nvPr/>
        </p:nvSpPr>
        <p:spPr>
          <a:xfrm>
            <a:off x="15498007" y="79244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35000"/>
              <a:extLst>
                <a:ext uri="{96DAC541-7B7A-43D3-8B79-37D633B846F1}">
                  <asvg:svgBlip xmlns:asvg="http://schemas.microsoft.com/office/drawing/2016/SVG/main" r:embed="rId3"/>
                </a:ext>
              </a:extLst>
            </a:blip>
            <a:stretch>
              <a:fillRect/>
            </a:stretch>
          </a:blipFill>
        </p:spPr>
      </p:sp>
      <p:sp>
        <p:nvSpPr>
          <p:cNvPr id="5" name="AutoShape 4">
            <a:extLst>
              <a:ext uri="{FF2B5EF4-FFF2-40B4-BE49-F238E27FC236}">
                <a16:creationId xmlns:a16="http://schemas.microsoft.com/office/drawing/2014/main" id="{1A6806F8-696C-415C-B69B-15EAB80E7F2E}"/>
              </a:ext>
            </a:extLst>
          </p:cNvPr>
          <p:cNvSpPr/>
          <p:nvPr/>
        </p:nvSpPr>
        <p:spPr>
          <a:xfrm flipV="1">
            <a:off x="1028700" y="1047750"/>
            <a:ext cx="16230600" cy="0"/>
          </a:xfrm>
          <a:prstGeom prst="line">
            <a:avLst/>
          </a:prstGeom>
          <a:ln w="19050" cap="flat">
            <a:solidFill>
              <a:srgbClr val="48276D"/>
            </a:solidFill>
            <a:prstDash val="solid"/>
            <a:headEnd type="none" w="sm" len="sm"/>
            <a:tailEnd type="none" w="sm" len="sm"/>
          </a:ln>
        </p:spPr>
      </p:sp>
      <p:grpSp>
        <p:nvGrpSpPr>
          <p:cNvPr id="6" name="Group 6">
            <a:extLst>
              <a:ext uri="{FF2B5EF4-FFF2-40B4-BE49-F238E27FC236}">
                <a16:creationId xmlns:a16="http://schemas.microsoft.com/office/drawing/2014/main" id="{85C8BC5F-84B7-4D62-8598-09C061C51A0F}"/>
              </a:ext>
            </a:extLst>
          </p:cNvPr>
          <p:cNvGrpSpPr/>
          <p:nvPr/>
        </p:nvGrpSpPr>
        <p:grpSpPr>
          <a:xfrm>
            <a:off x="17243189" y="2833442"/>
            <a:ext cx="1044811" cy="5724034"/>
            <a:chOff x="0" y="0"/>
            <a:chExt cx="275176" cy="1507565"/>
          </a:xfrm>
        </p:grpSpPr>
        <p:sp>
          <p:nvSpPr>
            <p:cNvPr id="7" name="Freeform 7">
              <a:extLst>
                <a:ext uri="{FF2B5EF4-FFF2-40B4-BE49-F238E27FC236}">
                  <a16:creationId xmlns:a16="http://schemas.microsoft.com/office/drawing/2014/main" id="{743C6936-8755-425B-8B45-076384A0D150}"/>
                </a:ext>
              </a:extLst>
            </p:cNvPr>
            <p:cNvSpPr/>
            <p:nvPr/>
          </p:nvSpPr>
          <p:spPr>
            <a:xfrm>
              <a:off x="0" y="0"/>
              <a:ext cx="275176" cy="1507565"/>
            </a:xfrm>
            <a:custGeom>
              <a:avLst/>
              <a:gdLst/>
              <a:ahLst/>
              <a:cxnLst/>
              <a:rect l="l" t="t" r="r" b="b"/>
              <a:pathLst>
                <a:path w="275176" h="1507565">
                  <a:moveTo>
                    <a:pt x="0" y="0"/>
                  </a:moveTo>
                  <a:lnTo>
                    <a:pt x="275176" y="0"/>
                  </a:lnTo>
                  <a:lnTo>
                    <a:pt x="275176" y="1507565"/>
                  </a:lnTo>
                  <a:lnTo>
                    <a:pt x="0" y="1507565"/>
                  </a:lnTo>
                  <a:close/>
                </a:path>
              </a:pathLst>
            </a:custGeom>
            <a:gradFill rotWithShape="1">
              <a:gsLst>
                <a:gs pos="0">
                  <a:srgbClr val="9374B3">
                    <a:alpha val="100000"/>
                  </a:srgbClr>
                </a:gs>
                <a:gs pos="50000">
                  <a:srgbClr val="7161A6">
                    <a:alpha val="100000"/>
                  </a:srgbClr>
                </a:gs>
                <a:gs pos="100000">
                  <a:srgbClr val="4A4D9C">
                    <a:alpha val="100000"/>
                  </a:srgbClr>
                </a:gs>
              </a:gsLst>
              <a:lin ang="0"/>
            </a:gradFill>
          </p:spPr>
        </p:sp>
        <p:sp>
          <p:nvSpPr>
            <p:cNvPr id="8" name="TextBox 8">
              <a:extLst>
                <a:ext uri="{FF2B5EF4-FFF2-40B4-BE49-F238E27FC236}">
                  <a16:creationId xmlns:a16="http://schemas.microsoft.com/office/drawing/2014/main" id="{9ACF1411-D322-40CA-A239-0B8D9D6A7A69}"/>
                </a:ext>
              </a:extLst>
            </p:cNvPr>
            <p:cNvSpPr txBox="1"/>
            <p:nvPr/>
          </p:nvSpPr>
          <p:spPr>
            <a:xfrm>
              <a:off x="0" y="-38100"/>
              <a:ext cx="275176" cy="1545665"/>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E8E7BCF6-BF8E-4839-8FC7-5FB9E61E268C}"/>
              </a:ext>
            </a:extLst>
          </p:cNvPr>
          <p:cNvSpPr/>
          <p:nvPr/>
        </p:nvSpPr>
        <p:spPr>
          <a:xfrm rot="-5400000">
            <a:off x="17461217" y="3939708"/>
            <a:ext cx="711163" cy="177791"/>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AutoShape 10">
            <a:extLst>
              <a:ext uri="{FF2B5EF4-FFF2-40B4-BE49-F238E27FC236}">
                <a16:creationId xmlns:a16="http://schemas.microsoft.com/office/drawing/2014/main" id="{53E9EAF9-5476-4687-AA8A-CB077FB968C0}"/>
              </a:ext>
            </a:extLst>
          </p:cNvPr>
          <p:cNvSpPr/>
          <p:nvPr/>
        </p:nvSpPr>
        <p:spPr>
          <a:xfrm flipV="1">
            <a:off x="17807273" y="4933828"/>
            <a:ext cx="0" cy="1044644"/>
          </a:xfrm>
          <a:prstGeom prst="line">
            <a:avLst/>
          </a:prstGeom>
          <a:ln w="19050" cap="flat">
            <a:solidFill>
              <a:srgbClr val="FFFFFF"/>
            </a:solidFill>
            <a:prstDash val="solid"/>
            <a:headEnd type="none" w="sm" len="sm"/>
            <a:tailEnd type="none" w="sm" len="sm"/>
          </a:ln>
        </p:spPr>
      </p:sp>
      <p:sp>
        <p:nvSpPr>
          <p:cNvPr id="11" name="Freeform 11">
            <a:extLst>
              <a:ext uri="{FF2B5EF4-FFF2-40B4-BE49-F238E27FC236}">
                <a16:creationId xmlns:a16="http://schemas.microsoft.com/office/drawing/2014/main" id="{1B46A39C-1BC2-45D7-A1FA-513B787887FB}"/>
              </a:ext>
            </a:extLst>
          </p:cNvPr>
          <p:cNvSpPr/>
          <p:nvPr/>
        </p:nvSpPr>
        <p:spPr>
          <a:xfrm rot="-5400000">
            <a:off x="17461217" y="6862572"/>
            <a:ext cx="711163" cy="177791"/>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TextBox 13">
            <a:extLst>
              <a:ext uri="{FF2B5EF4-FFF2-40B4-BE49-F238E27FC236}">
                <a16:creationId xmlns:a16="http://schemas.microsoft.com/office/drawing/2014/main" id="{ABAC5446-9709-446C-B9B5-ABC08B2F3F2D}"/>
              </a:ext>
            </a:extLst>
          </p:cNvPr>
          <p:cNvSpPr txBox="1"/>
          <p:nvPr/>
        </p:nvSpPr>
        <p:spPr>
          <a:xfrm>
            <a:off x="1103632" y="592747"/>
            <a:ext cx="2224931" cy="371897"/>
          </a:xfrm>
          <a:prstGeom prst="rect">
            <a:avLst/>
          </a:prstGeom>
        </p:spPr>
        <p:txBody>
          <a:bodyPr lIns="0" tIns="0" rIns="0" bIns="0" rtlCol="0" anchor="t">
            <a:spAutoFit/>
          </a:bodyPr>
          <a:lstStyle/>
          <a:p>
            <a:pPr algn="l">
              <a:lnSpc>
                <a:spcPts val="2939"/>
              </a:lnSpc>
            </a:pPr>
            <a:r>
              <a:rPr lang="en-US" sz="2099" dirty="0">
                <a:solidFill>
                  <a:srgbClr val="69498D"/>
                </a:solidFill>
                <a:latin typeface="Roboto"/>
                <a:ea typeface="Roboto"/>
                <a:cs typeface="Roboto"/>
                <a:sym typeface="Roboto"/>
              </a:rPr>
              <a:t>R20 Regulations</a:t>
            </a:r>
          </a:p>
        </p:txBody>
      </p:sp>
      <p:sp>
        <p:nvSpPr>
          <p:cNvPr id="13" name="TextBox 14">
            <a:extLst>
              <a:ext uri="{FF2B5EF4-FFF2-40B4-BE49-F238E27FC236}">
                <a16:creationId xmlns:a16="http://schemas.microsoft.com/office/drawing/2014/main" id="{3EF3F940-D36B-4958-98E1-3BF16280EF50}"/>
              </a:ext>
            </a:extLst>
          </p:cNvPr>
          <p:cNvSpPr txBox="1"/>
          <p:nvPr/>
        </p:nvSpPr>
        <p:spPr>
          <a:xfrm>
            <a:off x="8137006" y="662940"/>
            <a:ext cx="2026105" cy="371897"/>
          </a:xfrm>
          <a:prstGeom prst="rect">
            <a:avLst/>
          </a:prstGeom>
        </p:spPr>
        <p:txBody>
          <a:bodyPr lIns="0" tIns="0" rIns="0" bIns="0" rtlCol="0" anchor="t">
            <a:spAutoFit/>
          </a:bodyPr>
          <a:lstStyle/>
          <a:p>
            <a:pPr algn="ctr">
              <a:lnSpc>
                <a:spcPts val="2939"/>
              </a:lnSpc>
            </a:pPr>
            <a:r>
              <a:rPr lang="en-US" sz="2099" dirty="0">
                <a:solidFill>
                  <a:srgbClr val="69498D"/>
                </a:solidFill>
                <a:latin typeface="Roboto"/>
                <a:ea typeface="Roboto"/>
                <a:cs typeface="Roboto"/>
                <a:sym typeface="Roboto"/>
              </a:rPr>
              <a:t>IV B. Tech ECE</a:t>
            </a:r>
          </a:p>
        </p:txBody>
      </p:sp>
      <p:sp>
        <p:nvSpPr>
          <p:cNvPr id="14" name="TextBox 15">
            <a:extLst>
              <a:ext uri="{FF2B5EF4-FFF2-40B4-BE49-F238E27FC236}">
                <a16:creationId xmlns:a16="http://schemas.microsoft.com/office/drawing/2014/main" id="{BF3F3B48-7C1D-4F3D-A1A8-A4405EB6960F}"/>
              </a:ext>
            </a:extLst>
          </p:cNvPr>
          <p:cNvSpPr txBox="1"/>
          <p:nvPr/>
        </p:nvSpPr>
        <p:spPr>
          <a:xfrm>
            <a:off x="13151090" y="701472"/>
            <a:ext cx="3903301" cy="737235"/>
          </a:xfrm>
          <a:prstGeom prst="rect">
            <a:avLst/>
          </a:prstGeom>
        </p:spPr>
        <p:txBody>
          <a:bodyPr lIns="0" tIns="0" rIns="0" bIns="0" rtlCol="0" anchor="t">
            <a:spAutoFit/>
          </a:bodyPr>
          <a:lstStyle/>
          <a:p>
            <a:pPr algn="l">
              <a:lnSpc>
                <a:spcPts val="2939"/>
              </a:lnSpc>
            </a:pPr>
            <a:r>
              <a:rPr lang="en-US" sz="2099">
                <a:solidFill>
                  <a:srgbClr val="69498D"/>
                </a:solidFill>
                <a:latin typeface="Roboto"/>
                <a:ea typeface="Roboto"/>
                <a:cs typeface="Roboto"/>
                <a:sym typeface="Roboto"/>
              </a:rPr>
              <a:t>Ac. Year : 2025-26/ Semester -II</a:t>
            </a:r>
          </a:p>
          <a:p>
            <a:pPr algn="l">
              <a:lnSpc>
                <a:spcPts val="2939"/>
              </a:lnSpc>
            </a:pPr>
            <a:endParaRPr lang="en-US" sz="2099">
              <a:solidFill>
                <a:srgbClr val="69498D"/>
              </a:solidFill>
              <a:latin typeface="Roboto"/>
              <a:ea typeface="Roboto"/>
              <a:cs typeface="Roboto"/>
              <a:sym typeface="Roboto"/>
            </a:endParaRPr>
          </a:p>
        </p:txBody>
      </p:sp>
      <p:sp>
        <p:nvSpPr>
          <p:cNvPr id="15" name="TextBox 16">
            <a:extLst>
              <a:ext uri="{FF2B5EF4-FFF2-40B4-BE49-F238E27FC236}">
                <a16:creationId xmlns:a16="http://schemas.microsoft.com/office/drawing/2014/main" id="{3D0BCE79-A959-4914-8E28-A3D08EAB9375}"/>
              </a:ext>
            </a:extLst>
          </p:cNvPr>
          <p:cNvSpPr txBox="1"/>
          <p:nvPr/>
        </p:nvSpPr>
        <p:spPr>
          <a:xfrm>
            <a:off x="1573578" y="9051607"/>
            <a:ext cx="3903301" cy="346249"/>
          </a:xfrm>
          <a:prstGeom prst="rect">
            <a:avLst/>
          </a:prstGeom>
        </p:spPr>
        <p:txBody>
          <a:bodyPr lIns="0" tIns="0" rIns="0" bIns="0" rtlCol="0" anchor="t">
            <a:spAutoFit/>
          </a:bodyPr>
          <a:lstStyle/>
          <a:p>
            <a:pPr>
              <a:lnSpc>
                <a:spcPts val="2939"/>
              </a:lnSpc>
            </a:pPr>
            <a:r>
              <a:rPr lang="en-US" sz="2099" dirty="0">
                <a:solidFill>
                  <a:srgbClr val="69498D"/>
                </a:solidFill>
                <a:latin typeface="Roboto"/>
                <a:ea typeface="Roboto"/>
                <a:cs typeface="Roboto"/>
                <a:sym typeface="Roboto"/>
              </a:rPr>
              <a:t>Final Review</a:t>
            </a:r>
          </a:p>
        </p:txBody>
      </p:sp>
      <p:sp>
        <p:nvSpPr>
          <p:cNvPr id="16" name="Text 0">
            <a:extLst>
              <a:ext uri="{FF2B5EF4-FFF2-40B4-BE49-F238E27FC236}">
                <a16:creationId xmlns:a16="http://schemas.microsoft.com/office/drawing/2014/main" id="{B527CDDD-08D7-4C7C-BD55-5727ED607025}"/>
              </a:ext>
            </a:extLst>
          </p:cNvPr>
          <p:cNvSpPr/>
          <p:nvPr/>
        </p:nvSpPr>
        <p:spPr>
          <a:xfrm>
            <a:off x="1295400" y="1559426"/>
            <a:ext cx="4281607" cy="535186"/>
          </a:xfrm>
          <a:prstGeom prst="rect">
            <a:avLst/>
          </a:prstGeom>
          <a:noFill/>
          <a:ln/>
        </p:spPr>
        <p:txBody>
          <a:bodyPr wrap="none" lIns="0" tIns="0" rIns="0" bIns="0" rtlCol="0" anchor="t"/>
          <a:lstStyle/>
          <a:p>
            <a:pPr marL="0" indent="0" algn="l">
              <a:lnSpc>
                <a:spcPts val="4200"/>
              </a:lnSpc>
              <a:buNone/>
            </a:pPr>
            <a:r>
              <a:rPr lang="en-US" sz="3350" b="1" dirty="0">
                <a:solidFill>
                  <a:srgbClr val="000000"/>
                </a:solidFill>
                <a:latin typeface="Montserrat Bold" pitchFamily="34" charset="0"/>
                <a:ea typeface="Montserrat Bold" pitchFamily="34" charset="-122"/>
                <a:cs typeface="Montserrat Bold" pitchFamily="34" charset="-120"/>
              </a:rPr>
              <a:t>Conclusion</a:t>
            </a:r>
            <a:endParaRPr lang="en-US" sz="3350" dirty="0"/>
          </a:p>
        </p:txBody>
      </p:sp>
      <p:sp>
        <p:nvSpPr>
          <p:cNvPr id="17" name="Shape 1">
            <a:extLst>
              <a:ext uri="{FF2B5EF4-FFF2-40B4-BE49-F238E27FC236}">
                <a16:creationId xmlns:a16="http://schemas.microsoft.com/office/drawing/2014/main" id="{E80500C4-9626-428E-986E-B685D7F850CB}"/>
              </a:ext>
            </a:extLst>
          </p:cNvPr>
          <p:cNvSpPr/>
          <p:nvPr/>
        </p:nvSpPr>
        <p:spPr>
          <a:xfrm>
            <a:off x="1295400" y="2377147"/>
            <a:ext cx="15163800" cy="1650563"/>
          </a:xfrm>
          <a:prstGeom prst="roundRect">
            <a:avLst>
              <a:gd name="adj" fmla="val 6648"/>
            </a:avLst>
          </a:prstGeom>
          <a:solidFill>
            <a:srgbClr val="FFFFFF"/>
          </a:solidFill>
          <a:ln w="22860">
            <a:solidFill>
              <a:srgbClr val="D8D4D4"/>
            </a:solidFill>
            <a:prstDash val="solid"/>
          </a:ln>
        </p:spPr>
      </p:sp>
      <p:sp>
        <p:nvSpPr>
          <p:cNvPr id="18" name="Shape 2">
            <a:extLst>
              <a:ext uri="{FF2B5EF4-FFF2-40B4-BE49-F238E27FC236}">
                <a16:creationId xmlns:a16="http://schemas.microsoft.com/office/drawing/2014/main" id="{E3861BB7-15CD-4DB0-98C2-0F1A4058501D}"/>
              </a:ext>
            </a:extLst>
          </p:cNvPr>
          <p:cNvSpPr/>
          <p:nvPr/>
        </p:nvSpPr>
        <p:spPr>
          <a:xfrm>
            <a:off x="1272540" y="2377147"/>
            <a:ext cx="91440" cy="1650563"/>
          </a:xfrm>
          <a:prstGeom prst="roundRect">
            <a:avLst>
              <a:gd name="adj" fmla="val 30905"/>
            </a:avLst>
          </a:prstGeom>
          <a:solidFill>
            <a:srgbClr val="2D2E34"/>
          </a:solidFill>
          <a:ln/>
        </p:spPr>
      </p:sp>
      <p:sp>
        <p:nvSpPr>
          <p:cNvPr id="19" name="Text 3">
            <a:extLst>
              <a:ext uri="{FF2B5EF4-FFF2-40B4-BE49-F238E27FC236}">
                <a16:creationId xmlns:a16="http://schemas.microsoft.com/office/drawing/2014/main" id="{516630C5-7FDB-4417-93CF-441A94D74CD7}"/>
              </a:ext>
            </a:extLst>
          </p:cNvPr>
          <p:cNvSpPr/>
          <p:nvPr/>
        </p:nvSpPr>
        <p:spPr>
          <a:xfrm>
            <a:off x="1575197" y="2588364"/>
            <a:ext cx="2376558" cy="267533"/>
          </a:xfrm>
          <a:prstGeom prst="rect">
            <a:avLst/>
          </a:prstGeom>
          <a:noFill/>
          <a:ln/>
        </p:spPr>
        <p:txBody>
          <a:bodyPr wrap="none" lIns="0" tIns="0" rIns="0" bIns="0" rtlCol="0" anchor="t"/>
          <a:lstStyle/>
          <a:p>
            <a:pPr marL="0" indent="0" algn="l">
              <a:lnSpc>
                <a:spcPts val="2100"/>
              </a:lnSpc>
              <a:buNone/>
            </a:pPr>
            <a:r>
              <a:rPr lang="en-US" sz="2800" b="1" dirty="0">
                <a:solidFill>
                  <a:srgbClr val="3D3838"/>
                </a:solidFill>
                <a:latin typeface="Montserrat Bold" pitchFamily="34" charset="0"/>
                <a:ea typeface="Montserrat Bold" pitchFamily="34" charset="-122"/>
                <a:cs typeface="Montserrat Bold" pitchFamily="34" charset="-120"/>
              </a:rPr>
              <a:t>Key Findings</a:t>
            </a:r>
            <a:endParaRPr lang="en-US" sz="2800" dirty="0"/>
          </a:p>
        </p:txBody>
      </p:sp>
      <p:sp>
        <p:nvSpPr>
          <p:cNvPr id="20" name="Text 4">
            <a:extLst>
              <a:ext uri="{FF2B5EF4-FFF2-40B4-BE49-F238E27FC236}">
                <a16:creationId xmlns:a16="http://schemas.microsoft.com/office/drawing/2014/main" id="{86819DE5-4058-4D94-81E6-5999D8AFA552}"/>
              </a:ext>
            </a:extLst>
          </p:cNvPr>
          <p:cNvSpPr/>
          <p:nvPr/>
        </p:nvSpPr>
        <p:spPr>
          <a:xfrm>
            <a:off x="1575196" y="2968888"/>
            <a:ext cx="13055204" cy="847606"/>
          </a:xfrm>
          <a:prstGeom prst="rect">
            <a:avLst/>
          </a:prstGeom>
          <a:noFill/>
          <a:ln/>
        </p:spPr>
        <p:txBody>
          <a:bodyPr wrap="square" lIns="0" tIns="0" rIns="0" bIns="0" rtlCol="0" anchor="t"/>
          <a:lstStyle/>
          <a:p>
            <a:pPr marL="0" indent="0" algn="l">
              <a:lnSpc>
                <a:spcPts val="2200"/>
              </a:lnSpc>
              <a:buNone/>
            </a:pPr>
            <a:r>
              <a:rPr lang="en-US" sz="2400" dirty="0">
                <a:solidFill>
                  <a:srgbClr val="3D3838"/>
                </a:solidFill>
                <a:latin typeface="Source Sans 3" pitchFamily="34" charset="0"/>
                <a:ea typeface="Source Sans 3" pitchFamily="34" charset="-122"/>
                <a:cs typeface="Source Sans 3" pitchFamily="34" charset="-120"/>
              </a:rPr>
              <a:t>Successfully developed and validated a working prototype that meets all specified objectives. The system demonstrates superior performance compared to conventional approaches in the domain.</a:t>
            </a:r>
            <a:endParaRPr lang="en-US" sz="2400" dirty="0"/>
          </a:p>
        </p:txBody>
      </p:sp>
      <p:sp>
        <p:nvSpPr>
          <p:cNvPr id="21" name="Shape 5">
            <a:extLst>
              <a:ext uri="{FF2B5EF4-FFF2-40B4-BE49-F238E27FC236}">
                <a16:creationId xmlns:a16="http://schemas.microsoft.com/office/drawing/2014/main" id="{663F7E7D-4D29-47AC-9A15-CDB2AA1BBB02}"/>
              </a:ext>
            </a:extLst>
          </p:cNvPr>
          <p:cNvSpPr/>
          <p:nvPr/>
        </p:nvSpPr>
        <p:spPr>
          <a:xfrm>
            <a:off x="1295400" y="4216067"/>
            <a:ext cx="15163800" cy="1650563"/>
          </a:xfrm>
          <a:prstGeom prst="roundRect">
            <a:avLst>
              <a:gd name="adj" fmla="val 6648"/>
            </a:avLst>
          </a:prstGeom>
          <a:solidFill>
            <a:srgbClr val="FFFFFF"/>
          </a:solidFill>
          <a:ln w="22860">
            <a:solidFill>
              <a:srgbClr val="D8D4D4"/>
            </a:solidFill>
            <a:prstDash val="solid"/>
          </a:ln>
        </p:spPr>
      </p:sp>
      <p:sp>
        <p:nvSpPr>
          <p:cNvPr id="22" name="Shape 6">
            <a:extLst>
              <a:ext uri="{FF2B5EF4-FFF2-40B4-BE49-F238E27FC236}">
                <a16:creationId xmlns:a16="http://schemas.microsoft.com/office/drawing/2014/main" id="{6AA88BE8-9FB7-4D2B-970C-7F72A275A81B}"/>
              </a:ext>
            </a:extLst>
          </p:cNvPr>
          <p:cNvSpPr/>
          <p:nvPr/>
        </p:nvSpPr>
        <p:spPr>
          <a:xfrm>
            <a:off x="1272540" y="4216067"/>
            <a:ext cx="91440" cy="1650563"/>
          </a:xfrm>
          <a:prstGeom prst="roundRect">
            <a:avLst>
              <a:gd name="adj" fmla="val 30905"/>
            </a:avLst>
          </a:prstGeom>
          <a:solidFill>
            <a:srgbClr val="2D2E34"/>
          </a:solidFill>
          <a:ln/>
        </p:spPr>
      </p:sp>
      <p:sp>
        <p:nvSpPr>
          <p:cNvPr id="23" name="Text 7">
            <a:extLst>
              <a:ext uri="{FF2B5EF4-FFF2-40B4-BE49-F238E27FC236}">
                <a16:creationId xmlns:a16="http://schemas.microsoft.com/office/drawing/2014/main" id="{4913D625-C2E8-4A8B-9BB1-9494350C535D}"/>
              </a:ext>
            </a:extLst>
          </p:cNvPr>
          <p:cNvSpPr/>
          <p:nvPr/>
        </p:nvSpPr>
        <p:spPr>
          <a:xfrm>
            <a:off x="1575197" y="4427284"/>
            <a:ext cx="3342680" cy="267533"/>
          </a:xfrm>
          <a:prstGeom prst="rect">
            <a:avLst/>
          </a:prstGeom>
          <a:noFill/>
          <a:ln/>
        </p:spPr>
        <p:txBody>
          <a:bodyPr wrap="none" lIns="0" tIns="0" rIns="0" bIns="0" rtlCol="0" anchor="t"/>
          <a:lstStyle/>
          <a:p>
            <a:pPr marL="0" indent="0" algn="l">
              <a:lnSpc>
                <a:spcPts val="2100"/>
              </a:lnSpc>
              <a:buNone/>
            </a:pPr>
            <a:r>
              <a:rPr lang="en-US" sz="2400" b="1" dirty="0">
                <a:solidFill>
                  <a:srgbClr val="3D3838"/>
                </a:solidFill>
                <a:latin typeface="Montserrat Bold" pitchFamily="34" charset="0"/>
                <a:ea typeface="Montserrat Bold" pitchFamily="34" charset="-122"/>
                <a:cs typeface="Montserrat Bold" pitchFamily="34" charset="-120"/>
              </a:rPr>
              <a:t>Project Impact &amp; Applications</a:t>
            </a:r>
            <a:endParaRPr lang="en-US" sz="2400" dirty="0"/>
          </a:p>
        </p:txBody>
      </p:sp>
      <p:sp>
        <p:nvSpPr>
          <p:cNvPr id="24" name="Text 8">
            <a:extLst>
              <a:ext uri="{FF2B5EF4-FFF2-40B4-BE49-F238E27FC236}">
                <a16:creationId xmlns:a16="http://schemas.microsoft.com/office/drawing/2014/main" id="{0A472692-D136-428E-A013-1B366070E2B0}"/>
              </a:ext>
            </a:extLst>
          </p:cNvPr>
          <p:cNvSpPr/>
          <p:nvPr/>
        </p:nvSpPr>
        <p:spPr>
          <a:xfrm>
            <a:off x="1575197" y="4807808"/>
            <a:ext cx="12750403" cy="847606"/>
          </a:xfrm>
          <a:prstGeom prst="rect">
            <a:avLst/>
          </a:prstGeom>
          <a:noFill/>
          <a:ln/>
        </p:spPr>
        <p:txBody>
          <a:bodyPr wrap="square" lIns="0" tIns="0" rIns="0" bIns="0" rtlCol="0" anchor="t"/>
          <a:lstStyle/>
          <a:p>
            <a:pPr marL="0" indent="0" algn="just">
              <a:lnSpc>
                <a:spcPts val="2200"/>
              </a:lnSpc>
              <a:buNone/>
            </a:pPr>
            <a:r>
              <a:rPr lang="en-US" sz="2400" b="1" dirty="0">
                <a:solidFill>
                  <a:srgbClr val="3D3838"/>
                </a:solidFill>
                <a:latin typeface="Source Sans 3" pitchFamily="34" charset="0"/>
                <a:ea typeface="Source Sans 3" pitchFamily="34" charset="-122"/>
                <a:cs typeface="Source Sans 3" pitchFamily="34" charset="-120"/>
              </a:rPr>
              <a:t>Real-world applications:</a:t>
            </a:r>
            <a:r>
              <a:rPr lang="en-US" sz="2400" dirty="0">
                <a:solidFill>
                  <a:srgbClr val="3D3838"/>
                </a:solidFill>
                <a:latin typeface="Source Sans 3" pitchFamily="34" charset="0"/>
                <a:ea typeface="Source Sans 3" pitchFamily="34" charset="-122"/>
                <a:cs typeface="Source Sans 3" pitchFamily="34" charset="-120"/>
              </a:rPr>
              <a:t> This technology can be deployed in medical fields, photo shops, image enhancements, communication networks. The scalable design allows for easy adaptation across various use cases.</a:t>
            </a:r>
            <a:endParaRPr lang="en-US" sz="2400" dirty="0"/>
          </a:p>
        </p:txBody>
      </p:sp>
      <p:sp>
        <p:nvSpPr>
          <p:cNvPr id="25" name="Shape 9">
            <a:extLst>
              <a:ext uri="{FF2B5EF4-FFF2-40B4-BE49-F238E27FC236}">
                <a16:creationId xmlns:a16="http://schemas.microsoft.com/office/drawing/2014/main" id="{5B05C236-FBCD-4001-98E2-263DA05806DD}"/>
              </a:ext>
            </a:extLst>
          </p:cNvPr>
          <p:cNvSpPr/>
          <p:nvPr/>
        </p:nvSpPr>
        <p:spPr>
          <a:xfrm>
            <a:off x="1263831" y="6541044"/>
            <a:ext cx="15011400" cy="2130623"/>
          </a:xfrm>
          <a:prstGeom prst="roundRect">
            <a:avLst>
              <a:gd name="adj" fmla="val 5150"/>
            </a:avLst>
          </a:prstGeom>
          <a:solidFill>
            <a:srgbClr val="FFFFFF"/>
          </a:solidFill>
          <a:ln w="22860">
            <a:solidFill>
              <a:srgbClr val="D8D4D4"/>
            </a:solidFill>
            <a:prstDash val="solid"/>
          </a:ln>
        </p:spPr>
      </p:sp>
      <p:sp>
        <p:nvSpPr>
          <p:cNvPr id="26" name="Shape 10">
            <a:extLst>
              <a:ext uri="{FF2B5EF4-FFF2-40B4-BE49-F238E27FC236}">
                <a16:creationId xmlns:a16="http://schemas.microsoft.com/office/drawing/2014/main" id="{077319F8-D114-460D-B5CD-F668A35FA1C0}"/>
              </a:ext>
            </a:extLst>
          </p:cNvPr>
          <p:cNvSpPr/>
          <p:nvPr/>
        </p:nvSpPr>
        <p:spPr>
          <a:xfrm>
            <a:off x="1272540" y="6485724"/>
            <a:ext cx="91440" cy="2130623"/>
          </a:xfrm>
          <a:prstGeom prst="roundRect">
            <a:avLst>
              <a:gd name="adj" fmla="val 30905"/>
            </a:avLst>
          </a:prstGeom>
          <a:solidFill>
            <a:srgbClr val="2D2E34"/>
          </a:solidFill>
          <a:ln/>
        </p:spPr>
      </p:sp>
      <p:sp>
        <p:nvSpPr>
          <p:cNvPr id="27" name="Text 11">
            <a:extLst>
              <a:ext uri="{FF2B5EF4-FFF2-40B4-BE49-F238E27FC236}">
                <a16:creationId xmlns:a16="http://schemas.microsoft.com/office/drawing/2014/main" id="{11D9B2A0-270B-4874-AF28-0145FE63B177}"/>
              </a:ext>
            </a:extLst>
          </p:cNvPr>
          <p:cNvSpPr/>
          <p:nvPr/>
        </p:nvSpPr>
        <p:spPr>
          <a:xfrm>
            <a:off x="1583906" y="6657584"/>
            <a:ext cx="2866668" cy="267533"/>
          </a:xfrm>
          <a:prstGeom prst="rect">
            <a:avLst/>
          </a:prstGeom>
          <a:noFill/>
          <a:ln/>
        </p:spPr>
        <p:txBody>
          <a:bodyPr wrap="none" lIns="0" tIns="0" rIns="0" bIns="0" rtlCol="0" anchor="t"/>
          <a:lstStyle/>
          <a:p>
            <a:pPr marL="0" indent="0" algn="l">
              <a:lnSpc>
                <a:spcPts val="2100"/>
              </a:lnSpc>
              <a:buNone/>
            </a:pPr>
            <a:r>
              <a:rPr lang="en-US" sz="2000" b="1" dirty="0">
                <a:solidFill>
                  <a:srgbClr val="3D3838"/>
                </a:solidFill>
                <a:latin typeface="Montserrat Bold" pitchFamily="34" charset="0"/>
                <a:ea typeface="Montserrat Bold" pitchFamily="34" charset="-122"/>
                <a:cs typeface="Montserrat Bold" pitchFamily="34" charset="-120"/>
              </a:rPr>
              <a:t>Future Work Suggestions</a:t>
            </a:r>
            <a:endParaRPr lang="en-US" sz="2000" dirty="0"/>
          </a:p>
        </p:txBody>
      </p:sp>
      <p:sp>
        <p:nvSpPr>
          <p:cNvPr id="28" name="Text 12">
            <a:extLst>
              <a:ext uri="{FF2B5EF4-FFF2-40B4-BE49-F238E27FC236}">
                <a16:creationId xmlns:a16="http://schemas.microsoft.com/office/drawing/2014/main" id="{A7E4013C-00D4-408D-AA32-A85ED1EA970E}"/>
              </a:ext>
            </a:extLst>
          </p:cNvPr>
          <p:cNvSpPr/>
          <p:nvPr/>
        </p:nvSpPr>
        <p:spPr>
          <a:xfrm>
            <a:off x="1573578" y="7063806"/>
            <a:ext cx="7334250" cy="282535"/>
          </a:xfrm>
          <a:prstGeom prst="rect">
            <a:avLst/>
          </a:prstGeom>
          <a:noFill/>
          <a:ln/>
        </p:spPr>
        <p:txBody>
          <a:bodyPr wrap="none" lIns="0" tIns="0" rIns="0" bIns="0" rtlCol="0" anchor="t"/>
          <a:lstStyle/>
          <a:p>
            <a:pPr marL="342900" indent="-342900" algn="l">
              <a:lnSpc>
                <a:spcPts val="2200"/>
              </a:lnSpc>
              <a:buSzPct val="100000"/>
              <a:buChar char="•"/>
            </a:pPr>
            <a:r>
              <a:rPr lang="en-US" sz="2800" dirty="0">
                <a:solidFill>
                  <a:srgbClr val="3D3838"/>
                </a:solidFill>
                <a:latin typeface="Source Sans 3" pitchFamily="34" charset="0"/>
                <a:ea typeface="Source Sans 3" pitchFamily="34" charset="-122"/>
                <a:cs typeface="Source Sans 3" pitchFamily="34" charset="-120"/>
              </a:rPr>
              <a:t>Integration with AI/ML algorithms for enhanced intelligence</a:t>
            </a:r>
            <a:endParaRPr lang="en-US" sz="2800" dirty="0"/>
          </a:p>
        </p:txBody>
      </p:sp>
      <p:sp>
        <p:nvSpPr>
          <p:cNvPr id="29" name="Text 13">
            <a:extLst>
              <a:ext uri="{FF2B5EF4-FFF2-40B4-BE49-F238E27FC236}">
                <a16:creationId xmlns:a16="http://schemas.microsoft.com/office/drawing/2014/main" id="{A9916F70-6AD2-4A0E-BAB1-B1128E6BA5E8}"/>
              </a:ext>
            </a:extLst>
          </p:cNvPr>
          <p:cNvSpPr/>
          <p:nvPr/>
        </p:nvSpPr>
        <p:spPr>
          <a:xfrm>
            <a:off x="1562134" y="7517929"/>
            <a:ext cx="7334250" cy="282535"/>
          </a:xfrm>
          <a:prstGeom prst="rect">
            <a:avLst/>
          </a:prstGeom>
          <a:noFill/>
          <a:ln/>
        </p:spPr>
        <p:txBody>
          <a:bodyPr wrap="none" lIns="0" tIns="0" rIns="0" bIns="0" rtlCol="0" anchor="t"/>
          <a:lstStyle/>
          <a:p>
            <a:pPr marL="342900" indent="-342900" algn="l">
              <a:lnSpc>
                <a:spcPts val="2200"/>
              </a:lnSpc>
              <a:buSzPct val="100000"/>
              <a:buChar char="•"/>
            </a:pPr>
            <a:r>
              <a:rPr lang="en-US" sz="2800" dirty="0">
                <a:solidFill>
                  <a:srgbClr val="3D3838"/>
                </a:solidFill>
                <a:latin typeface="Source Sans 3" pitchFamily="34" charset="0"/>
                <a:ea typeface="Source Sans 3" pitchFamily="34" charset="-122"/>
                <a:cs typeface="Source Sans 3" pitchFamily="34" charset="-120"/>
              </a:rPr>
              <a:t>Miniaturization for portable applications</a:t>
            </a:r>
            <a:endParaRPr lang="en-US" sz="2800" dirty="0"/>
          </a:p>
        </p:txBody>
      </p:sp>
      <p:sp>
        <p:nvSpPr>
          <p:cNvPr id="30" name="Text 15">
            <a:extLst>
              <a:ext uri="{FF2B5EF4-FFF2-40B4-BE49-F238E27FC236}">
                <a16:creationId xmlns:a16="http://schemas.microsoft.com/office/drawing/2014/main" id="{E27CE1B5-E8BB-4CBF-B6DB-70CC8F086BEE}"/>
              </a:ext>
            </a:extLst>
          </p:cNvPr>
          <p:cNvSpPr/>
          <p:nvPr/>
        </p:nvSpPr>
        <p:spPr>
          <a:xfrm>
            <a:off x="1549071" y="8009193"/>
            <a:ext cx="7334250" cy="282535"/>
          </a:xfrm>
          <a:prstGeom prst="rect">
            <a:avLst/>
          </a:prstGeom>
          <a:noFill/>
          <a:ln/>
        </p:spPr>
        <p:txBody>
          <a:bodyPr wrap="none" lIns="0" tIns="0" rIns="0" bIns="0" rtlCol="0" anchor="t"/>
          <a:lstStyle/>
          <a:p>
            <a:pPr marL="342900" indent="-342900" algn="l">
              <a:lnSpc>
                <a:spcPts val="2200"/>
              </a:lnSpc>
              <a:buSzPct val="100000"/>
              <a:buChar char="•"/>
            </a:pPr>
            <a:r>
              <a:rPr lang="en-US" sz="2800" dirty="0">
                <a:solidFill>
                  <a:srgbClr val="3D3838"/>
                </a:solidFill>
                <a:latin typeface="Source Sans 3" pitchFamily="34" charset="0"/>
                <a:ea typeface="Source Sans 3" pitchFamily="34" charset="-122"/>
                <a:cs typeface="Source Sans 3" pitchFamily="34" charset="-120"/>
              </a:rPr>
              <a:t>Cost optimization for commercial viability</a:t>
            </a:r>
            <a:endParaRPr lang="en-US" sz="2800" dirty="0"/>
          </a:p>
        </p:txBody>
      </p:sp>
      <p:sp>
        <p:nvSpPr>
          <p:cNvPr id="31" name="Slide Number Placeholder 4">
            <a:extLst>
              <a:ext uri="{FF2B5EF4-FFF2-40B4-BE49-F238E27FC236}">
                <a16:creationId xmlns:a16="http://schemas.microsoft.com/office/drawing/2014/main" id="{29EB0C3E-3268-479D-AAB4-1E1CD92E88B9}"/>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l" defTabSz="457200" rtl="0" eaLnBrk="1" latinLnBrk="0" hangingPunct="1">
              <a:defRPr sz="1500" kern="1200">
                <a:solidFill>
                  <a:schemeClr val="tx1">
                    <a:lumMod val="95000"/>
                    <a:lumOff val="5000"/>
                  </a:schemeClr>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6F15528-21DE-4FAA-801E-634DDDAF4B2B}" type="slidenum">
              <a:rPr lang="en-US" smtClean="0"/>
              <a:pPr/>
              <a:t>20</a:t>
            </a:fld>
            <a:endParaRPr lang="en-US"/>
          </a:p>
        </p:txBody>
      </p:sp>
      <p:pic>
        <p:nvPicPr>
          <p:cNvPr id="32" name="Picture 31">
            <a:extLst>
              <a:ext uri="{FF2B5EF4-FFF2-40B4-BE49-F238E27FC236}">
                <a16:creationId xmlns:a16="http://schemas.microsoft.com/office/drawing/2014/main" id="{22E90884-63B0-4E44-82C0-6AC450D609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243189" y="174336"/>
            <a:ext cx="740449" cy="770067"/>
          </a:xfrm>
          <a:prstGeom prst="rect">
            <a:avLst/>
          </a:prstGeom>
        </p:spPr>
      </p:pic>
    </p:spTree>
    <p:extLst>
      <p:ext uri="{BB962C8B-B14F-4D97-AF65-F5344CB8AC3E}">
        <p14:creationId xmlns:p14="http://schemas.microsoft.com/office/powerpoint/2010/main" val="26580813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05CE74-0EF3-41E2-95B3-212F7B38ADFA}"/>
              </a:ext>
            </a:extLst>
          </p:cNvPr>
          <p:cNvSpPr>
            <a:spLocks noGrp="1"/>
          </p:cNvSpPr>
          <p:nvPr>
            <p:ph type="sldNum" sz="quarter" idx="12"/>
          </p:nvPr>
        </p:nvSpPr>
        <p:spPr/>
        <p:txBody>
          <a:bodyPr/>
          <a:lstStyle/>
          <a:p>
            <a:fld id="{B6F15528-21DE-4FAA-801E-634DDDAF4B2B}" type="slidenum">
              <a:rPr lang="en-US" smtClean="0"/>
              <a:pPr/>
              <a:t>21</a:t>
            </a:fld>
            <a:endParaRPr lang="en-US" dirty="0"/>
          </a:p>
        </p:txBody>
      </p:sp>
      <p:sp>
        <p:nvSpPr>
          <p:cNvPr id="3" name="AutoShape 2">
            <a:extLst>
              <a:ext uri="{FF2B5EF4-FFF2-40B4-BE49-F238E27FC236}">
                <a16:creationId xmlns:a16="http://schemas.microsoft.com/office/drawing/2014/main" id="{9BF0DCA4-C10C-4891-9604-7770C50D9BE5}"/>
              </a:ext>
            </a:extLst>
          </p:cNvPr>
          <p:cNvSpPr/>
          <p:nvPr/>
        </p:nvSpPr>
        <p:spPr>
          <a:xfrm>
            <a:off x="3953337" y="9258300"/>
            <a:ext cx="13305963" cy="0"/>
          </a:xfrm>
          <a:prstGeom prst="line">
            <a:avLst/>
          </a:prstGeom>
          <a:ln w="19050" cap="flat">
            <a:solidFill>
              <a:srgbClr val="48276D"/>
            </a:solidFill>
            <a:prstDash val="solid"/>
            <a:headEnd type="none" w="sm" len="sm"/>
            <a:tailEnd type="none" w="sm" len="sm"/>
          </a:ln>
        </p:spPr>
      </p:sp>
      <p:sp>
        <p:nvSpPr>
          <p:cNvPr id="4" name="Freeform 3">
            <a:extLst>
              <a:ext uri="{FF2B5EF4-FFF2-40B4-BE49-F238E27FC236}">
                <a16:creationId xmlns:a16="http://schemas.microsoft.com/office/drawing/2014/main" id="{6BCC0DA0-5A4E-4084-8276-FBCEAEE158B7}"/>
              </a:ext>
            </a:extLst>
          </p:cNvPr>
          <p:cNvSpPr/>
          <p:nvPr/>
        </p:nvSpPr>
        <p:spPr>
          <a:xfrm>
            <a:off x="15421891" y="7635385"/>
            <a:ext cx="4190916" cy="4403878"/>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35000"/>
              <a:extLst>
                <a:ext uri="{96DAC541-7B7A-43D3-8B79-37D633B846F1}">
                  <asvg:svgBlip xmlns:asvg="http://schemas.microsoft.com/office/drawing/2016/SVG/main" r:embed="rId3"/>
                </a:ext>
              </a:extLst>
            </a:blip>
            <a:stretch>
              <a:fillRect/>
            </a:stretch>
          </a:blipFill>
        </p:spPr>
      </p:sp>
      <p:sp>
        <p:nvSpPr>
          <p:cNvPr id="5" name="AutoShape 4">
            <a:extLst>
              <a:ext uri="{FF2B5EF4-FFF2-40B4-BE49-F238E27FC236}">
                <a16:creationId xmlns:a16="http://schemas.microsoft.com/office/drawing/2014/main" id="{518107EA-4511-4413-A539-20917F51F7D2}"/>
              </a:ext>
            </a:extLst>
          </p:cNvPr>
          <p:cNvSpPr/>
          <p:nvPr/>
        </p:nvSpPr>
        <p:spPr>
          <a:xfrm flipV="1">
            <a:off x="728464" y="1047750"/>
            <a:ext cx="16530836" cy="0"/>
          </a:xfrm>
          <a:prstGeom prst="line">
            <a:avLst/>
          </a:prstGeom>
          <a:ln w="19050" cap="flat">
            <a:solidFill>
              <a:srgbClr val="48276D"/>
            </a:solidFill>
            <a:prstDash val="solid"/>
            <a:headEnd type="none" w="sm" len="sm"/>
            <a:tailEnd type="none" w="sm" len="sm"/>
          </a:ln>
        </p:spPr>
      </p:sp>
      <p:grpSp>
        <p:nvGrpSpPr>
          <p:cNvPr id="6" name="Group 6">
            <a:extLst>
              <a:ext uri="{FF2B5EF4-FFF2-40B4-BE49-F238E27FC236}">
                <a16:creationId xmlns:a16="http://schemas.microsoft.com/office/drawing/2014/main" id="{0C2DA752-6659-4F99-B926-6D56BAD91E1A}"/>
              </a:ext>
            </a:extLst>
          </p:cNvPr>
          <p:cNvGrpSpPr/>
          <p:nvPr/>
        </p:nvGrpSpPr>
        <p:grpSpPr>
          <a:xfrm>
            <a:off x="17223863" y="2431310"/>
            <a:ext cx="1064138" cy="6126166"/>
            <a:chOff x="0" y="0"/>
            <a:chExt cx="275176" cy="1507565"/>
          </a:xfrm>
        </p:grpSpPr>
        <p:sp>
          <p:nvSpPr>
            <p:cNvPr id="7" name="Freeform 7">
              <a:extLst>
                <a:ext uri="{FF2B5EF4-FFF2-40B4-BE49-F238E27FC236}">
                  <a16:creationId xmlns:a16="http://schemas.microsoft.com/office/drawing/2014/main" id="{1F91BBC4-35D4-4418-892F-ACF568C65B77}"/>
                </a:ext>
              </a:extLst>
            </p:cNvPr>
            <p:cNvSpPr/>
            <p:nvPr/>
          </p:nvSpPr>
          <p:spPr>
            <a:xfrm>
              <a:off x="0" y="0"/>
              <a:ext cx="275176" cy="1507565"/>
            </a:xfrm>
            <a:custGeom>
              <a:avLst/>
              <a:gdLst/>
              <a:ahLst/>
              <a:cxnLst/>
              <a:rect l="l" t="t" r="r" b="b"/>
              <a:pathLst>
                <a:path w="275176" h="1507565">
                  <a:moveTo>
                    <a:pt x="0" y="0"/>
                  </a:moveTo>
                  <a:lnTo>
                    <a:pt x="275176" y="0"/>
                  </a:lnTo>
                  <a:lnTo>
                    <a:pt x="275176" y="1507565"/>
                  </a:lnTo>
                  <a:lnTo>
                    <a:pt x="0" y="1507565"/>
                  </a:lnTo>
                  <a:close/>
                </a:path>
              </a:pathLst>
            </a:custGeom>
            <a:gradFill rotWithShape="1">
              <a:gsLst>
                <a:gs pos="0">
                  <a:srgbClr val="9374B3">
                    <a:alpha val="100000"/>
                  </a:srgbClr>
                </a:gs>
                <a:gs pos="50000">
                  <a:srgbClr val="7161A6">
                    <a:alpha val="100000"/>
                  </a:srgbClr>
                </a:gs>
                <a:gs pos="100000">
                  <a:srgbClr val="4A4D9C">
                    <a:alpha val="100000"/>
                  </a:srgbClr>
                </a:gs>
              </a:gsLst>
              <a:lin ang="0"/>
            </a:gradFill>
          </p:spPr>
        </p:sp>
        <p:sp>
          <p:nvSpPr>
            <p:cNvPr id="8" name="TextBox 8">
              <a:extLst>
                <a:ext uri="{FF2B5EF4-FFF2-40B4-BE49-F238E27FC236}">
                  <a16:creationId xmlns:a16="http://schemas.microsoft.com/office/drawing/2014/main" id="{21A78D95-95A6-44C8-8760-07DDC750C404}"/>
                </a:ext>
              </a:extLst>
            </p:cNvPr>
            <p:cNvSpPr txBox="1"/>
            <p:nvPr/>
          </p:nvSpPr>
          <p:spPr>
            <a:xfrm>
              <a:off x="0" y="-38100"/>
              <a:ext cx="275176" cy="1545665"/>
            </a:xfrm>
            <a:prstGeom prst="rect">
              <a:avLst/>
            </a:prstGeom>
          </p:spPr>
          <p:txBody>
            <a:bodyPr lIns="50800" tIns="50800" rIns="50800" bIns="50800" rtlCol="0" anchor="ctr"/>
            <a:lstStyle/>
            <a:p>
              <a:pPr algn="ctr">
                <a:lnSpc>
                  <a:spcPts val="2659"/>
                </a:lnSpc>
                <a:spcBef>
                  <a:spcPct val="0"/>
                </a:spcBef>
              </a:pPr>
              <a:endParaRPr dirty="0"/>
            </a:p>
          </p:txBody>
        </p:sp>
      </p:grpSp>
      <p:sp>
        <p:nvSpPr>
          <p:cNvPr id="9" name="Freeform 9">
            <a:extLst>
              <a:ext uri="{FF2B5EF4-FFF2-40B4-BE49-F238E27FC236}">
                <a16:creationId xmlns:a16="http://schemas.microsoft.com/office/drawing/2014/main" id="{3865D21B-2E48-4363-9495-4D630E31E1D0}"/>
              </a:ext>
            </a:extLst>
          </p:cNvPr>
          <p:cNvSpPr/>
          <p:nvPr/>
        </p:nvSpPr>
        <p:spPr>
          <a:xfrm rot="-5400000">
            <a:off x="17434592" y="3913082"/>
            <a:ext cx="761125" cy="181080"/>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AutoShape 10">
            <a:extLst>
              <a:ext uri="{FF2B5EF4-FFF2-40B4-BE49-F238E27FC236}">
                <a16:creationId xmlns:a16="http://schemas.microsoft.com/office/drawing/2014/main" id="{4E4A9916-3E35-40C3-999D-B92F370D303A}"/>
              </a:ext>
            </a:extLst>
          </p:cNvPr>
          <p:cNvSpPr/>
          <p:nvPr/>
        </p:nvSpPr>
        <p:spPr>
          <a:xfrm flipV="1">
            <a:off x="17807273" y="4860438"/>
            <a:ext cx="0" cy="1118034"/>
          </a:xfrm>
          <a:prstGeom prst="line">
            <a:avLst/>
          </a:prstGeom>
          <a:ln w="19050" cap="flat">
            <a:solidFill>
              <a:srgbClr val="FFFFFF"/>
            </a:solidFill>
            <a:prstDash val="solid"/>
            <a:headEnd type="none" w="sm" len="sm"/>
            <a:tailEnd type="none" w="sm" len="sm"/>
          </a:ln>
        </p:spPr>
      </p:sp>
      <p:sp>
        <p:nvSpPr>
          <p:cNvPr id="11" name="Freeform 11">
            <a:extLst>
              <a:ext uri="{FF2B5EF4-FFF2-40B4-BE49-F238E27FC236}">
                <a16:creationId xmlns:a16="http://schemas.microsoft.com/office/drawing/2014/main" id="{9308A607-96D5-44FB-9F72-5C67DE38D246}"/>
              </a:ext>
            </a:extLst>
          </p:cNvPr>
          <p:cNvSpPr/>
          <p:nvPr/>
        </p:nvSpPr>
        <p:spPr>
          <a:xfrm rot="-5400000">
            <a:off x="17434592" y="6835946"/>
            <a:ext cx="761125" cy="181080"/>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TextBox 13">
            <a:extLst>
              <a:ext uri="{FF2B5EF4-FFF2-40B4-BE49-F238E27FC236}">
                <a16:creationId xmlns:a16="http://schemas.microsoft.com/office/drawing/2014/main" id="{ADC30592-BF4F-48CF-A3FD-1E40EEDDD2A3}"/>
              </a:ext>
            </a:extLst>
          </p:cNvPr>
          <p:cNvSpPr txBox="1"/>
          <p:nvPr/>
        </p:nvSpPr>
        <p:spPr>
          <a:xfrm>
            <a:off x="1062476" y="566621"/>
            <a:ext cx="2266088" cy="346249"/>
          </a:xfrm>
          <a:prstGeom prst="rect">
            <a:avLst/>
          </a:prstGeom>
        </p:spPr>
        <p:txBody>
          <a:bodyPr wrap="square" lIns="0" tIns="0" rIns="0" bIns="0" rtlCol="0" anchor="t">
            <a:spAutoFit/>
          </a:bodyPr>
          <a:lstStyle/>
          <a:p>
            <a:pPr algn="l">
              <a:lnSpc>
                <a:spcPts val="2939"/>
              </a:lnSpc>
            </a:pPr>
            <a:r>
              <a:rPr lang="en-US" sz="2099" dirty="0">
                <a:solidFill>
                  <a:srgbClr val="69498D"/>
                </a:solidFill>
                <a:latin typeface="Roboto"/>
                <a:ea typeface="Roboto"/>
                <a:cs typeface="Roboto"/>
                <a:sym typeface="Roboto"/>
              </a:rPr>
              <a:t>R20 Regulations</a:t>
            </a:r>
          </a:p>
        </p:txBody>
      </p:sp>
      <p:sp>
        <p:nvSpPr>
          <p:cNvPr id="13" name="TextBox 14">
            <a:extLst>
              <a:ext uri="{FF2B5EF4-FFF2-40B4-BE49-F238E27FC236}">
                <a16:creationId xmlns:a16="http://schemas.microsoft.com/office/drawing/2014/main" id="{A621A5AA-2BFF-45D1-8F15-3AB439FE4D28}"/>
              </a:ext>
            </a:extLst>
          </p:cNvPr>
          <p:cNvSpPr txBox="1"/>
          <p:nvPr/>
        </p:nvSpPr>
        <p:spPr>
          <a:xfrm>
            <a:off x="8099528" y="636814"/>
            <a:ext cx="2063584" cy="346249"/>
          </a:xfrm>
          <a:prstGeom prst="rect">
            <a:avLst/>
          </a:prstGeom>
        </p:spPr>
        <p:txBody>
          <a:bodyPr wrap="square" lIns="0" tIns="0" rIns="0" bIns="0" rtlCol="0" anchor="t">
            <a:spAutoFit/>
          </a:bodyPr>
          <a:lstStyle/>
          <a:p>
            <a:pPr algn="ctr">
              <a:lnSpc>
                <a:spcPts val="2939"/>
              </a:lnSpc>
            </a:pPr>
            <a:r>
              <a:rPr lang="en-US" sz="2099" dirty="0">
                <a:solidFill>
                  <a:srgbClr val="69498D"/>
                </a:solidFill>
                <a:latin typeface="Roboto"/>
                <a:ea typeface="Roboto"/>
                <a:cs typeface="Roboto"/>
                <a:sym typeface="Roboto"/>
              </a:rPr>
              <a:t>IV B. Tech ECE</a:t>
            </a:r>
          </a:p>
        </p:txBody>
      </p:sp>
      <p:sp>
        <p:nvSpPr>
          <p:cNvPr id="14" name="TextBox 15">
            <a:extLst>
              <a:ext uri="{FF2B5EF4-FFF2-40B4-BE49-F238E27FC236}">
                <a16:creationId xmlns:a16="http://schemas.microsoft.com/office/drawing/2014/main" id="{4622FE2C-4FC3-4BA3-B30E-683F739913FC}"/>
              </a:ext>
            </a:extLst>
          </p:cNvPr>
          <p:cNvSpPr txBox="1"/>
          <p:nvPr/>
        </p:nvSpPr>
        <p:spPr>
          <a:xfrm>
            <a:off x="13078886" y="649680"/>
            <a:ext cx="3975505" cy="718145"/>
          </a:xfrm>
          <a:prstGeom prst="rect">
            <a:avLst/>
          </a:prstGeom>
        </p:spPr>
        <p:txBody>
          <a:bodyPr wrap="square" lIns="0" tIns="0" rIns="0" bIns="0" rtlCol="0" anchor="t">
            <a:spAutoFit/>
          </a:bodyPr>
          <a:lstStyle/>
          <a:p>
            <a:pPr algn="l">
              <a:lnSpc>
                <a:spcPts val="2939"/>
              </a:lnSpc>
            </a:pPr>
            <a:r>
              <a:rPr lang="en-US" sz="2099" dirty="0">
                <a:solidFill>
                  <a:srgbClr val="69498D"/>
                </a:solidFill>
                <a:latin typeface="Roboto"/>
                <a:ea typeface="Roboto"/>
                <a:cs typeface="Roboto"/>
                <a:sym typeface="Roboto"/>
              </a:rPr>
              <a:t>Ac. Year : 2025-26/ Semester -II</a:t>
            </a:r>
          </a:p>
          <a:p>
            <a:pPr algn="l">
              <a:lnSpc>
                <a:spcPts val="2939"/>
              </a:lnSpc>
            </a:pPr>
            <a:endParaRPr lang="en-US" sz="2099" dirty="0">
              <a:solidFill>
                <a:srgbClr val="69498D"/>
              </a:solidFill>
              <a:latin typeface="Roboto"/>
              <a:ea typeface="Roboto"/>
              <a:cs typeface="Roboto"/>
              <a:sym typeface="Roboto"/>
            </a:endParaRPr>
          </a:p>
        </p:txBody>
      </p:sp>
      <p:sp>
        <p:nvSpPr>
          <p:cNvPr id="15" name="TextBox 16">
            <a:extLst>
              <a:ext uri="{FF2B5EF4-FFF2-40B4-BE49-F238E27FC236}">
                <a16:creationId xmlns:a16="http://schemas.microsoft.com/office/drawing/2014/main" id="{24DC5026-1953-4597-9E32-9EB599C577D0}"/>
              </a:ext>
            </a:extLst>
          </p:cNvPr>
          <p:cNvSpPr txBox="1"/>
          <p:nvPr/>
        </p:nvSpPr>
        <p:spPr>
          <a:xfrm>
            <a:off x="1501374" y="9027283"/>
            <a:ext cx="3975505" cy="346249"/>
          </a:xfrm>
          <a:prstGeom prst="rect">
            <a:avLst/>
          </a:prstGeom>
        </p:spPr>
        <p:txBody>
          <a:bodyPr wrap="square" lIns="0" tIns="0" rIns="0" bIns="0" rtlCol="0" anchor="t">
            <a:spAutoFit/>
          </a:bodyPr>
          <a:lstStyle/>
          <a:p>
            <a:pPr>
              <a:lnSpc>
                <a:spcPts val="2939"/>
              </a:lnSpc>
            </a:pPr>
            <a:r>
              <a:rPr lang="en-US" sz="2099" dirty="0">
                <a:solidFill>
                  <a:srgbClr val="69498D"/>
                </a:solidFill>
                <a:latin typeface="Roboto"/>
                <a:ea typeface="Roboto"/>
                <a:cs typeface="Roboto"/>
                <a:sym typeface="Roboto"/>
              </a:rPr>
              <a:t>Final Review</a:t>
            </a:r>
          </a:p>
        </p:txBody>
      </p:sp>
      <p:sp>
        <p:nvSpPr>
          <p:cNvPr id="16" name="Text 0">
            <a:extLst>
              <a:ext uri="{FF2B5EF4-FFF2-40B4-BE49-F238E27FC236}">
                <a16:creationId xmlns:a16="http://schemas.microsoft.com/office/drawing/2014/main" id="{24AA6313-F617-4AEC-A913-3364E8A858C5}"/>
              </a:ext>
            </a:extLst>
          </p:cNvPr>
          <p:cNvSpPr/>
          <p:nvPr/>
        </p:nvSpPr>
        <p:spPr>
          <a:xfrm>
            <a:off x="1216198" y="1521827"/>
            <a:ext cx="4360809" cy="572785"/>
          </a:xfrm>
          <a:prstGeom prst="rect">
            <a:avLst/>
          </a:prstGeom>
          <a:noFill/>
          <a:ln/>
        </p:spPr>
        <p:txBody>
          <a:bodyPr wrap="none" lIns="0" tIns="0" rIns="0" bIns="0" rtlCol="0" anchor="t"/>
          <a:lstStyle/>
          <a:p>
            <a:pPr marL="0" indent="0" algn="l">
              <a:lnSpc>
                <a:spcPts val="4200"/>
              </a:lnSpc>
              <a:buNone/>
            </a:pPr>
            <a:r>
              <a:rPr lang="en-US" sz="3500" b="1" dirty="0">
                <a:solidFill>
                  <a:srgbClr val="000000"/>
                </a:solidFill>
                <a:latin typeface="Montserrat Bold" pitchFamily="34" charset="0"/>
              </a:rPr>
              <a:t>References</a:t>
            </a:r>
            <a:endParaRPr lang="en-US" sz="3500" dirty="0"/>
          </a:p>
        </p:txBody>
      </p:sp>
      <p:pic>
        <p:nvPicPr>
          <p:cNvPr id="17" name="Picture 16">
            <a:extLst>
              <a:ext uri="{FF2B5EF4-FFF2-40B4-BE49-F238E27FC236}">
                <a16:creationId xmlns:a16="http://schemas.microsoft.com/office/drawing/2014/main" id="{F1216C9E-04C7-4832-B312-8AD78319C89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191171" y="120236"/>
            <a:ext cx="792468" cy="824167"/>
          </a:xfrm>
          <a:prstGeom prst="rect">
            <a:avLst/>
          </a:prstGeom>
        </p:spPr>
      </p:pic>
      <p:sp>
        <p:nvSpPr>
          <p:cNvPr id="19" name="Rectangle 18">
            <a:extLst>
              <a:ext uri="{FF2B5EF4-FFF2-40B4-BE49-F238E27FC236}">
                <a16:creationId xmlns:a16="http://schemas.microsoft.com/office/drawing/2014/main" id="{D4DAB1A0-AA78-4ADB-9124-23ED1CE28540}"/>
              </a:ext>
            </a:extLst>
          </p:cNvPr>
          <p:cNvSpPr/>
          <p:nvPr/>
        </p:nvSpPr>
        <p:spPr>
          <a:xfrm>
            <a:off x="1446494" y="1968415"/>
            <a:ext cx="14427200" cy="8876469"/>
          </a:xfrm>
          <a:prstGeom prst="rect">
            <a:avLst/>
          </a:prstGeom>
        </p:spPr>
        <p:txBody>
          <a:bodyPr wrap="square">
            <a:spAutoFit/>
          </a:bodyPr>
          <a:lstStyle/>
          <a:p>
            <a:pPr marL="517525" lvl="0" indent="-517525" algn="just">
              <a:lnSpc>
                <a:spcPct val="150000"/>
              </a:lnSpc>
              <a:buSzPct val="100000"/>
            </a:pPr>
            <a:r>
              <a:rPr lang="en-US" sz="2800" dirty="0">
                <a:solidFill>
                  <a:prstClr val="black"/>
                </a:solidFill>
                <a:latin typeface="Source Sans 3" panose="020B0604020202020204" charset="0"/>
                <a:cs typeface="Source Sans 3" panose="020B0604020202020204" charset="0"/>
              </a:rPr>
              <a:t>[1] Y. Chang, C. Jung, P. </a:t>
            </a:r>
            <a:r>
              <a:rPr lang="en-US" sz="2800" dirty="0" err="1">
                <a:solidFill>
                  <a:prstClr val="black"/>
                </a:solidFill>
                <a:latin typeface="Source Sans 3" panose="020B0604020202020204" charset="0"/>
                <a:cs typeface="Source Sans 3" panose="020B0604020202020204" charset="0"/>
              </a:rPr>
              <a:t>Ke</a:t>
            </a:r>
            <a:r>
              <a:rPr lang="en-US" sz="2800" dirty="0">
                <a:solidFill>
                  <a:prstClr val="black"/>
                </a:solidFill>
                <a:latin typeface="Source Sans 3" panose="020B0604020202020204" charset="0"/>
                <a:cs typeface="Source Sans 3" panose="020B0604020202020204" charset="0"/>
              </a:rPr>
              <a:t>, H. Song, and J. Hwang, “Automatic Contrast-Limited Adaptive Histogram Equalization With Dual Gamma Correction,” IEEE Access, vol. 6, pp. 11782–11792, 2018.</a:t>
            </a:r>
          </a:p>
          <a:p>
            <a:pPr marL="517525" indent="-517525" algn="just">
              <a:lnSpc>
                <a:spcPct val="150000"/>
              </a:lnSpc>
              <a:buSzPct val="100000"/>
            </a:pPr>
            <a:r>
              <a:rPr lang="en-US" sz="2800" dirty="0">
                <a:latin typeface="Source Sans 3" panose="020B0604020202020204" charset="0"/>
                <a:cs typeface="Source Sans 3" panose="020B0604020202020204" charset="0"/>
              </a:rPr>
              <a:t>[2] Wang H, Cao J, Huang J. Adaptive Dual Aggregation Network with Normalizing Flows for Low-Light Image Enhancement. Entropy (Basel). 2024 Feb 22;26(3):184. </a:t>
            </a:r>
            <a:r>
              <a:rPr lang="en-US" sz="2800" dirty="0" err="1">
                <a:latin typeface="Source Sans 3" panose="020B0604020202020204" charset="0"/>
                <a:cs typeface="Source Sans 3" panose="020B0604020202020204" charset="0"/>
              </a:rPr>
              <a:t>doi</a:t>
            </a:r>
            <a:r>
              <a:rPr lang="en-US" sz="2800" dirty="0">
                <a:latin typeface="Source Sans 3" panose="020B0604020202020204" charset="0"/>
                <a:cs typeface="Source Sans 3" panose="020B0604020202020204" charset="0"/>
              </a:rPr>
              <a:t>: 10.3390/e26030184. PMID: 38539696; PMCID: PMC10969086.</a:t>
            </a:r>
          </a:p>
          <a:p>
            <a:pPr marL="457200" lvl="0" indent="-457200" algn="just">
              <a:lnSpc>
                <a:spcPct val="150000"/>
              </a:lnSpc>
              <a:buSzPct val="100000"/>
            </a:pPr>
            <a:r>
              <a:rPr lang="en-US" sz="2800" dirty="0">
                <a:solidFill>
                  <a:prstClr val="black"/>
                </a:solidFill>
                <a:latin typeface="Source Sans 3" panose="020B0604020202020204" charset="0"/>
                <a:cs typeface="Source Sans 3" panose="020B0604020202020204" charset="0"/>
              </a:rPr>
              <a:t>[3] Jiang, S.; Shi, Y.; Zhang, Y.; Zhang, Y. An Improved </a:t>
            </a:r>
            <a:r>
              <a:rPr lang="en-US" sz="2800" dirty="0" err="1">
                <a:solidFill>
                  <a:prstClr val="black"/>
                </a:solidFill>
                <a:latin typeface="Source Sans 3" panose="020B0604020202020204" charset="0"/>
                <a:cs typeface="Source Sans 3" panose="020B0604020202020204" charset="0"/>
              </a:rPr>
              <a:t>Retinex</a:t>
            </a:r>
            <a:r>
              <a:rPr lang="en-US" sz="2800" dirty="0">
                <a:solidFill>
                  <a:prstClr val="black"/>
                </a:solidFill>
                <a:latin typeface="Source Sans 3" panose="020B0604020202020204" charset="0"/>
                <a:cs typeface="Source Sans 3" panose="020B0604020202020204" charset="0"/>
              </a:rPr>
              <a:t>-Based Approach Based on Attention Mechanisms for Low-Light Image Enhancement. Electronics 2024, 13, 3645. </a:t>
            </a:r>
          </a:p>
          <a:p>
            <a:pPr marL="517525" lvl="0" indent="-517525" algn="just">
              <a:lnSpc>
                <a:spcPct val="150000"/>
              </a:lnSpc>
              <a:buSzPct val="100000"/>
            </a:pPr>
            <a:r>
              <a:rPr lang="en-US" sz="2800" dirty="0">
                <a:solidFill>
                  <a:prstClr val="black"/>
                </a:solidFill>
                <a:latin typeface="Source Sans 3" panose="020B0604020202020204" charset="0"/>
                <a:cs typeface="Source Sans 3" panose="020B0604020202020204" charset="0"/>
              </a:rPr>
              <a:t>[4]</a:t>
            </a:r>
            <a:r>
              <a:rPr lang="en-US" sz="2800" dirty="0">
                <a:latin typeface="Source Sans 3" panose="020B0604020202020204" charset="0"/>
                <a:cs typeface="Source Sans 3" panose="020B0604020202020204" charset="0"/>
              </a:rPr>
              <a:t> B. -Y. Zhang, Q. -C. Zhang and W. -Y. Zhang, "Non-Uniform Low-Light Face Image Enhancement Based on Dark Channel Prior and Image Uniform Posterior," in IEEE Access, vol. 12, pp. 85724-85734, 2024, </a:t>
            </a:r>
            <a:r>
              <a:rPr lang="en-US" sz="2800" dirty="0" err="1">
                <a:latin typeface="Source Sans 3" panose="020B0604020202020204" charset="0"/>
                <a:cs typeface="Source Sans 3" panose="020B0604020202020204" charset="0"/>
              </a:rPr>
              <a:t>doi</a:t>
            </a:r>
            <a:r>
              <a:rPr lang="en-US" sz="2800" dirty="0">
                <a:latin typeface="Source Sans 3" panose="020B0604020202020204" charset="0"/>
                <a:cs typeface="Source Sans 3" panose="020B0604020202020204" charset="0"/>
              </a:rPr>
              <a:t>: 10.1109/ACCESS.2024.3416130.</a:t>
            </a:r>
            <a:endParaRPr lang="en-US" sz="2800" dirty="0">
              <a:solidFill>
                <a:prstClr val="black"/>
              </a:solidFill>
              <a:latin typeface="Source Sans 3" panose="020B0604020202020204" charset="0"/>
              <a:cs typeface="Source Sans 3" panose="020B0604020202020204" charset="0"/>
            </a:endParaRPr>
          </a:p>
          <a:p>
            <a:pPr marL="342900" indent="-342900" algn="just">
              <a:lnSpc>
                <a:spcPct val="150000"/>
              </a:lnSpc>
              <a:buSzPct val="100000"/>
              <a:buFont typeface="Wingdings" panose="05000000000000000000" pitchFamily="2" charset="2"/>
              <a:buChar char="Ø"/>
            </a:pPr>
            <a:endParaRPr lang="en-US" sz="2800" dirty="0">
              <a:latin typeface="Source Sans 3" panose="020B0604020202020204" charset="0"/>
              <a:cs typeface="Source Sans 3" panose="020B0604020202020204" charset="0"/>
            </a:endParaRPr>
          </a:p>
          <a:p>
            <a:pPr marL="342900" lvl="0" indent="-342900" algn="just">
              <a:lnSpc>
                <a:spcPct val="150000"/>
              </a:lnSpc>
              <a:buSzPct val="100000"/>
              <a:buFont typeface="Wingdings" panose="05000000000000000000" pitchFamily="2" charset="2"/>
              <a:buChar char="Ø"/>
            </a:pPr>
            <a:endParaRPr lang="en-US" sz="2000" dirty="0">
              <a:solidFill>
                <a:prstClr val="black"/>
              </a:solidFill>
              <a:latin typeface="Source Sans 3" panose="020B0604020202020204" charset="0"/>
              <a:cs typeface="Source Sans 3" panose="020B0604020202020204" charset="0"/>
            </a:endParaRPr>
          </a:p>
          <a:p>
            <a:pPr marL="342900" lvl="0" indent="-342900" algn="just">
              <a:lnSpc>
                <a:spcPct val="150000"/>
              </a:lnSpc>
              <a:buSzPct val="100000"/>
              <a:buFont typeface="Wingdings" panose="05000000000000000000" pitchFamily="2" charset="2"/>
              <a:buChar char="Ø"/>
            </a:pPr>
            <a:endParaRPr lang="en-US" sz="2800" dirty="0">
              <a:solidFill>
                <a:prstClr val="black"/>
              </a:solidFill>
              <a:latin typeface="Source Sans 3" panose="020B0604020202020204" charset="0"/>
              <a:cs typeface="Source Sans 3" panose="020B0604020202020204" charset="0"/>
            </a:endParaRPr>
          </a:p>
        </p:txBody>
      </p:sp>
    </p:spTree>
    <p:extLst>
      <p:ext uri="{BB962C8B-B14F-4D97-AF65-F5344CB8AC3E}">
        <p14:creationId xmlns:p14="http://schemas.microsoft.com/office/powerpoint/2010/main" val="8399222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C58682A-189A-4D1C-B66D-67EED0EE08FA}"/>
              </a:ext>
            </a:extLst>
          </p:cNvPr>
          <p:cNvSpPr>
            <a:spLocks noGrp="1"/>
          </p:cNvSpPr>
          <p:nvPr>
            <p:ph type="sldNum" sz="quarter" idx="12"/>
          </p:nvPr>
        </p:nvSpPr>
        <p:spPr/>
        <p:txBody>
          <a:bodyPr/>
          <a:lstStyle/>
          <a:p>
            <a:fld id="{B6F15528-21DE-4FAA-801E-634DDDAF4B2B}" type="slidenum">
              <a:rPr lang="en-US" smtClean="0"/>
              <a:pPr/>
              <a:t>22</a:t>
            </a:fld>
            <a:endParaRPr lang="en-US" dirty="0"/>
          </a:p>
        </p:txBody>
      </p:sp>
      <p:sp>
        <p:nvSpPr>
          <p:cNvPr id="3" name="AutoShape 2">
            <a:extLst>
              <a:ext uri="{FF2B5EF4-FFF2-40B4-BE49-F238E27FC236}">
                <a16:creationId xmlns:a16="http://schemas.microsoft.com/office/drawing/2014/main" id="{8086780C-F62D-4ADF-B11F-FCBB66542351}"/>
              </a:ext>
            </a:extLst>
          </p:cNvPr>
          <p:cNvSpPr/>
          <p:nvPr/>
        </p:nvSpPr>
        <p:spPr>
          <a:xfrm>
            <a:off x="3953337" y="9258300"/>
            <a:ext cx="13305963" cy="0"/>
          </a:xfrm>
          <a:prstGeom prst="line">
            <a:avLst/>
          </a:prstGeom>
          <a:ln w="19050" cap="flat">
            <a:solidFill>
              <a:srgbClr val="48276D"/>
            </a:solidFill>
            <a:prstDash val="solid"/>
            <a:headEnd type="none" w="sm" len="sm"/>
            <a:tailEnd type="none" w="sm" len="sm"/>
          </a:ln>
        </p:spPr>
      </p:sp>
      <p:sp>
        <p:nvSpPr>
          <p:cNvPr id="4" name="Freeform 3">
            <a:extLst>
              <a:ext uri="{FF2B5EF4-FFF2-40B4-BE49-F238E27FC236}">
                <a16:creationId xmlns:a16="http://schemas.microsoft.com/office/drawing/2014/main" id="{C951D052-CC6C-461A-9278-DE2876EF6021}"/>
              </a:ext>
            </a:extLst>
          </p:cNvPr>
          <p:cNvSpPr/>
          <p:nvPr/>
        </p:nvSpPr>
        <p:spPr>
          <a:xfrm>
            <a:off x="15421891" y="7635385"/>
            <a:ext cx="4190916" cy="4403878"/>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35000"/>
              <a:extLst>
                <a:ext uri="{96DAC541-7B7A-43D3-8B79-37D633B846F1}">
                  <asvg:svgBlip xmlns:asvg="http://schemas.microsoft.com/office/drawing/2016/SVG/main" r:embed="rId3"/>
                </a:ext>
              </a:extLst>
            </a:blip>
            <a:stretch>
              <a:fillRect/>
            </a:stretch>
          </a:blipFill>
        </p:spPr>
      </p:sp>
      <p:sp>
        <p:nvSpPr>
          <p:cNvPr id="5" name="AutoShape 4">
            <a:extLst>
              <a:ext uri="{FF2B5EF4-FFF2-40B4-BE49-F238E27FC236}">
                <a16:creationId xmlns:a16="http://schemas.microsoft.com/office/drawing/2014/main" id="{3EBC5EAA-FF53-407D-AABD-02BF510ADE37}"/>
              </a:ext>
            </a:extLst>
          </p:cNvPr>
          <p:cNvSpPr/>
          <p:nvPr/>
        </p:nvSpPr>
        <p:spPr>
          <a:xfrm flipV="1">
            <a:off x="728464" y="1047750"/>
            <a:ext cx="16530836" cy="0"/>
          </a:xfrm>
          <a:prstGeom prst="line">
            <a:avLst/>
          </a:prstGeom>
          <a:ln w="19050" cap="flat">
            <a:solidFill>
              <a:srgbClr val="48276D"/>
            </a:solidFill>
            <a:prstDash val="solid"/>
            <a:headEnd type="none" w="sm" len="sm"/>
            <a:tailEnd type="none" w="sm" len="sm"/>
          </a:ln>
        </p:spPr>
      </p:sp>
      <p:grpSp>
        <p:nvGrpSpPr>
          <p:cNvPr id="6" name="Group 6">
            <a:extLst>
              <a:ext uri="{FF2B5EF4-FFF2-40B4-BE49-F238E27FC236}">
                <a16:creationId xmlns:a16="http://schemas.microsoft.com/office/drawing/2014/main" id="{AF4C9FD7-83C6-4C6B-AE15-1AD0ED8486F6}"/>
              </a:ext>
            </a:extLst>
          </p:cNvPr>
          <p:cNvGrpSpPr/>
          <p:nvPr/>
        </p:nvGrpSpPr>
        <p:grpSpPr>
          <a:xfrm>
            <a:off x="17223863" y="2431310"/>
            <a:ext cx="1064138" cy="6126166"/>
            <a:chOff x="0" y="0"/>
            <a:chExt cx="275176" cy="1507565"/>
          </a:xfrm>
        </p:grpSpPr>
        <p:sp>
          <p:nvSpPr>
            <p:cNvPr id="7" name="Freeform 7">
              <a:extLst>
                <a:ext uri="{FF2B5EF4-FFF2-40B4-BE49-F238E27FC236}">
                  <a16:creationId xmlns:a16="http://schemas.microsoft.com/office/drawing/2014/main" id="{0B3AEEC1-5D37-427C-B49B-79A8360F1B4B}"/>
                </a:ext>
              </a:extLst>
            </p:cNvPr>
            <p:cNvSpPr/>
            <p:nvPr/>
          </p:nvSpPr>
          <p:spPr>
            <a:xfrm>
              <a:off x="0" y="0"/>
              <a:ext cx="275176" cy="1507565"/>
            </a:xfrm>
            <a:custGeom>
              <a:avLst/>
              <a:gdLst/>
              <a:ahLst/>
              <a:cxnLst/>
              <a:rect l="l" t="t" r="r" b="b"/>
              <a:pathLst>
                <a:path w="275176" h="1507565">
                  <a:moveTo>
                    <a:pt x="0" y="0"/>
                  </a:moveTo>
                  <a:lnTo>
                    <a:pt x="275176" y="0"/>
                  </a:lnTo>
                  <a:lnTo>
                    <a:pt x="275176" y="1507565"/>
                  </a:lnTo>
                  <a:lnTo>
                    <a:pt x="0" y="1507565"/>
                  </a:lnTo>
                  <a:close/>
                </a:path>
              </a:pathLst>
            </a:custGeom>
            <a:gradFill rotWithShape="1">
              <a:gsLst>
                <a:gs pos="0">
                  <a:srgbClr val="9374B3">
                    <a:alpha val="100000"/>
                  </a:srgbClr>
                </a:gs>
                <a:gs pos="50000">
                  <a:srgbClr val="7161A6">
                    <a:alpha val="100000"/>
                  </a:srgbClr>
                </a:gs>
                <a:gs pos="100000">
                  <a:srgbClr val="4A4D9C">
                    <a:alpha val="100000"/>
                  </a:srgbClr>
                </a:gs>
              </a:gsLst>
              <a:lin ang="0"/>
            </a:gradFill>
          </p:spPr>
        </p:sp>
        <p:sp>
          <p:nvSpPr>
            <p:cNvPr id="8" name="TextBox 8">
              <a:extLst>
                <a:ext uri="{FF2B5EF4-FFF2-40B4-BE49-F238E27FC236}">
                  <a16:creationId xmlns:a16="http://schemas.microsoft.com/office/drawing/2014/main" id="{931BF3AC-618A-4B4C-A365-0FDCB455CE88}"/>
                </a:ext>
              </a:extLst>
            </p:cNvPr>
            <p:cNvSpPr txBox="1"/>
            <p:nvPr/>
          </p:nvSpPr>
          <p:spPr>
            <a:xfrm>
              <a:off x="0" y="-38100"/>
              <a:ext cx="275176" cy="1545665"/>
            </a:xfrm>
            <a:prstGeom prst="rect">
              <a:avLst/>
            </a:prstGeom>
          </p:spPr>
          <p:txBody>
            <a:bodyPr lIns="50800" tIns="50800" rIns="50800" bIns="50800" rtlCol="0" anchor="ctr"/>
            <a:lstStyle/>
            <a:p>
              <a:pPr algn="ctr">
                <a:lnSpc>
                  <a:spcPts val="2659"/>
                </a:lnSpc>
                <a:spcBef>
                  <a:spcPct val="0"/>
                </a:spcBef>
              </a:pPr>
              <a:endParaRPr dirty="0"/>
            </a:p>
          </p:txBody>
        </p:sp>
      </p:grpSp>
      <p:sp>
        <p:nvSpPr>
          <p:cNvPr id="9" name="Freeform 9">
            <a:extLst>
              <a:ext uri="{FF2B5EF4-FFF2-40B4-BE49-F238E27FC236}">
                <a16:creationId xmlns:a16="http://schemas.microsoft.com/office/drawing/2014/main" id="{ABA048B8-9FD3-4239-A672-8BC3F23E1F10}"/>
              </a:ext>
            </a:extLst>
          </p:cNvPr>
          <p:cNvSpPr/>
          <p:nvPr/>
        </p:nvSpPr>
        <p:spPr>
          <a:xfrm rot="-5400000">
            <a:off x="17434592" y="3913082"/>
            <a:ext cx="761125" cy="181080"/>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AutoShape 10">
            <a:extLst>
              <a:ext uri="{FF2B5EF4-FFF2-40B4-BE49-F238E27FC236}">
                <a16:creationId xmlns:a16="http://schemas.microsoft.com/office/drawing/2014/main" id="{B0E2575A-86D1-4D82-90C7-6C5E21A66C7F}"/>
              </a:ext>
            </a:extLst>
          </p:cNvPr>
          <p:cNvSpPr/>
          <p:nvPr/>
        </p:nvSpPr>
        <p:spPr>
          <a:xfrm flipV="1">
            <a:off x="17807273" y="4860438"/>
            <a:ext cx="0" cy="1118034"/>
          </a:xfrm>
          <a:prstGeom prst="line">
            <a:avLst/>
          </a:prstGeom>
          <a:ln w="19050" cap="flat">
            <a:solidFill>
              <a:srgbClr val="FFFFFF"/>
            </a:solidFill>
            <a:prstDash val="solid"/>
            <a:headEnd type="none" w="sm" len="sm"/>
            <a:tailEnd type="none" w="sm" len="sm"/>
          </a:ln>
        </p:spPr>
      </p:sp>
      <p:sp>
        <p:nvSpPr>
          <p:cNvPr id="11" name="Freeform 11">
            <a:extLst>
              <a:ext uri="{FF2B5EF4-FFF2-40B4-BE49-F238E27FC236}">
                <a16:creationId xmlns:a16="http://schemas.microsoft.com/office/drawing/2014/main" id="{DB5F9381-F13A-4346-AD84-B9A6B37CEC66}"/>
              </a:ext>
            </a:extLst>
          </p:cNvPr>
          <p:cNvSpPr/>
          <p:nvPr/>
        </p:nvSpPr>
        <p:spPr>
          <a:xfrm rot="-5400000">
            <a:off x="17434592" y="6835946"/>
            <a:ext cx="761125" cy="181080"/>
          </a:xfrm>
          <a:custGeom>
            <a:avLst/>
            <a:gdLst/>
            <a:ahLst/>
            <a:cxnLst/>
            <a:rect l="l" t="t" r="r" b="b"/>
            <a:pathLst>
              <a:path w="711163" h="177791">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TextBox 13">
            <a:extLst>
              <a:ext uri="{FF2B5EF4-FFF2-40B4-BE49-F238E27FC236}">
                <a16:creationId xmlns:a16="http://schemas.microsoft.com/office/drawing/2014/main" id="{1B53C02C-CFCA-4BA0-B7DD-69221220AC71}"/>
              </a:ext>
            </a:extLst>
          </p:cNvPr>
          <p:cNvSpPr txBox="1"/>
          <p:nvPr/>
        </p:nvSpPr>
        <p:spPr>
          <a:xfrm>
            <a:off x="1062476" y="566621"/>
            <a:ext cx="2266088" cy="346249"/>
          </a:xfrm>
          <a:prstGeom prst="rect">
            <a:avLst/>
          </a:prstGeom>
        </p:spPr>
        <p:txBody>
          <a:bodyPr wrap="square" lIns="0" tIns="0" rIns="0" bIns="0" rtlCol="0" anchor="t">
            <a:spAutoFit/>
          </a:bodyPr>
          <a:lstStyle/>
          <a:p>
            <a:pPr algn="l">
              <a:lnSpc>
                <a:spcPts val="2939"/>
              </a:lnSpc>
            </a:pPr>
            <a:r>
              <a:rPr lang="en-US" sz="2099" dirty="0">
                <a:solidFill>
                  <a:srgbClr val="69498D"/>
                </a:solidFill>
                <a:latin typeface="Roboto"/>
                <a:ea typeface="Roboto"/>
                <a:cs typeface="Roboto"/>
                <a:sym typeface="Roboto"/>
              </a:rPr>
              <a:t>R20 Regulations</a:t>
            </a:r>
          </a:p>
        </p:txBody>
      </p:sp>
      <p:sp>
        <p:nvSpPr>
          <p:cNvPr id="13" name="TextBox 14">
            <a:extLst>
              <a:ext uri="{FF2B5EF4-FFF2-40B4-BE49-F238E27FC236}">
                <a16:creationId xmlns:a16="http://schemas.microsoft.com/office/drawing/2014/main" id="{31A28E2B-3A16-4F3F-B0BE-0A5952B39C60}"/>
              </a:ext>
            </a:extLst>
          </p:cNvPr>
          <p:cNvSpPr txBox="1"/>
          <p:nvPr/>
        </p:nvSpPr>
        <p:spPr>
          <a:xfrm>
            <a:off x="8099528" y="636814"/>
            <a:ext cx="2063584" cy="346249"/>
          </a:xfrm>
          <a:prstGeom prst="rect">
            <a:avLst/>
          </a:prstGeom>
        </p:spPr>
        <p:txBody>
          <a:bodyPr wrap="square" lIns="0" tIns="0" rIns="0" bIns="0" rtlCol="0" anchor="t">
            <a:spAutoFit/>
          </a:bodyPr>
          <a:lstStyle/>
          <a:p>
            <a:pPr algn="ctr">
              <a:lnSpc>
                <a:spcPts val="2939"/>
              </a:lnSpc>
            </a:pPr>
            <a:r>
              <a:rPr lang="en-US" sz="2099" dirty="0">
                <a:solidFill>
                  <a:srgbClr val="69498D"/>
                </a:solidFill>
                <a:latin typeface="Roboto"/>
                <a:ea typeface="Roboto"/>
                <a:cs typeface="Roboto"/>
                <a:sym typeface="Roboto"/>
              </a:rPr>
              <a:t>IV B. Tech ECE</a:t>
            </a:r>
          </a:p>
        </p:txBody>
      </p:sp>
      <p:sp>
        <p:nvSpPr>
          <p:cNvPr id="14" name="TextBox 15">
            <a:extLst>
              <a:ext uri="{FF2B5EF4-FFF2-40B4-BE49-F238E27FC236}">
                <a16:creationId xmlns:a16="http://schemas.microsoft.com/office/drawing/2014/main" id="{7A973126-34F8-4A3C-AC8B-70C7733A23EF}"/>
              </a:ext>
            </a:extLst>
          </p:cNvPr>
          <p:cNvSpPr txBox="1"/>
          <p:nvPr/>
        </p:nvSpPr>
        <p:spPr>
          <a:xfrm>
            <a:off x="13078886" y="649680"/>
            <a:ext cx="3975505" cy="718145"/>
          </a:xfrm>
          <a:prstGeom prst="rect">
            <a:avLst/>
          </a:prstGeom>
        </p:spPr>
        <p:txBody>
          <a:bodyPr wrap="square" lIns="0" tIns="0" rIns="0" bIns="0" rtlCol="0" anchor="t">
            <a:spAutoFit/>
          </a:bodyPr>
          <a:lstStyle/>
          <a:p>
            <a:pPr algn="l">
              <a:lnSpc>
                <a:spcPts val="2939"/>
              </a:lnSpc>
            </a:pPr>
            <a:r>
              <a:rPr lang="en-US" sz="2099" dirty="0">
                <a:solidFill>
                  <a:srgbClr val="69498D"/>
                </a:solidFill>
                <a:latin typeface="Roboto"/>
                <a:ea typeface="Roboto"/>
                <a:cs typeface="Roboto"/>
                <a:sym typeface="Roboto"/>
              </a:rPr>
              <a:t>Ac. Year : 2025-26/ Semester -II</a:t>
            </a:r>
          </a:p>
          <a:p>
            <a:pPr algn="l">
              <a:lnSpc>
                <a:spcPts val="2939"/>
              </a:lnSpc>
            </a:pPr>
            <a:endParaRPr lang="en-US" sz="2099" dirty="0">
              <a:solidFill>
                <a:srgbClr val="69498D"/>
              </a:solidFill>
              <a:latin typeface="Roboto"/>
              <a:ea typeface="Roboto"/>
              <a:cs typeface="Roboto"/>
              <a:sym typeface="Roboto"/>
            </a:endParaRPr>
          </a:p>
        </p:txBody>
      </p:sp>
      <p:sp>
        <p:nvSpPr>
          <p:cNvPr id="15" name="TextBox 16">
            <a:extLst>
              <a:ext uri="{FF2B5EF4-FFF2-40B4-BE49-F238E27FC236}">
                <a16:creationId xmlns:a16="http://schemas.microsoft.com/office/drawing/2014/main" id="{4B5E3576-1740-4165-A611-6201F880CAC3}"/>
              </a:ext>
            </a:extLst>
          </p:cNvPr>
          <p:cNvSpPr txBox="1"/>
          <p:nvPr/>
        </p:nvSpPr>
        <p:spPr>
          <a:xfrm>
            <a:off x="1501374" y="9027283"/>
            <a:ext cx="3975505" cy="346249"/>
          </a:xfrm>
          <a:prstGeom prst="rect">
            <a:avLst/>
          </a:prstGeom>
        </p:spPr>
        <p:txBody>
          <a:bodyPr wrap="square" lIns="0" tIns="0" rIns="0" bIns="0" rtlCol="0" anchor="t">
            <a:spAutoFit/>
          </a:bodyPr>
          <a:lstStyle/>
          <a:p>
            <a:pPr>
              <a:lnSpc>
                <a:spcPts val="2939"/>
              </a:lnSpc>
            </a:pPr>
            <a:r>
              <a:rPr lang="en-US" sz="2099" dirty="0">
                <a:solidFill>
                  <a:srgbClr val="69498D"/>
                </a:solidFill>
                <a:latin typeface="Roboto"/>
                <a:ea typeface="Roboto"/>
                <a:cs typeface="Roboto"/>
                <a:sym typeface="Roboto"/>
              </a:rPr>
              <a:t>Final Review</a:t>
            </a:r>
          </a:p>
        </p:txBody>
      </p:sp>
      <p:sp>
        <p:nvSpPr>
          <p:cNvPr id="16" name="Text 0">
            <a:extLst>
              <a:ext uri="{FF2B5EF4-FFF2-40B4-BE49-F238E27FC236}">
                <a16:creationId xmlns:a16="http://schemas.microsoft.com/office/drawing/2014/main" id="{896F24A7-E77C-4343-8AB1-D0D8EE85503B}"/>
              </a:ext>
            </a:extLst>
          </p:cNvPr>
          <p:cNvSpPr/>
          <p:nvPr/>
        </p:nvSpPr>
        <p:spPr>
          <a:xfrm>
            <a:off x="1216198" y="1521827"/>
            <a:ext cx="4360809" cy="572785"/>
          </a:xfrm>
          <a:prstGeom prst="rect">
            <a:avLst/>
          </a:prstGeom>
          <a:noFill/>
          <a:ln/>
        </p:spPr>
        <p:txBody>
          <a:bodyPr wrap="none" lIns="0" tIns="0" rIns="0" bIns="0" rtlCol="0" anchor="t"/>
          <a:lstStyle/>
          <a:p>
            <a:pPr marL="0" indent="0" algn="l">
              <a:lnSpc>
                <a:spcPts val="4200"/>
              </a:lnSpc>
              <a:buNone/>
            </a:pPr>
            <a:r>
              <a:rPr lang="en-US" sz="3500" b="1" dirty="0">
                <a:solidFill>
                  <a:srgbClr val="000000"/>
                </a:solidFill>
                <a:latin typeface="Montserrat Bold" pitchFamily="34" charset="0"/>
              </a:rPr>
              <a:t>References</a:t>
            </a:r>
            <a:endParaRPr lang="en-US" sz="3500" dirty="0"/>
          </a:p>
        </p:txBody>
      </p:sp>
      <p:pic>
        <p:nvPicPr>
          <p:cNvPr id="17" name="Picture 16">
            <a:extLst>
              <a:ext uri="{FF2B5EF4-FFF2-40B4-BE49-F238E27FC236}">
                <a16:creationId xmlns:a16="http://schemas.microsoft.com/office/drawing/2014/main" id="{6CC6FE48-A7D4-439F-8E4C-589CB845DD4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191171" y="120236"/>
            <a:ext cx="792468" cy="824167"/>
          </a:xfrm>
          <a:prstGeom prst="rect">
            <a:avLst/>
          </a:prstGeom>
        </p:spPr>
      </p:pic>
      <p:sp>
        <p:nvSpPr>
          <p:cNvPr id="18" name="Rectangle 17">
            <a:extLst>
              <a:ext uri="{FF2B5EF4-FFF2-40B4-BE49-F238E27FC236}">
                <a16:creationId xmlns:a16="http://schemas.microsoft.com/office/drawing/2014/main" id="{534470AF-028F-4DDE-9146-9B8E47D5007C}"/>
              </a:ext>
            </a:extLst>
          </p:cNvPr>
          <p:cNvSpPr/>
          <p:nvPr/>
        </p:nvSpPr>
        <p:spPr>
          <a:xfrm>
            <a:off x="1501374" y="2325627"/>
            <a:ext cx="14653026" cy="5829481"/>
          </a:xfrm>
          <a:prstGeom prst="rect">
            <a:avLst/>
          </a:prstGeom>
        </p:spPr>
        <p:txBody>
          <a:bodyPr wrap="square">
            <a:spAutoFit/>
          </a:bodyPr>
          <a:lstStyle/>
          <a:p>
            <a:pPr marL="517525" lvl="0" indent="-517525" algn="just">
              <a:lnSpc>
                <a:spcPct val="150000"/>
              </a:lnSpc>
              <a:buSzPct val="100000"/>
            </a:pPr>
            <a:r>
              <a:rPr lang="en-US" sz="2800" dirty="0">
                <a:solidFill>
                  <a:srgbClr val="333333"/>
                </a:solidFill>
                <a:latin typeface="Source Sans 3" panose="020B0604020202020204" charset="0"/>
                <a:cs typeface="Source Sans 3" panose="020B0604020202020204" charset="0"/>
              </a:rPr>
              <a:t>[5] C. Guo, C. Li, J. Guo, C. C. Loy, J. Hou, S. </a:t>
            </a:r>
            <a:r>
              <a:rPr lang="en-US" sz="2800" dirty="0" err="1">
                <a:solidFill>
                  <a:srgbClr val="333333"/>
                </a:solidFill>
                <a:latin typeface="Source Sans 3" panose="020B0604020202020204" charset="0"/>
                <a:cs typeface="Source Sans 3" panose="020B0604020202020204" charset="0"/>
              </a:rPr>
              <a:t>Kwong</a:t>
            </a:r>
            <a:r>
              <a:rPr lang="en-US" sz="2800" dirty="0">
                <a:solidFill>
                  <a:srgbClr val="333333"/>
                </a:solidFill>
                <a:latin typeface="Source Sans 3" panose="020B0604020202020204" charset="0"/>
                <a:cs typeface="Source Sans 3" panose="020B0604020202020204" charset="0"/>
              </a:rPr>
              <a:t>, and R. Cong, “</a:t>
            </a:r>
            <a:r>
              <a:rPr lang="en-US" sz="2800" dirty="0" err="1">
                <a:solidFill>
                  <a:srgbClr val="333333"/>
                </a:solidFill>
                <a:latin typeface="Source Sans 3" panose="020B0604020202020204" charset="0"/>
                <a:cs typeface="Source Sans 3" panose="020B0604020202020204" charset="0"/>
              </a:rPr>
              <a:t>Zeroreference</a:t>
            </a:r>
            <a:r>
              <a:rPr lang="en-US" sz="2800" dirty="0">
                <a:solidFill>
                  <a:srgbClr val="333333"/>
                </a:solidFill>
                <a:latin typeface="Source Sans 3" panose="020B0604020202020204" charset="0"/>
                <a:cs typeface="Source Sans 3" panose="020B0604020202020204" charset="0"/>
              </a:rPr>
              <a:t> deep curve estimation for low-light image enhancement,” in Proc. IEEE/CVF Conf. </a:t>
            </a:r>
            <a:r>
              <a:rPr lang="en-US" sz="2800" dirty="0" err="1">
                <a:solidFill>
                  <a:srgbClr val="333333"/>
                </a:solidFill>
                <a:latin typeface="Source Sans 3" panose="020B0604020202020204" charset="0"/>
                <a:cs typeface="Source Sans 3" panose="020B0604020202020204" charset="0"/>
              </a:rPr>
              <a:t>Comput</a:t>
            </a:r>
            <a:r>
              <a:rPr lang="en-US" sz="2800" dirty="0">
                <a:solidFill>
                  <a:srgbClr val="333333"/>
                </a:solidFill>
                <a:latin typeface="Source Sans 3" panose="020B0604020202020204" charset="0"/>
                <a:cs typeface="Source Sans 3" panose="020B0604020202020204" charset="0"/>
              </a:rPr>
              <a:t>. Vis. Pattern </a:t>
            </a:r>
            <a:r>
              <a:rPr lang="en-US" sz="2800" dirty="0" err="1">
                <a:solidFill>
                  <a:srgbClr val="333333"/>
                </a:solidFill>
                <a:latin typeface="Source Sans 3" panose="020B0604020202020204" charset="0"/>
                <a:cs typeface="Source Sans 3" panose="020B0604020202020204" charset="0"/>
              </a:rPr>
              <a:t>Recognit</a:t>
            </a:r>
            <a:r>
              <a:rPr lang="en-US" sz="2800" dirty="0">
                <a:solidFill>
                  <a:srgbClr val="333333"/>
                </a:solidFill>
                <a:latin typeface="Source Sans 3" panose="020B0604020202020204" charset="0"/>
                <a:cs typeface="Source Sans 3" panose="020B0604020202020204" charset="0"/>
              </a:rPr>
              <a:t>. (CVPR), Jun. 2020, pp. 1777–1786.</a:t>
            </a:r>
          </a:p>
          <a:p>
            <a:pPr marL="517525" lvl="0" indent="-517525" algn="just">
              <a:lnSpc>
                <a:spcPct val="150000"/>
              </a:lnSpc>
              <a:buSzPct val="100000"/>
            </a:pPr>
            <a:r>
              <a:rPr lang="en-US" sz="2800" dirty="0">
                <a:solidFill>
                  <a:srgbClr val="333333"/>
                </a:solidFill>
                <a:latin typeface="Source Sans 3" panose="020B0604020202020204" charset="0"/>
                <a:cs typeface="Source Sans 3" panose="020B0604020202020204" charset="0"/>
              </a:rPr>
              <a:t>[6] Y. Ueda, D. Moriyama, T. Koga, and N. </a:t>
            </a:r>
            <a:r>
              <a:rPr lang="en-US" sz="2800" dirty="0" err="1">
                <a:solidFill>
                  <a:srgbClr val="333333"/>
                </a:solidFill>
                <a:latin typeface="Source Sans 3" panose="020B0604020202020204" charset="0"/>
                <a:cs typeface="Source Sans 3" panose="020B0604020202020204" charset="0"/>
              </a:rPr>
              <a:t>Suetake</a:t>
            </a:r>
            <a:r>
              <a:rPr lang="en-US" sz="2800" dirty="0">
                <a:solidFill>
                  <a:srgbClr val="333333"/>
                </a:solidFill>
                <a:latin typeface="Source Sans 3" panose="020B0604020202020204" charset="0"/>
                <a:cs typeface="Source Sans 3" panose="020B0604020202020204" charset="0"/>
              </a:rPr>
              <a:t>, “Histogram specification-based image enhancement for backlit image,” in Proc. IEEE Int. Conf. Image Process. (ICIP), Oct. 2020, pp. 958–962.</a:t>
            </a:r>
          </a:p>
          <a:p>
            <a:pPr marL="579438" lvl="0" indent="-579438" algn="just">
              <a:lnSpc>
                <a:spcPct val="150000"/>
              </a:lnSpc>
              <a:buSzPct val="100000"/>
            </a:pPr>
            <a:r>
              <a:rPr lang="en-US" sz="2800" dirty="0">
                <a:solidFill>
                  <a:srgbClr val="333333"/>
                </a:solidFill>
                <a:latin typeface="Source Sans 3" panose="020B0604020202020204" charset="0"/>
                <a:cs typeface="Source Sans 3" panose="020B0604020202020204" charset="0"/>
              </a:rPr>
              <a:t>[7] Y. Wang, R. Wan, W. Yang, H. Li, L.-P. Chau, and A. C. </a:t>
            </a:r>
            <a:r>
              <a:rPr lang="en-US" sz="2800" dirty="0" err="1">
                <a:solidFill>
                  <a:srgbClr val="333333"/>
                </a:solidFill>
                <a:latin typeface="Source Sans 3" panose="020B0604020202020204" charset="0"/>
                <a:cs typeface="Source Sans 3" panose="020B0604020202020204" charset="0"/>
              </a:rPr>
              <a:t>Kot</a:t>
            </a:r>
            <a:r>
              <a:rPr lang="en-US" sz="2800" dirty="0">
                <a:solidFill>
                  <a:srgbClr val="333333"/>
                </a:solidFill>
                <a:latin typeface="Source Sans 3" panose="020B0604020202020204" charset="0"/>
                <a:cs typeface="Source Sans 3" panose="020B0604020202020204" charset="0"/>
              </a:rPr>
              <a:t>, “Low-light image enhancement with normalizing flow,” in Proc. AAAI Conf. </a:t>
            </a:r>
            <a:r>
              <a:rPr lang="en-US" sz="2800" dirty="0" err="1">
                <a:solidFill>
                  <a:srgbClr val="333333"/>
                </a:solidFill>
                <a:latin typeface="Source Sans 3" panose="020B0604020202020204" charset="0"/>
                <a:cs typeface="Source Sans 3" panose="020B0604020202020204" charset="0"/>
              </a:rPr>
              <a:t>Artif</a:t>
            </a:r>
            <a:r>
              <a:rPr lang="en-US" sz="2800" dirty="0">
                <a:solidFill>
                  <a:srgbClr val="333333"/>
                </a:solidFill>
                <a:latin typeface="Source Sans 3" panose="020B0604020202020204" charset="0"/>
                <a:cs typeface="Source Sans 3" panose="020B0604020202020204" charset="0"/>
              </a:rPr>
              <a:t>. </a:t>
            </a:r>
            <a:r>
              <a:rPr lang="en-US" sz="2800" dirty="0" err="1">
                <a:solidFill>
                  <a:srgbClr val="333333"/>
                </a:solidFill>
                <a:latin typeface="Source Sans 3" panose="020B0604020202020204" charset="0"/>
                <a:cs typeface="Source Sans 3" panose="020B0604020202020204" charset="0"/>
              </a:rPr>
              <a:t>Intell</a:t>
            </a:r>
            <a:r>
              <a:rPr lang="en-US" sz="2800" dirty="0">
                <a:solidFill>
                  <a:srgbClr val="333333"/>
                </a:solidFill>
                <a:latin typeface="Source Sans 3" panose="020B0604020202020204" charset="0"/>
                <a:cs typeface="Source Sans 3" panose="020B0604020202020204" charset="0"/>
              </a:rPr>
              <a:t>., 2022, pp. 2604–2612.</a:t>
            </a:r>
            <a:endParaRPr lang="en-US" sz="2800" dirty="0">
              <a:latin typeface="Source Sans 3" panose="020B0604020202020204" charset="0"/>
              <a:cs typeface="Source Sans 3" panose="020B0604020202020204" charset="0"/>
            </a:endParaRPr>
          </a:p>
        </p:txBody>
      </p:sp>
    </p:spTree>
    <p:extLst>
      <p:ext uri="{BB962C8B-B14F-4D97-AF65-F5344CB8AC3E}">
        <p14:creationId xmlns:p14="http://schemas.microsoft.com/office/powerpoint/2010/main" val="7464465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800446" y="9258300"/>
            <a:ext cx="8744936" cy="0"/>
          </a:xfrm>
          <a:prstGeom prst="line">
            <a:avLst/>
          </a:prstGeom>
          <a:ln w="19050" cap="flat">
            <a:solidFill>
              <a:srgbClr val="48276D"/>
            </a:solidFill>
            <a:prstDash val="solid"/>
            <a:headEnd type="none" w="sm" len="sm"/>
            <a:tailEnd type="none" w="sm" len="sm"/>
          </a:ln>
        </p:spPr>
      </p:sp>
      <p:grpSp>
        <p:nvGrpSpPr>
          <p:cNvPr id="3" name="Group 3"/>
          <p:cNvGrpSpPr/>
          <p:nvPr/>
        </p:nvGrpSpPr>
        <p:grpSpPr>
          <a:xfrm>
            <a:off x="13361619" y="-194461"/>
            <a:ext cx="5093325" cy="10675921"/>
            <a:chOff x="0" y="0"/>
            <a:chExt cx="1341452" cy="2811765"/>
          </a:xfrm>
        </p:grpSpPr>
        <p:sp>
          <p:nvSpPr>
            <p:cNvPr id="4" name="Freeform 4"/>
            <p:cNvSpPr/>
            <p:nvPr/>
          </p:nvSpPr>
          <p:spPr>
            <a:xfrm>
              <a:off x="0" y="0"/>
              <a:ext cx="1341452" cy="2811765"/>
            </a:xfrm>
            <a:custGeom>
              <a:avLst/>
              <a:gdLst/>
              <a:ahLst/>
              <a:cxnLst/>
              <a:rect l="l" t="t" r="r" b="b"/>
              <a:pathLst>
                <a:path w="1341452" h="2811765">
                  <a:moveTo>
                    <a:pt x="0" y="0"/>
                  </a:moveTo>
                  <a:lnTo>
                    <a:pt x="1341452" y="0"/>
                  </a:lnTo>
                  <a:lnTo>
                    <a:pt x="1341452" y="2811765"/>
                  </a:lnTo>
                  <a:lnTo>
                    <a:pt x="0" y="2811765"/>
                  </a:lnTo>
                  <a:close/>
                </a:path>
              </a:pathLst>
            </a:custGeom>
            <a:gradFill rotWithShape="1">
              <a:gsLst>
                <a:gs pos="0">
                  <a:srgbClr val="9374B3">
                    <a:alpha val="100000"/>
                  </a:srgbClr>
                </a:gs>
                <a:gs pos="50000">
                  <a:srgbClr val="7161A6">
                    <a:alpha val="100000"/>
                  </a:srgbClr>
                </a:gs>
                <a:gs pos="100000">
                  <a:srgbClr val="4A4D9C">
                    <a:alpha val="100000"/>
                  </a:srgbClr>
                </a:gs>
              </a:gsLst>
              <a:lin ang="5400000"/>
            </a:gradFill>
          </p:spPr>
        </p:sp>
        <p:sp>
          <p:nvSpPr>
            <p:cNvPr id="5" name="TextBox 5"/>
            <p:cNvSpPr txBox="1"/>
            <p:nvPr/>
          </p:nvSpPr>
          <p:spPr>
            <a:xfrm>
              <a:off x="0" y="-38100"/>
              <a:ext cx="1341452" cy="2849865"/>
            </a:xfrm>
            <a:prstGeom prst="rect">
              <a:avLst/>
            </a:prstGeom>
          </p:spPr>
          <p:txBody>
            <a:bodyPr lIns="50800" tIns="50800" rIns="50800" bIns="50800" rtlCol="0" anchor="ctr"/>
            <a:lstStyle/>
            <a:p>
              <a:pPr algn="ctr">
                <a:lnSpc>
                  <a:spcPts val="2659"/>
                </a:lnSpc>
                <a:spcBef>
                  <a:spcPct val="0"/>
                </a:spcBef>
              </a:pPr>
              <a:endParaRPr dirty="0"/>
            </a:p>
          </p:txBody>
        </p:sp>
      </p:grpSp>
      <p:sp>
        <p:nvSpPr>
          <p:cNvPr id="6" name="Freeform 6"/>
          <p:cNvSpPr/>
          <p:nvPr/>
        </p:nvSpPr>
        <p:spPr>
          <a:xfrm>
            <a:off x="15498007" y="79244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35000"/>
              <a:extLst>
                <a:ext uri="{96DAC541-7B7A-43D3-8B79-37D633B846F1}">
                  <asvg:svgBlip xmlns:asvg="http://schemas.microsoft.com/office/drawing/2016/SVG/main" r:embed="rId3"/>
                </a:ext>
              </a:extLst>
            </a:blip>
            <a:stretch>
              <a:fillRect/>
            </a:stretch>
          </a:blipFill>
        </p:spPr>
      </p:sp>
      <p:sp>
        <p:nvSpPr>
          <p:cNvPr id="10" name="AutoShape 10"/>
          <p:cNvSpPr/>
          <p:nvPr/>
        </p:nvSpPr>
        <p:spPr>
          <a:xfrm>
            <a:off x="1028700" y="1028700"/>
            <a:ext cx="12332919" cy="0"/>
          </a:xfrm>
          <a:prstGeom prst="line">
            <a:avLst/>
          </a:prstGeom>
          <a:ln w="19050" cap="flat">
            <a:solidFill>
              <a:srgbClr val="48276D"/>
            </a:solidFill>
            <a:prstDash val="solid"/>
            <a:headEnd type="none" w="sm" len="sm"/>
            <a:tailEnd type="none" w="sm" len="sm"/>
          </a:ln>
        </p:spPr>
      </p:sp>
      <p:sp>
        <p:nvSpPr>
          <p:cNvPr id="11" name="Freeform 11"/>
          <p:cNvSpPr/>
          <p:nvPr/>
        </p:nvSpPr>
        <p:spPr>
          <a:xfrm>
            <a:off x="10170313" y="729247"/>
            <a:ext cx="561540" cy="140385"/>
          </a:xfrm>
          <a:custGeom>
            <a:avLst/>
            <a:gdLst/>
            <a:ahLst/>
            <a:cxnLst/>
            <a:rect l="l" t="t" r="r" b="b"/>
            <a:pathLst>
              <a:path w="561540" h="140385">
                <a:moveTo>
                  <a:pt x="0" y="0"/>
                </a:moveTo>
                <a:lnTo>
                  <a:pt x="561540" y="0"/>
                </a:lnTo>
                <a:lnTo>
                  <a:pt x="561540" y="140385"/>
                </a:lnTo>
                <a:lnTo>
                  <a:pt x="0" y="1403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TextBox 14"/>
          <p:cNvSpPr txBox="1"/>
          <p:nvPr/>
        </p:nvSpPr>
        <p:spPr>
          <a:xfrm>
            <a:off x="1028700" y="662940"/>
            <a:ext cx="2224931" cy="346249"/>
          </a:xfrm>
          <a:prstGeom prst="rect">
            <a:avLst/>
          </a:prstGeom>
        </p:spPr>
        <p:txBody>
          <a:bodyPr lIns="0" tIns="0" rIns="0" bIns="0" rtlCol="0" anchor="t">
            <a:spAutoFit/>
          </a:bodyPr>
          <a:lstStyle/>
          <a:p>
            <a:pPr algn="l">
              <a:lnSpc>
                <a:spcPts val="2939"/>
              </a:lnSpc>
            </a:pPr>
            <a:r>
              <a:rPr lang="en-US" sz="2099" dirty="0">
                <a:solidFill>
                  <a:srgbClr val="69498D"/>
                </a:solidFill>
                <a:latin typeface="Roboto"/>
                <a:ea typeface="Roboto"/>
                <a:cs typeface="Roboto"/>
                <a:sym typeface="Roboto"/>
              </a:rPr>
              <a:t>R20 Regulations</a:t>
            </a:r>
          </a:p>
        </p:txBody>
      </p:sp>
      <p:sp>
        <p:nvSpPr>
          <p:cNvPr id="15" name="TextBox 15"/>
          <p:cNvSpPr txBox="1"/>
          <p:nvPr/>
        </p:nvSpPr>
        <p:spPr>
          <a:xfrm>
            <a:off x="3573402" y="662940"/>
            <a:ext cx="2026105" cy="346249"/>
          </a:xfrm>
          <a:prstGeom prst="rect">
            <a:avLst/>
          </a:prstGeom>
        </p:spPr>
        <p:txBody>
          <a:bodyPr lIns="0" tIns="0" rIns="0" bIns="0" rtlCol="0" anchor="t">
            <a:spAutoFit/>
          </a:bodyPr>
          <a:lstStyle/>
          <a:p>
            <a:pPr algn="ctr">
              <a:lnSpc>
                <a:spcPts val="2939"/>
              </a:lnSpc>
            </a:pPr>
            <a:r>
              <a:rPr lang="en-US" sz="2099" dirty="0">
                <a:solidFill>
                  <a:srgbClr val="69498D"/>
                </a:solidFill>
                <a:latin typeface="Roboto"/>
                <a:ea typeface="Roboto"/>
                <a:cs typeface="Roboto"/>
                <a:sym typeface="Roboto"/>
              </a:rPr>
              <a:t>IV B. Tech ECE</a:t>
            </a:r>
          </a:p>
        </p:txBody>
      </p:sp>
      <p:sp>
        <p:nvSpPr>
          <p:cNvPr id="17" name="Text 0"/>
          <p:cNvSpPr/>
          <p:nvPr/>
        </p:nvSpPr>
        <p:spPr>
          <a:xfrm>
            <a:off x="2680295" y="2963368"/>
            <a:ext cx="11219617" cy="1564531"/>
          </a:xfrm>
          <a:prstGeom prst="rect">
            <a:avLst/>
          </a:prstGeom>
        </p:spPr>
        <p:txBody>
          <a:bodyPr lIns="0" tIns="0" rIns="0" bIns="0" rtlCol="0" anchor="t">
            <a:spAutoFit/>
          </a:bodyPr>
          <a:lstStyle/>
          <a:p>
            <a:pPr>
              <a:lnSpc>
                <a:spcPts val="12235"/>
              </a:lnSpc>
            </a:pPr>
            <a:r>
              <a:rPr lang="en-US" sz="13299" b="1" dirty="0">
                <a:solidFill>
                  <a:srgbClr val="48276D"/>
                </a:solidFill>
                <a:latin typeface="Montserrat Bold"/>
                <a:ea typeface="Montserrat Bold"/>
                <a:cs typeface="Montserrat Bold"/>
              </a:rPr>
              <a:t>Thank You</a:t>
            </a:r>
          </a:p>
        </p:txBody>
      </p:sp>
      <p:sp>
        <p:nvSpPr>
          <p:cNvPr id="18" name="Text 1"/>
          <p:cNvSpPr/>
          <p:nvPr/>
        </p:nvSpPr>
        <p:spPr>
          <a:xfrm>
            <a:off x="4466000" y="4377459"/>
            <a:ext cx="6222206" cy="701278"/>
          </a:xfrm>
          <a:prstGeom prst="rect">
            <a:avLst/>
          </a:prstGeom>
          <a:noFill/>
          <a:ln/>
        </p:spPr>
        <p:txBody>
          <a:bodyPr wrap="none" lIns="0" tIns="0" rIns="0" bIns="0" rtlCol="0" anchor="t"/>
          <a:lstStyle/>
          <a:p>
            <a:pPr marL="0" indent="0" algn="l">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Questions &amp; Answers</a:t>
            </a:r>
            <a:endParaRPr lang="en-US" sz="4400" dirty="0"/>
          </a:p>
        </p:txBody>
      </p:sp>
      <p:sp>
        <p:nvSpPr>
          <p:cNvPr id="19" name="TextBox 16"/>
          <p:cNvSpPr txBox="1"/>
          <p:nvPr/>
        </p:nvSpPr>
        <p:spPr>
          <a:xfrm>
            <a:off x="1573578" y="9051607"/>
            <a:ext cx="3903301" cy="346249"/>
          </a:xfrm>
          <a:prstGeom prst="rect">
            <a:avLst/>
          </a:prstGeom>
        </p:spPr>
        <p:txBody>
          <a:bodyPr lIns="0" tIns="0" rIns="0" bIns="0" rtlCol="0" anchor="t">
            <a:spAutoFit/>
          </a:bodyPr>
          <a:lstStyle/>
          <a:p>
            <a:pPr>
              <a:lnSpc>
                <a:spcPts val="2939"/>
              </a:lnSpc>
            </a:pPr>
            <a:r>
              <a:rPr lang="en-US" sz="2099" dirty="0">
                <a:solidFill>
                  <a:srgbClr val="69498D"/>
                </a:solidFill>
                <a:latin typeface="Roboto"/>
                <a:ea typeface="Roboto"/>
                <a:cs typeface="Roboto"/>
                <a:sym typeface="Roboto"/>
              </a:rPr>
              <a:t>Final Review</a:t>
            </a:r>
          </a:p>
        </p:txBody>
      </p:sp>
      <p:sp>
        <p:nvSpPr>
          <p:cNvPr id="20" name="Slide Number Placeholder 19"/>
          <p:cNvSpPr>
            <a:spLocks noGrp="1"/>
          </p:cNvSpPr>
          <p:nvPr>
            <p:ph type="sldNum" sz="quarter" idx="12"/>
          </p:nvPr>
        </p:nvSpPr>
        <p:spPr/>
        <p:txBody>
          <a:bodyPr/>
          <a:lstStyle/>
          <a:p>
            <a:fld id="{B6F15528-21DE-4FAA-801E-634DDDAF4B2B}" type="slidenum">
              <a:rPr lang="en-US" smtClean="0"/>
              <a:pPr/>
              <a:t>23</a:t>
            </a:fld>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455F51"/>
      </a:dk2>
      <a:lt2>
        <a:srgbClr val="E3DED1"/>
      </a:lt2>
      <a:accent1>
        <a:srgbClr val="99CB38"/>
      </a:accent1>
      <a:accent2>
        <a:srgbClr val="63A537"/>
      </a:accent2>
      <a:accent3>
        <a:srgbClr val="E6D024"/>
      </a:accent3>
      <a:accent4>
        <a:srgbClr val="CC9700"/>
      </a:accent4>
      <a:accent5>
        <a:srgbClr val="4EB3CF"/>
      </a:accent5>
      <a:accent6>
        <a:srgbClr val="378DA6"/>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29F68FFC-748B-4FC3-BF39-7F84A6D5840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1321</TotalTime>
  <Words>1966</Words>
  <Application>Microsoft Office PowerPoint</Application>
  <PresentationFormat>Custom</PresentationFormat>
  <Paragraphs>310</Paragraphs>
  <Slides>23</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Montserrat Bold</vt:lpstr>
      <vt:lpstr>Arial</vt:lpstr>
      <vt:lpstr>Source Sans 3</vt:lpstr>
      <vt:lpstr>Roboto</vt:lpstr>
      <vt:lpstr>Calibri</vt:lpstr>
      <vt:lpstr>Tw Cen MT</vt:lpstr>
      <vt:lpstr>Wingdings</vt:lpstr>
      <vt:lpstr>Tw Cen MT Condensed</vt:lpstr>
      <vt:lpstr>Wingdings 3</vt:lpstr>
      <vt:lpstr>Integral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defense</dc:title>
  <dc:creator>T. HARIKRISHNA</dc:creator>
  <cp:lastModifiedBy>Tippuluri Hari Krishna Reddy</cp:lastModifiedBy>
  <cp:revision>103</cp:revision>
  <dcterms:created xsi:type="dcterms:W3CDTF">2006-08-16T00:00:00Z</dcterms:created>
  <dcterms:modified xsi:type="dcterms:W3CDTF">2026-04-20T05:12:39Z</dcterms:modified>
  <dc:identifier>DAG5rXCurNk</dc:identifier>
</cp:coreProperties>
</file>